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4a3722debe094a2e" Type="http://schemas.openxmlformats.org/officeDocument/2006/relationships/extended-properties" Target="docProps/app.xml"/><Relationship Id="R5de4647f8b404656" Type="http://schemas.openxmlformats.org/package/2006/relationships/metadata/core-properties" Target="docProps/core.xml"/><Relationship Id="Re8c8e537dae54a0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7405342b2a49e3"/>
  </p:sldMasterIdLst>
  <p:notesMasterIdLst>
    <p:notesMasterId xmlns:r="http://schemas.openxmlformats.org/officeDocument/2006/relationships" r:id="R16a894f3ffb24444"/>
  </p:notesMasterIdLst>
  <p:sldIdLst>
    <p:sldId xmlns:r="http://schemas.openxmlformats.org/officeDocument/2006/relationships" id="256" r:id="R1b2917825e2c4b69"/>
    <p:sldId xmlns:r="http://schemas.openxmlformats.org/officeDocument/2006/relationships" id="257" r:id="R600d653712cf4679"/>
    <p:sldId xmlns:r="http://schemas.openxmlformats.org/officeDocument/2006/relationships" id="258" r:id="R3268e013496c49fa"/>
    <p:sldId xmlns:r="http://schemas.openxmlformats.org/officeDocument/2006/relationships" id="259" r:id="R58ab64e1c61649e7"/>
    <p:sldId xmlns:r="http://schemas.openxmlformats.org/officeDocument/2006/relationships" id="260" r:id="R79cf70e14e2f4751"/>
    <p:sldId xmlns:r="http://schemas.openxmlformats.org/officeDocument/2006/relationships" id="261" r:id="R4c92125c57ef41e1"/>
    <p:sldId xmlns:r="http://schemas.openxmlformats.org/officeDocument/2006/relationships" id="262" r:id="R13de16b67e8e434e"/>
    <p:sldId xmlns:r="http://schemas.openxmlformats.org/officeDocument/2006/relationships" id="263" r:id="R4dfc4271b09d4e82"/>
    <p:sldId xmlns:r="http://schemas.openxmlformats.org/officeDocument/2006/relationships" id="264" r:id="Rd001d2a504194acf"/>
    <p:sldId xmlns:r="http://schemas.openxmlformats.org/officeDocument/2006/relationships" id="265" r:id="Rb8e53ff3f1774642"/>
    <p:sldId xmlns:r="http://schemas.openxmlformats.org/officeDocument/2006/relationships" id="266" r:id="R001000a0769c41b4"/>
    <p:sldId xmlns:r="http://schemas.openxmlformats.org/officeDocument/2006/relationships" id="267" r:id="R89f9fc99f85f403c"/>
    <p:sldId xmlns:r="http://schemas.openxmlformats.org/officeDocument/2006/relationships" id="268" r:id="R12d9357440684387"/>
    <p:sldId xmlns:r="http://schemas.openxmlformats.org/officeDocument/2006/relationships" id="269" r:id="Rff18e387648f4ed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01000a0769c41b4" Type="http://schemas.openxmlformats.org/officeDocument/2006/relationships/slide" Target="slides/slide11.xml"/><Relationship Id="R12d9357440684387" Type="http://schemas.openxmlformats.org/officeDocument/2006/relationships/slide" Target="slides/slide13.xml"/><Relationship Id="R13de16b67e8e434e" Type="http://schemas.openxmlformats.org/officeDocument/2006/relationships/slide" Target="slides/slide7.xml"/><Relationship Id="R16a894f3ffb24444" Type="http://schemas.openxmlformats.org/officeDocument/2006/relationships/notesMaster" Target="notesMasters/notesMaster1.xml"/><Relationship Id="R1b2917825e2c4b69" Type="http://schemas.openxmlformats.org/officeDocument/2006/relationships/slide" Target="slides/slide1.xml"/><Relationship Id="R3268e013496c49fa" Type="http://schemas.openxmlformats.org/officeDocument/2006/relationships/slide" Target="slides/slide3.xml"/><Relationship Id="R4c92125c57ef41e1" Type="http://schemas.openxmlformats.org/officeDocument/2006/relationships/slide" Target="slides/slide6.xml"/><Relationship Id="R4dfc4271b09d4e82" Type="http://schemas.openxmlformats.org/officeDocument/2006/relationships/slide" Target="slides/slide8.xml"/><Relationship Id="R58ab64e1c61649e7" Type="http://schemas.openxmlformats.org/officeDocument/2006/relationships/slide" Target="slides/slide4.xml"/><Relationship Id="R600d653712cf4679" Type="http://schemas.openxmlformats.org/officeDocument/2006/relationships/slide" Target="slides/slide2.xml"/><Relationship Id="R64f723eacca44f30" Type="http://schemas.openxmlformats.org/officeDocument/2006/relationships/theme" Target="theme/theme1.xml"/><Relationship Id="R79cf70e14e2f4751" Type="http://schemas.openxmlformats.org/officeDocument/2006/relationships/slide" Target="slides/slide5.xml"/><Relationship Id="R89f9fc99f85f403c" Type="http://schemas.openxmlformats.org/officeDocument/2006/relationships/slide" Target="slides/slide12.xml"/><Relationship Id="Rae7405342b2a49e3" Type="http://schemas.openxmlformats.org/officeDocument/2006/relationships/slideMaster" Target="slideMasters/slideMaster1.xml"/><Relationship Id="Rb3281d04fcc447a6" Type="http://schemas.openxmlformats.org/officeDocument/2006/relationships/tableStyles" Target="tableStyles.xml"/><Relationship Id="Rb8e53ff3f1774642" Type="http://schemas.openxmlformats.org/officeDocument/2006/relationships/slide" Target="slides/slide10.xml"/><Relationship Id="Rd001d2a504194acf" Type="http://schemas.openxmlformats.org/officeDocument/2006/relationships/slide" Target="slides/slide9.xml"/><Relationship Id="Re174d0c84c104e64" Type="http://schemas.openxmlformats.org/officeDocument/2006/relationships/presProps" Target="presProps.xml"/><Relationship Id="Rff18e387648f4eda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ba02688f426347a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7bc56f79ec334ff5" Type="http://schemas.openxmlformats.org/officeDocument/2006/relationships/slide" Target="../slides/slide1.xml"/><Relationship Id="Rd05b873f64c64b3b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24e774b36874bca" Type="http://schemas.openxmlformats.org/officeDocument/2006/relationships/notesMaster" Target="../notesMasters/notesMaster1.xml"/><Relationship Id="R7c21f63bf6c64ba6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67d8e9d6f51c416d" Type="http://schemas.openxmlformats.org/officeDocument/2006/relationships/notesMaster" Target="../notesMasters/notesMaster1.xml"/><Relationship Id="Rb00500291fda45c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37b2c6b2f7b7462a" Type="http://schemas.openxmlformats.org/officeDocument/2006/relationships/notesMaster" Target="../notesMasters/notesMaster1.xml"/><Relationship Id="Rcda7c1a84b664b3f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5d609747b1d64a87" Type="http://schemas.openxmlformats.org/officeDocument/2006/relationships/slide" Target="../slides/slide5.xml"/><Relationship Id="Rc314b499345a47cf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9681e7875a5e4509" Type="http://schemas.openxmlformats.org/officeDocument/2006/relationships/slide" Target="../slides/slide6.xml"/><Relationship Id="Rd5ccdb80433f451b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3238f7dc6b3041b9" Type="http://schemas.openxmlformats.org/officeDocument/2006/relationships/slide" Target="../slides/slide7.xml"/><Relationship Id="R5c215710da214d76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a2094df881244efd" Type="http://schemas.openxmlformats.org/officeDocument/2006/relationships/slide" Target="../slides/slide8.xml"/><Relationship Id="Rd8a7caf40ae94398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70e488164a5848c1" Type="http://schemas.openxmlformats.org/officeDocument/2006/relationships/notesMaster" Target="../notesMasters/notesMaster1.xml"/><Relationship Id="R7fd6925485c54585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8fc7ee47b41340a7" Type="http://schemas.openxmlformats.org/officeDocument/2006/relationships/notesMaster" Target="../notesMasters/notesMaster1.xml"/><Relationship Id="R9931472cbd664a49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42668286159249a5" Type="http://schemas.openxmlformats.org/officeDocument/2006/relationships/slide" Target="../slides/slide11.xml"/><Relationship Id="R8b0271c8c6a34c64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0684967395604452" Type="http://schemas.openxmlformats.org/officeDocument/2006/relationships/notesMaster" Target="../notesMasters/notesMaster1.xml"/><Relationship Id="R5a6b327afa344e1d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823aa51cb6f048e3" Type="http://schemas.openxmlformats.org/officeDocument/2006/relationships/slide" Target="../slides/slide13.xml"/><Relationship Id="Rd52cad4fee5f4f70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4507356928684c51" Type="http://schemas.openxmlformats.org/officeDocument/2006/relationships/slide" Target="../slides/slide14.xml"/><Relationship Id="Rce3c5de82199437c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>Đề tài năm 2026. Giới thiệu nhóm và phạm vi trình bày.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Trần Xuân Hướng — 2001230339: nền tảng, Auth, CSDL, tích hợp, tìm ảnh và báo cáo.</a:t>
            </a:r>
          </a:p>
          <a:p xmlns:a="http://schemas.openxmlformats.org/drawingml/2006/main">
            <a:r>
              <a:t>Lê Duy — 2001230117: CRUD Admin, validation, upload và dữ liệu/ảnh mẫu.</a:t>
            </a:r>
          </a:p>
          <a:p xmlns:a="http://schemas.openxmlformats.org/drawingml/2006/main">
            <a:r>
              <a:t>Nguyễn Xuân Phương — 2001230703: catalog, checkout, đơn hàng, hủy đơn và hoàn kho.</a:t>
            </a:r>
          </a:p>
          <a:p xmlns:a="http://schemas.openxmlformats.org/drawingml/2006/main">
            <a:r>
              <a:t>Nông Văn Minh — 2001230515: giỏ Fetch, live search, SweetAlert2 và widget thời tiết.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Kết hợp giao diện, cơ sở dữ liệu và nghiệp vụ trong một ứng dụng Laravel.</a:t>
            </a:r>
          </a:p>
          <a:p xmlns:a="http://schemas.openxmlformats.org/drawingml/2006/main">
            <a:r>
              <a:t>Giá, số lượng, đơn hàng và tồn kho phải nhất quán.</a:t>
            </a:r>
          </a:p>
          <a:p xmlns:a="http://schemas.openxmlformats.org/drawingml/2006/main">
            <a:r>
              <a:t>Thử cả trường hợp thành công và trường hợp lỗi.</a:t>
            </a:r>
          </a:p>
          <a:p xmlns:a="http://schemas.openxmlformats.org/drawingml/2006/main">
            <a:r>
              <a:t>Mở rộng trải nghiệm bằng tìm kiếm sản phẩm từ hình ảnh.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Catalog gồm 8 danh mục và 60 sản phẩm.</a:t>
            </a:r>
          </a:p>
          <a:p xmlns:a="http://schemas.openxmlformats.org/drawingml/2006/main">
            <a:r>
              <a:t>Khách xem/tìm hàng và dùng giỏ trước khi đăng nhập.</a:t>
            </a:r>
          </a:p>
          <a:p xmlns:a="http://schemas.openxmlformats.org/drawingml/2006/main">
            <a:r>
              <a:t>Người có tài khoản đặt hàng COD và theo dõi đơn của mình.</a:t>
            </a:r>
          </a:p>
          <a:p xmlns:a="http://schemas.openxmlformats.org/drawingml/2006/main">
            <a:r>
              <a:t>Miễn phí giao hàng trong mô phỏng. Chưa tích hợp ngân hàng, vận chuyển hay hoàn tiền thực tế.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Laravel 13.35.0, PHP từ 8.3, Blade và Bootstrap 5.3.3.</a:t>
            </a:r>
          </a:p>
          <a:p xmlns:a="http://schemas.openxmlformats.org/drawingml/2006/main">
            <a:r>
              <a:t>Eloquent, migration, seeder và MySQL.</a:t>
            </a:r>
          </a:p>
          <a:p xmlns:a="http://schemas.openxmlformats.org/drawingml/2006/main">
            <a:r>
              <a:t>Fetch API, Session và SweetAlert2.</a:t>
            </a:r>
          </a:p>
          <a:p xmlns:a="http://schemas.openxmlformats.org/drawingml/2006/main">
            <a:r>
              <a:t>Python 3.12, OpenCLIP ViT-B-32. Dịch vụ nội bộ mặc định cổng 8020.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Khách vãng lai: xem, lọc, tìm kiếm, chi tiết, giỏ hàng và tìm bằng ảnh.</a:t>
            </a:r>
          </a:p>
          <a:p xmlns:a="http://schemas.openxmlformats.org/drawingml/2006/main">
            <a:r>
              <a:t>Customer: đặt hàng COD, xem đơn của mình, hủy đơn chờ xác nhận.</a:t>
            </a:r>
          </a:p>
          <a:p xmlns:a="http://schemas.openxmlformats.org/drawingml/2006/main">
            <a:r>
              <a:t>Admin: CRUD danh mục/sản phẩm, tổng quan, xử lý và hủy đơn theo trạng thái.</a:t>
            </a:r>
          </a:p>
          <a:p xmlns:a="http://schemas.openxmlformats.org/drawingml/2006/main">
            <a:r>
              <a:t>Hai role lưu trong DB: customer và admin. Guest là trạng thái chưa đăng nhập.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>Mục 2.4. users có nhiều orders; orders có nhiều order_items; products có nhiều order_items; categories có nhiều products. Bảng hỗ trợ framework không tính là bảng nghiệp vụ.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Khóa ngoại chặn xóa danh mục/sản phẩm đang được sử dụng.</a:t>
            </a:r>
          </a:p>
          <a:p xmlns:a="http://schemas.openxmlformats.org/drawingml/2006/main">
            <a:r>
              <a:t>OrderItem lưu tên và giá tại thời điểm mua.</a:t>
            </a:r>
          </a:p>
          <a:p xmlns:a="http://schemas.openxmlformats.org/drawingml/2006/main">
            <a:r>
              <a:t>Cặp order_id và product_id duy nhất trong một đơn.</a:t>
            </a:r>
          </a:p>
          <a:p xmlns:a="http://schemas.openxmlformats.org/drawingml/2006/main">
            <a:r>
              <a:t>Giá decimal(12,2). Checkout tính bằng số nguyên theo đơn vị 1/100, tránh cộng float.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Đăng ký luôn tạo Customer và hash mật khẩu.</a:t>
            </a:r>
          </a:p>
          <a:p xmlns:a="http://schemas.openxmlformats.org/drawingml/2006/main">
            <a:r>
              <a:t>Đăng nhập giới hạn thử sai, tái tạo session.</a:t>
            </a:r>
          </a:p>
          <a:p xmlns:a="http://schemas.openxmlformats.org/drawingml/2006/main">
            <a:r>
              <a:t>Middleware auth và role bảo vệ route Admin.</a:t>
            </a:r>
          </a:p>
          <a:p xmlns:a="http://schemas.openxmlformats.org/drawingml/2006/main">
            <a:r>
              <a:t>CSRF cho thao tác ghi dữ liệu. Chi tiết đơn truy vấn theo tài khoản đang đăng nhập.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Danh sách phân trang 8 sản phẩm mỗi trang.</a:t>
            </a:r>
          </a:p>
          <a:p xmlns:a="http://schemas.openxmlformats.org/drawingml/2006/main">
            <a:r>
              <a:t>Tìm tên, lọc danh mục và sắp xếp giá tăng/giảm.</a:t>
            </a:r>
          </a:p>
          <a:p xmlns:a="http://schemas.openxmlformats.org/drawingml/2006/main">
            <a:r>
              <a:t>Giữ bộ lọc khi chuyển trang, xử lý từ khóa “0”.</a:t>
            </a:r>
          </a:p>
          <a:p xmlns:a="http://schemas.openxmlformats.org/drawingml/2006/main">
            <a:r>
              <a:t>Chi tiết có ảnh, mô tả, giá, tồn kho và nút thêm giỏ.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CRUD hai bảng categories và products có quan hệ.</a:t>
            </a:r>
          </a:p>
          <a:p xmlns:a="http://schemas.openxmlformats.org/drawingml/2006/main">
            <a:r>
              <a:t>Form Request kiểm tra tên, danh mục, giá lớn hơn 0 và tồn kho không âm.</a:t>
            </a:r>
          </a:p>
          <a:p xmlns:a="http://schemas.openxmlformats.org/drawingml/2006/main">
            <a:r>
              <a:t>Upload ảnh JPEG, PNG, WebP vào public storage.</a:t>
            </a:r>
          </a:p>
          <a:p xmlns:a="http://schemas.openxmlformats.org/drawingml/2006/main">
            <a:r>
              <a:t>Chặn xóa dữ liệu đang được dùng. Seeder giữ thay đổi giá, kho và ảnh của Admin.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Session lưu mã sản phẩm và số lượng.</a:t>
            </a:r>
          </a:p>
          <a:p xmlns:a="http://schemas.openxmlformats.org/drawingml/2006/main">
            <a:r>
              <a:t>Thêm, tăng/giảm và xóa không tải lại trang.</a:t>
            </a:r>
          </a:p>
          <a:p xmlns:a="http://schemas.openxmlformats.org/drawingml/2006/main">
            <a:r>
              <a:t>Cập nhật badge, số lượng và tổng tiền theo phản hồi server.</a:t>
            </a:r>
          </a:p>
          <a:p xmlns:a="http://schemas.openxmlformats.org/drawingml/2006/main">
            <a:r>
              <a:t>Live search gợi ý sản phẩm. SweetAlert2 thông báo kết quả. Logout kết thúc session giỏ.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Server tính tổng từ giá DB và kiểm tra tồn kho hiện hành.</a:t>
            </a:r>
          </a:p>
          <a:p xmlns:a="http://schemas.openxmlformats.org/drawingml/2006/main">
            <a:r>
              <a:t>Ghi đơn, chi tiết đơn và trừ kho trong cùng transaction.</a:t>
            </a:r>
          </a:p>
          <a:p xmlns:a="http://schemas.openxmlformats.org/drawingml/2006/main">
            <a:r>
              <a:t>Lỗi giữa chừng rollback toàn bộ.</a:t>
            </a:r>
          </a:p>
          <a:p xmlns:a="http://schemas.openxmlformats.org/drawingml/2006/main">
            <a:r>
              <a:t>checkout_token duy nhất trả lại đơn có sẵn khi gửi lặp.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Báo cáo SmartCart Nhóm 11, bản demo-2026-10-18 (f30e9ad).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Chờ xác nhận: Admin chuyển Đang giao; chủ đơn hoặc Admin được hủy.</a:t>
            </a:r>
          </a:p>
          <a:p xmlns:a="http://schemas.openxmlformats.org/drawingml/2006/main">
            <a:r>
              <a:t>Đang giao: Admin chuyển Hoàn thành hoặc hủy.</a:t>
            </a:r>
          </a:p>
          <a:p xmlns:a="http://schemas.openxmlformats.org/drawingml/2006/main">
            <a:r>
              <a:t>Hoàn thành: không hủy trong phạm vi hiện tại.</a:t>
            </a:r>
          </a:p>
          <a:p xmlns:a="http://schemas.openxmlformats.org/drawingml/2006/main">
            <a:r>
              <a:t>Hủy đơn: khóa đơn và sản phẩm, hoàn kho đúng một lần. Gửi lại không tăng kho thêm.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7a11b2340c21419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80410f40f7fb4ede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716354a2e40240c6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0dc9e6681ad3424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c4a8e1914644ba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253a0c2054c4cd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462A7C3-21E3-4FB8-BC09-62787D0FA6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66CBC01-8E51-4A64-88C7-0D13D6D16E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FDF1F9B-1376-44C8-ADC0-30E1A91B64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7D7264D-326B-49DE-8780-3984413570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06E64AF-26AB-4482-9995-DA56277F70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7C940D3-D21C-4942-80A9-95B2AF28E0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91ED2AC-F2FA-41C1-AEF6-FC67F9129F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2317355-8C7F-4FD7-9ACF-CE441B4850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98EF372-F7FC-4A53-BDFA-0069CDC41F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27D6A0C-6587-4D49-BD61-A1FFB72FC5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5285ead05b3a4ac7" Type="http://schemas.openxmlformats.org/officeDocument/2006/relationships/slideLayout" Target="../slideLayouts/slideLayout5.xml"/><Relationship Id="R5fb32f0a12a5440a" Type="http://schemas.openxmlformats.org/officeDocument/2006/relationships/slideLayout" Target="../slideLayouts/slideLayout1.xml"/><Relationship Id="Rb904737ba6a84225" Type="http://schemas.openxmlformats.org/officeDocument/2006/relationships/slideLayout" Target="../slideLayouts/slideLayout6.xml"/><Relationship Id="Rc875dc7b43a04460" Type="http://schemas.openxmlformats.org/officeDocument/2006/relationships/theme" Target="theme/theme2.xml"/><Relationship Id="Rcfdd03a93aa145dd" Type="http://schemas.openxmlformats.org/officeDocument/2006/relationships/slideLayout" Target="../slideLayouts/slideLayout3.xml"/><Relationship Id="Rd1c369b1edc64cdc" Type="http://schemas.openxmlformats.org/officeDocument/2006/relationships/slideLayout" Target="../slideLayouts/slideLayout4.xml"/><Relationship Id="Ref8d2df1550a4b4a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b32f0a12a5440a"/>
    <p:sldLayoutId xmlns:r="http://schemas.openxmlformats.org/officeDocument/2006/relationships" id="2147483650" r:id="Ref8d2df1550a4b4a"/>
    <p:sldLayoutId xmlns:r="http://schemas.openxmlformats.org/officeDocument/2006/relationships" id="2147483651" r:id="Rcfdd03a93aa145dd"/>
    <p:sldLayoutId xmlns:r="http://schemas.openxmlformats.org/officeDocument/2006/relationships" id="2147483652" r:id="Rd1c369b1edc64cdc"/>
    <p:sldLayoutId xmlns:r="http://schemas.openxmlformats.org/officeDocument/2006/relationships" id="2147483653" r:id="R5285ead05b3a4ac7"/>
    <p:sldLayoutId xmlns:r="http://schemas.openxmlformats.org/officeDocument/2006/relationships" id="2147483654" r:id="Rb904737ba6a8422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65187462d944f1a" Type="http://schemas.openxmlformats.org/officeDocument/2006/relationships/image" Target="../media/image.png"/><Relationship Id="R30d202ad975347c1" Type="http://schemas.openxmlformats.org/officeDocument/2006/relationships/slideLayout" Target="../slideLayouts/slideLayout6.xml"/><Relationship Id="R8bd75f1a0ad746df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1f09574387c94427" Type="http://schemas.openxmlformats.org/officeDocument/2006/relationships/slideLayout" Target="../slideLayouts/slideLayout6.xml"/><Relationship Id="Rc49fd30c0716489e" Type="http://schemas.openxmlformats.org/officeDocument/2006/relationships/image" Target="../media/image2.png"/><Relationship Id="Rf68f891dd7d8471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55ef699e055846e8" Type="http://schemas.openxmlformats.org/officeDocument/2006/relationships/notesSlide" Target="../notesSlides/notesSlide3.xml"/><Relationship Id="R59d22f25f1c24d8e" Type="http://schemas.openxmlformats.org/officeDocument/2006/relationships/image" Target="../media/image3.png"/><Relationship Id="R8b48a359733e44d9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a5901f6ef13f4131" Type="http://schemas.openxmlformats.org/officeDocument/2006/relationships/image" Target="../media/image4.png"/><Relationship Id="Rb099bb2f113e447e" Type="http://schemas.openxmlformats.org/officeDocument/2006/relationships/notesSlide" Target="../notesSlides/notesSlide4.xml"/><Relationship Id="Rda7e4bf2ee134519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67a177a73fa846a7" Type="http://schemas.openxmlformats.org/officeDocument/2006/relationships/image" Target="../media/image5.png"/><Relationship Id="R695819f4a34a4a16" Type="http://schemas.openxmlformats.org/officeDocument/2006/relationships/notesSlide" Target="../notesSlides/notesSlide5.xml"/><Relationship Id="Ra2dea08cea544db5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0965ff51b25c44f9" Type="http://schemas.openxmlformats.org/officeDocument/2006/relationships/image" Target="../media/image6.png"/><Relationship Id="R2ccdf728857a4cad" Type="http://schemas.openxmlformats.org/officeDocument/2006/relationships/slideLayout" Target="../slideLayouts/slideLayout6.xml"/><Relationship Id="R4840eb2b758e4a48" Type="http://schemas.openxmlformats.org/officeDocument/2006/relationships/notesSlide" Target="../notesSlides/notesSlide6.xml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58edcf2126374e5c" Type="http://schemas.openxmlformats.org/officeDocument/2006/relationships/image" Target="../media/image7.png"/><Relationship Id="Rdaa36cfe04fc44f1" Type="http://schemas.openxmlformats.org/officeDocument/2006/relationships/notesSlide" Target="../notesSlides/notesSlide7.xml"/><Relationship Id="Rfb05d9f6c7cb4c83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275ed5c6b6914023" Type="http://schemas.openxmlformats.org/officeDocument/2006/relationships/slideLayout" Target="../slideLayouts/slideLayout6.xml"/><Relationship Id="Rd3f609debe564937" Type="http://schemas.openxmlformats.org/officeDocument/2006/relationships/notesSlide" Target="../notesSlides/notesSlide8.xml"/><Relationship Id="Rda944deeeb4e4ba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3a7e4539f050411a" Type="http://schemas.openxmlformats.org/officeDocument/2006/relationships/image" Target="../media/image9.png"/><Relationship Id="Rcb3d93d8a3384a51" Type="http://schemas.openxmlformats.org/officeDocument/2006/relationships/notesSlide" Target="../notesSlides/notesSlide9.xml"/><Relationship Id="Re276ab50b5f04fe9" Type="http://schemas.openxmlformats.org/officeDocument/2006/relationships/slideLayout" Target="../slideLayouts/slideLayout6.xml"/><Relationship Id="rId4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6e2c78da64c44977" Type="http://schemas.openxmlformats.org/officeDocument/2006/relationships/notesSlide" Target="../notesSlides/notesSlide10.xml"/><Relationship Id="R70663d36744e42ef" Type="http://schemas.openxmlformats.org/officeDocument/2006/relationships/image" Target="../media/image.jpeg"/><Relationship Id="R9a169a17b4b844e1" Type="http://schemas.openxmlformats.org/officeDocument/2006/relationships/image" Target="../media/image10.png"/><Relationship Id="Rbf9d3e0ed84a43b4" Type="http://schemas.openxmlformats.org/officeDocument/2006/relationships/slideLayout" Target="../slideLayouts/slideLayout6.xml"/><Relationship Id="rId5" Type="http://schemas.openxmlformats.org/officeDocument/2006/relationships/image" Target="../media/image2.jpeg"/></Relationships>
</file>

<file path=ppt/slides/_rels/slide11.xml.rels><?xml version='1.0' encoding='UTF-8' standalone='yes'?>
<Relationships xmlns="http://schemas.openxmlformats.org/package/2006/relationships"><Relationship Id="R0ca966f3be514bf5" Type="http://schemas.openxmlformats.org/officeDocument/2006/relationships/notesSlide" Target="../notesSlides/notesSlide11.xml"/><Relationship Id="R8d11cab777ac4c6c" Type="http://schemas.openxmlformats.org/officeDocument/2006/relationships/image" Target="../media/image2.jpeg"/><Relationship Id="R98cd2b7a743a47ba" Type="http://schemas.openxmlformats.org/officeDocument/2006/relationships/image" Target="../media/image11.png"/><Relationship Id="Rfc654c0a1d6f44ec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4903315351664fb9" Type="http://schemas.openxmlformats.org/officeDocument/2006/relationships/notesSlide" Target="../notesSlides/notesSlide12.xml"/><Relationship Id="R5aec9681536948ce" Type="http://schemas.openxmlformats.org/officeDocument/2006/relationships/image" Target="../media/image12.png"/><Relationship Id="Rdad38abd750b4093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34f8a5e32a1f432f" Type="http://schemas.openxmlformats.org/officeDocument/2006/relationships/notesSlide" Target="../notesSlides/notesSlide13.xml"/><Relationship Id="R96a2a03666394060" Type="http://schemas.openxmlformats.org/officeDocument/2006/relationships/image" Target="../media/image13.png"/><Relationship Id="Re63af661e5c54eb5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29cd1122ed0741ad" Type="http://schemas.openxmlformats.org/officeDocument/2006/relationships/image" Target="../media/image14.png"/><Relationship Id="R88cbf4da9fd54404" Type="http://schemas.openxmlformats.org/officeDocument/2006/relationships/slideLayout" Target="../slideLayouts/slideLayout6.xml"/><Relationship Id="Rfda28b54bdc44551" Type="http://schemas.openxmlformats.org/officeDocument/2006/relationships/notesSlide" Target="../notesSlides/notesSlide14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5187462d944f1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11" name="TextBox 10"/>
          <p:cNvSpPr txBox="1"/>
          <p:nvPr/>
        </p:nvSpPr>
        <p:spPr>
          <a:xfrm>
            <a:off x="612648" y="105156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627287"/>
                </a:solidFill>
                <a:latin typeface="Segoe UI"/>
              </a:defRPr>
            </a:pPr>
            <a:r>
              <a:t>BÁO CÁO MÔN LẬP TRÌNH MÃ NGUỒN MỞ</a:t>
            </a:r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612648" y="1536192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5600" b="1">
                <a:solidFill>
                  <a:srgbClr val="2072B7"/>
                </a:solidFill>
                <a:latin typeface="Segoe UI"/>
              </a:defRPr>
            </a:pPr>
            <a:r>
              <a:t>SMARTCART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612648" y="2542032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243247"/>
                </a:solidFill>
                <a:latin typeface="Segoe UI"/>
              </a:defRPr>
            </a:pPr>
            <a:r>
              <a:t>Hệ thống bán hàng và giỏ hàng tương tác</a:t>
            </a:r>
          </a:p>
          <a:p>
            <a:pPr>
              <a:spcBef>
                <a:spcPts val="400"/>
              </a:spcBef>
              <a:defRPr sz="2000">
                <a:solidFill>
                  <a:srgbClr val="E65100"/>
                </a:solidFill>
                <a:latin typeface="Segoe UI"/>
              </a:defRPr>
            </a:pPr>
            <a:r>
              <a:t>Tích hợp tìm kiếm hình ảnh AI (OpenCLIP ViT-B/32)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612648" y="36118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154D7B"/>
                </a:solidFill>
                <a:latin typeface="Segoe UI"/>
              </a:defRPr>
            </a:pPr>
            <a:r>
              <a:t>Nhóm 11</a:t>
            </a:r>
          </a:p>
          <a:p>
            <a:r>
              <a:rPr sz="1900">
                <a:solidFill>
                  <a:srgbClr val="243247"/>
                </a:solidFill>
                <a:latin typeface="Segoe UI"/>
              </a:rPr>
              <a:t>Giảng viên hướng dẫn: </a:t>
            </a:r>
            <a:r>
              <a:rPr sz="1900" b="1">
                <a:solidFill>
                  <a:srgbClr val="2072B7"/>
                </a:solidFill>
                <a:latin typeface="Segoe UI"/>
              </a:rPr>
              <a:t>ThS. Nguyễn Trần Duy Khang</a:t>
            </a:r>
          </a:p>
          <a:p>
            <a:pPr>
              <a:spcBef>
                <a:spcPts val="200"/>
              </a:spcBef>
              <a:defRPr sz="1650">
                <a:solidFill>
                  <a:srgbClr val="627287"/>
                </a:solidFill>
                <a:latin typeface="Segoe UI"/>
              </a:defRPr>
            </a:pPr>
            <a:r>
              <a:t>Khoa Công nghệ thông tin — Trường Đại học Công Thương TP.HCM (HUIT)</a:t>
            </a:r>
          </a:p>
        </p:txBody>
      </p:sp>
    </p:spTree>
    <p:extLst>
      <p:ext uri="{BB962C8B-B14F-4D97-AF65-F5344CB8AC3E}">
        <p14:creationId xmlns:p14="http://schemas.microsoft.com/office/powerpoint/2010/main" val="13437642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fd30c0716489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20" name="TextBox 19"/>
          <p:cNvSpPr txBox="1"/>
          <p:nvPr/>
        </p:nvSpPr>
        <p:spPr>
          <a:xfrm>
            <a:off x="612648" y="9601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54D7B"/>
                </a:solidFill>
                <a:latin typeface="Segoe UI"/>
              </a:defRPr>
            </a:pPr>
            <a:r>
              <a:t>Nhóm thực hiện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630936" y="1572768"/>
            <a:ext cx="108173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>
                <a:solidFill>
                  <a:srgbClr val="627287"/>
                </a:solidFill>
                <a:latin typeface="Segoe UI"/>
              </a:defRPr>
            </a:pPr>
            <a:r>
              <a:t>Bốn thành viên phát triển trên các nhánh Git riêng và tích hợp vào một bản demo</a:t>
            </a:r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10287000" y="6327648"/>
            <a:ext cx="126187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400" b="1">
                <a:solidFill>
                  <a:srgbClr val="2072B7"/>
                </a:solidFill>
                <a:latin typeface="Segoe UI"/>
              </a:defRPr>
            </a:pPr>
            <a:r>
              <a:t>02 / 14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612648" y="205740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243247"/>
                </a:solidFill>
                <a:latin typeface="Segoe UI"/>
              </a:defRPr>
            </a:pPr>
            <a:r>
              <a:t>Trần Xuân Hướng</a:t>
            </a:r>
          </a:p>
          <a:p>
            <a:r>
              <a:rPr sz="1650">
                <a:solidFill>
                  <a:srgbClr val="627287"/>
                </a:solidFill>
                <a:latin typeface="Segoe UI"/>
              </a:rPr>
              <a:t>2001230339  </a:t>
            </a:r>
            <a:r>
              <a:rPr sz="1400">
                <a:solidFill>
                  <a:srgbClr val="2072B7"/>
                </a:solidFill>
                <a:latin typeface="Consolas"/>
              </a:rPr>
              <a:t>(feat/tranxuanhuong)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4846320" y="2057400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>
                <a:solidFill>
                  <a:srgbClr val="243247"/>
                </a:solidFill>
                <a:latin typeface="Segoe UI"/>
              </a:defRPr>
            </a:pPr>
            <a:r>
              <a:t>Nền tảng, Auth, CSDL, tích hợp Git, tìm ảnh AI &amp; kiểm thử 88 test cases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612648" y="306324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243247"/>
                </a:solidFill>
                <a:latin typeface="Segoe UI"/>
              </a:defRPr>
            </a:pPr>
            <a:r>
              <a:t>Lê Duy</a:t>
            </a:r>
          </a:p>
          <a:p>
            <a:r>
              <a:rPr sz="1650">
                <a:solidFill>
                  <a:srgbClr val="627287"/>
                </a:solidFill>
                <a:latin typeface="Segoe UI"/>
              </a:rPr>
              <a:t>2001230117  </a:t>
            </a:r>
            <a:r>
              <a:rPr sz="1400">
                <a:solidFill>
                  <a:srgbClr val="2072B7"/>
                </a:solidFill>
                <a:latin typeface="Consolas"/>
              </a:rPr>
              <a:t>(feat/leduy)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4846320" y="3063240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>
                <a:solidFill>
                  <a:srgbClr val="243247"/>
                </a:solidFill>
                <a:latin typeface="Segoe UI"/>
              </a:defRPr>
            </a:pPr>
            <a:r>
              <a:t>CRUD phân hệ Admin, Form Validation, upload file &amp; bảo vệ ảnh sản phẩm</a:t>
            </a:r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612648" y="40690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243247"/>
                </a:solidFill>
                <a:latin typeface="Segoe UI"/>
              </a:defRPr>
            </a:pPr>
            <a:r>
              <a:t>Nguyễn Xuân Phương</a:t>
            </a:r>
          </a:p>
          <a:p>
            <a:r>
              <a:rPr sz="1650">
                <a:solidFill>
                  <a:srgbClr val="627287"/>
                </a:solidFill>
                <a:latin typeface="Segoe UI"/>
              </a:rPr>
              <a:t>2001230703  </a:t>
            </a:r>
            <a:r>
              <a:rPr sz="1400">
                <a:solidFill>
                  <a:srgbClr val="2072B7"/>
                </a:solidFill>
                <a:latin typeface="Consolas"/>
              </a:rPr>
              <a:t>(feat/nguyenxuanphuong)</a:t>
            </a:r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4846320" y="4069080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>
                <a:solidFill>
                  <a:srgbClr val="243247"/>
                </a:solidFill>
                <a:latin typeface="Segoe UI"/>
              </a:defRPr>
            </a:pPr>
            <a:r>
              <a:t>Catalog khách hàng, đặt hàng COD, quản lý đơn hàng &amp; hủy đơn hoàn kho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612648" y="507492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243247"/>
                </a:solidFill>
                <a:latin typeface="Segoe UI"/>
              </a:defRPr>
            </a:pPr>
            <a:r>
              <a:t>Nông Văn Minh</a:t>
            </a:r>
          </a:p>
          <a:p>
            <a:r>
              <a:rPr sz="1650">
                <a:solidFill>
                  <a:srgbClr val="627287"/>
                </a:solidFill>
                <a:latin typeface="Segoe UI"/>
              </a:rPr>
              <a:t>2001230515  </a:t>
            </a:r>
            <a:r>
              <a:rPr sz="1400">
                <a:solidFill>
                  <a:srgbClr val="2072B7"/>
                </a:solidFill>
                <a:latin typeface="Consolas"/>
              </a:rPr>
              <a:t>(feat/nongvanminh)</a:t>
            </a:r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4846320" y="5074920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>
                <a:solidFill>
                  <a:srgbClr val="243247"/>
                </a:solidFill>
                <a:latin typeface="Segoe UI"/>
              </a:defRPr>
            </a:pPr>
            <a:r>
              <a:t>Giỏ hàng Fetch API không tải lại trang, Live search &amp; widget thời tiết</a:t>
            </a:r>
          </a:p>
        </p:txBody>
      </p:sp>
    </p:spTree>
    <p:extLst>
      <p:ext uri="{BB962C8B-B14F-4D97-AF65-F5344CB8AC3E}">
        <p14:creationId xmlns:p14="http://schemas.microsoft.com/office/powerpoint/2010/main" val="15107429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d22f25f1c24d8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17" name="TextBox 16"/>
          <p:cNvSpPr txBox="1"/>
          <p:nvPr/>
        </p:nvSpPr>
        <p:spPr>
          <a:xfrm>
            <a:off x="612648" y="9601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54D7B"/>
                </a:solidFill>
                <a:latin typeface="Segoe UI"/>
              </a:defRPr>
            </a:pPr>
            <a:r>
              <a:t>Bài toán và mục tiêu</a:t>
            </a:r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630936" y="1572768"/>
            <a:ext cx="108173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>
                <a:solidFill>
                  <a:srgbClr val="627287"/>
                </a:solidFill>
                <a:latin typeface="Segoe UI"/>
              </a:defRPr>
            </a:pPr>
            <a:r>
              <a:t>Một thao tác mua hàng phải khớp với dữ liệu mà hệ thống lưu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10287000" y="6327648"/>
            <a:ext cx="126187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400" b="1">
                <a:solidFill>
                  <a:srgbClr val="2072B7"/>
                </a:solidFill>
                <a:latin typeface="Segoe UI"/>
              </a:defRPr>
            </a:pPr>
            <a:r>
              <a:t>03 / 14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630936" y="2057400"/>
            <a:ext cx="7315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3000" b="1">
                <a:solidFill>
                  <a:srgbClr val="2072B7"/>
                </a:solidFill>
                <a:latin typeface="Segoe UI"/>
              </a:defRPr>
            </a:pPr>
            <a:r>
              <a:t>01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1508760" y="20574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1">
                <a:solidFill>
                  <a:srgbClr val="243247"/>
                </a:solidFill>
                <a:latin typeface="Segoe UI"/>
              </a:defRPr>
            </a:pPr>
            <a:r>
              <a:t>Kết nối các phần của website</a:t>
            </a:r>
          </a:p>
          <a:p>
            <a:pPr>
              <a:defRPr sz="1950">
                <a:solidFill>
                  <a:srgbClr val="627287"/>
                </a:solidFill>
                <a:latin typeface="Segoe UI"/>
              </a:defRPr>
            </a:pPr>
            <a:r>
              <a:t>Giao diện Blade, cơ sở dữ liệu MySQL và xử lý nghiệp vụ cùng hoạt động trong Laravel 13.</a:t>
            </a:r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630936" y="3429000"/>
            <a:ext cx="7315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3000" b="1">
                <a:solidFill>
                  <a:srgbClr val="2072B7"/>
                </a:solidFill>
                <a:latin typeface="Segoe UI"/>
              </a:defRPr>
            </a:pPr>
            <a:r>
              <a:t>02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1508760" y="34290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1">
                <a:solidFill>
                  <a:srgbClr val="243247"/>
                </a:solidFill>
                <a:latin typeface="Segoe UI"/>
              </a:defRPr>
            </a:pPr>
            <a:r>
              <a:t>Giữ giá và tồn kho nhất quán</a:t>
            </a:r>
          </a:p>
          <a:p>
            <a:pPr>
              <a:defRPr sz="1950">
                <a:solidFill>
                  <a:srgbClr val="627287"/>
                </a:solidFill>
                <a:latin typeface="Segoe UI"/>
              </a:defRPr>
            </a:pPr>
            <a:r>
              <a:t>Giỏ hàng, checkout và đơn hàng dùng dữ liệu do Server kiểm tra 100%, không tin cậy client.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630936" y="4800600"/>
            <a:ext cx="7315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3000" b="1">
                <a:solidFill>
                  <a:srgbClr val="2072B7"/>
                </a:solidFill>
                <a:latin typeface="Segoe UI"/>
              </a:defRPr>
            </a:pPr>
            <a:r>
              <a:t>03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1508760" y="48006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1">
                <a:solidFill>
                  <a:srgbClr val="243247"/>
                </a:solidFill>
                <a:latin typeface="Segoe UI"/>
              </a:defRPr>
            </a:pPr>
            <a:r>
              <a:t>Kiểm tra cả tình huống lỗi</a:t>
            </a:r>
          </a:p>
          <a:p>
            <a:pPr>
              <a:defRPr sz="1950">
                <a:solidFill>
                  <a:srgbClr val="627287"/>
                </a:solidFill>
                <a:latin typeface="Segoe UI"/>
              </a:defRPr>
            </a:pPr>
            <a:r>
              <a:t>Thử nghiệm hết hàng, gửi lặp, hủy đơn và lỗi giữa transaction (88/88 test cases pass).</a:t>
            </a:r>
          </a:p>
        </p:txBody>
      </p:sp>
    </p:spTree>
    <p:extLst>
      <p:ext uri="{BB962C8B-B14F-4D97-AF65-F5344CB8AC3E}">
        <p14:creationId xmlns:p14="http://schemas.microsoft.com/office/powerpoint/2010/main" val="20319288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01f6ef13f413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16" name="TextBox 15"/>
          <p:cNvSpPr txBox="1"/>
          <p:nvPr/>
        </p:nvSpPr>
        <p:spPr>
          <a:xfrm>
            <a:off x="612648" y="9601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54D7B"/>
                </a:solidFill>
                <a:latin typeface="Segoe UI"/>
              </a:defRPr>
            </a:pPr>
            <a:r>
              <a:t>Phạm vi hệ thống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630936" y="1572768"/>
            <a:ext cx="108173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>
                <a:solidFill>
                  <a:srgbClr val="627287"/>
                </a:solidFill>
                <a:latin typeface="Segoe UI"/>
              </a:defRPr>
            </a:pPr>
            <a:r>
              <a:t>Website mô phỏng bán hàng cho môn học Lập trình Mã nguồn mở</a:t>
            </a:r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10287000" y="6327648"/>
            <a:ext cx="126187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400" b="1">
                <a:solidFill>
                  <a:srgbClr val="2072B7"/>
                </a:solidFill>
                <a:latin typeface="Segoe UI"/>
              </a:defRPr>
            </a:pPr>
            <a:r>
              <a:t>04 / 14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612648" y="2011680"/>
            <a:ext cx="25603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400" b="1">
                <a:solidFill>
                  <a:srgbClr val="2072B7"/>
                </a:solidFill>
                <a:latin typeface="Segoe UI"/>
              </a:defRPr>
            </a:pPr>
            <a:r>
              <a:t>8</a:t>
            </a:r>
          </a:p>
          <a:p>
            <a:pPr>
              <a:defRPr sz="2100">
                <a:solidFill>
                  <a:srgbClr val="243247"/>
                </a:solidFill>
                <a:latin typeface="Segoe UI"/>
              </a:defRPr>
            </a:pPr>
            <a:r>
              <a:t>danh mục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3355848" y="2011680"/>
            <a:ext cx="25603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400" b="1">
                <a:solidFill>
                  <a:srgbClr val="2072B7"/>
                </a:solidFill>
                <a:latin typeface="Segoe UI"/>
              </a:defRPr>
            </a:pPr>
            <a:r>
              <a:t>60</a:t>
            </a:r>
          </a:p>
          <a:p>
            <a:pPr>
              <a:defRPr sz="2100">
                <a:solidFill>
                  <a:srgbClr val="243247"/>
                </a:solidFill>
                <a:latin typeface="Segoe UI"/>
              </a:defRPr>
            </a:pPr>
            <a:r>
              <a:t>sản phẩm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6099048" y="2011680"/>
            <a:ext cx="25603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400" b="1">
                <a:solidFill>
                  <a:srgbClr val="2072B7"/>
                </a:solidFill>
                <a:latin typeface="Segoe UI"/>
              </a:defRPr>
            </a:pPr>
            <a:r>
              <a:t>COD</a:t>
            </a:r>
          </a:p>
          <a:p>
            <a:pPr>
              <a:defRPr sz="2100">
                <a:solidFill>
                  <a:srgbClr val="243247"/>
                </a:solidFill>
                <a:latin typeface="Segoe UI"/>
              </a:defRPr>
            </a:pPr>
            <a:r>
              <a:t>thanh toán nhận hàng</a:t>
            </a:r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8842248" y="2011680"/>
            <a:ext cx="25603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400" b="1">
                <a:solidFill>
                  <a:srgbClr val="2072B7"/>
                </a:solidFill>
                <a:latin typeface="Segoe UI"/>
              </a:defRPr>
            </a:pPr>
            <a:r>
              <a:t>2</a:t>
            </a:r>
          </a:p>
          <a:p>
            <a:pPr>
              <a:defRPr sz="2100">
                <a:solidFill>
                  <a:srgbClr val="243247"/>
                </a:solidFill>
                <a:latin typeface="Segoe UI"/>
              </a:defRPr>
            </a:pPr>
            <a:r>
              <a:t>cấp phân quyền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612648" y="393192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43247"/>
                </a:solidFill>
                <a:latin typeface="Segoe UI"/>
              </a:defRPr>
            </a:pPr>
            <a:r>
              <a:t>• Khách xem và dùng giỏ trước khi đăng nhập. Người có tài khoản đặt hàng và theo dõi đơn.</a:t>
            </a:r>
          </a:p>
          <a:p>
            <a:pPr>
              <a:defRPr sz="2100">
                <a:solidFill>
                  <a:srgbClr val="243247"/>
                </a:solidFill>
                <a:latin typeface="Segoe UI"/>
              </a:defRPr>
            </a:pPr>
            <a:r>
              <a:t>• Thanh toán khi nhận hàng (COD), phí giao hàng bằng 0 đồng. Mô phỏng học thuật chưa kết nối cổng ngân hàng bên ngoài.</a:t>
            </a:r>
          </a:p>
        </p:txBody>
      </p:sp>
    </p:spTree>
    <p:extLst>
      <p:ext uri="{BB962C8B-B14F-4D97-AF65-F5344CB8AC3E}">
        <p14:creationId xmlns:p14="http://schemas.microsoft.com/office/powerpoint/2010/main" val="11419130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a177a73fa846a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16" name="TextBox 15"/>
          <p:cNvSpPr txBox="1"/>
          <p:nvPr/>
        </p:nvSpPr>
        <p:spPr>
          <a:xfrm>
            <a:off x="612648" y="9601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54D7B"/>
                </a:solidFill>
                <a:latin typeface="Segoe UI"/>
              </a:defRPr>
            </a:pPr>
            <a:r>
              <a:t>Công nghệ và kiến trúc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630936" y="1572768"/>
            <a:ext cx="108173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>
                <a:solidFill>
                  <a:srgbClr val="627287"/>
                </a:solidFill>
                <a:latin typeface="Segoe UI"/>
              </a:defRPr>
            </a:pPr>
            <a:r>
              <a:t>Ứng dụng web và dịch vụ tìm ảnh là hai tiến trình riêng biệt</a:t>
            </a:r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10287000" y="6327648"/>
            <a:ext cx="126187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400" b="1">
                <a:solidFill>
                  <a:srgbClr val="2072B7"/>
                </a:solidFill>
                <a:latin typeface="Segoe UI"/>
              </a:defRPr>
            </a:pPr>
            <a:r>
              <a:t>05 / 14</a:t>
            </a:r>
          </a:p>
        </p:txBody>
      </p:sp>
      <p:sp xmlns:a="http://schemas.openxmlformats.org/drawingml/2006/main">
        <p:nvSpPr>
          <p:cNvPr id="19" name="Rounded Rectangle 18"/>
          <p:cNvSpPr/>
          <p:nvPr/>
        </p:nvSpPr>
        <p:spPr>
          <a:xfrm>
            <a:off x="612648" y="2194560"/>
            <a:ext cx="2560320" cy="2011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749808" y="2423160"/>
            <a:ext cx="22860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54D7B"/>
                </a:solidFill>
                <a:latin typeface="Segoe UI"/>
              </a:defRPr>
            </a:pPr>
            <a:r>
              <a:t>Trình duyệt</a:t>
            </a:r>
          </a:p>
          <a:p>
            <a:pPr>
              <a:defRPr sz="1800">
                <a:solidFill>
                  <a:srgbClr val="243247"/>
                </a:solidFill>
                <a:latin typeface="Segoe UI"/>
              </a:defRPr>
            </a:pPr>
            <a:r>
              <a:t>Blade, Bootstrap 5, Fetch API</a:t>
            </a:r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3355848" y="2194560"/>
            <a:ext cx="2560320" cy="2011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3493008" y="2423160"/>
            <a:ext cx="22860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54D7B"/>
                </a:solidFill>
                <a:latin typeface="Segoe UI"/>
              </a:defRPr>
            </a:pPr>
            <a:r>
              <a:t>Laravel 13</a:t>
            </a:r>
          </a:p>
          <a:p>
            <a:pPr>
              <a:defRPr sz="1800">
                <a:solidFill>
                  <a:srgbClr val="243247"/>
                </a:solidFill>
                <a:latin typeface="Segoe UI"/>
              </a:defRPr>
            </a:pPr>
            <a:r>
              <a:t>PHP 8.3 trở lên, MVC, Form Request</a:t>
            </a:r>
          </a:p>
        </p:txBody>
      </p:sp>
      <p:sp xmlns:a="http://schemas.openxmlformats.org/drawingml/2006/main">
        <p:nvSpPr>
          <p:cNvPr id="23" name="Rounded Rectangle 22"/>
          <p:cNvSpPr/>
          <p:nvPr/>
        </p:nvSpPr>
        <p:spPr>
          <a:xfrm>
            <a:off x="6099048" y="2194560"/>
            <a:ext cx="2560320" cy="2011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6236208" y="2423160"/>
            <a:ext cx="22860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54D7B"/>
                </a:solidFill>
                <a:latin typeface="Segoe UI"/>
              </a:defRPr>
            </a:pPr>
            <a:r>
              <a:t>MySQL 8.0</a:t>
            </a:r>
          </a:p>
          <a:p>
            <a:pPr>
              <a:defRPr sz="1800">
                <a:solidFill>
                  <a:srgbClr val="243247"/>
                </a:solidFill>
                <a:latin typeface="Segoe UI"/>
              </a:defRPr>
            </a:pPr>
            <a:r>
              <a:t>InnoDB, DECIMAL(12,2), Foreign Keys</a:t>
            </a:r>
          </a:p>
        </p:txBody>
      </p:sp>
      <p:sp xmlns:a="http://schemas.openxmlformats.org/drawingml/2006/main">
        <p:nvSpPr>
          <p:cNvPr id="25" name="Rounded Rectangle 24"/>
          <p:cNvSpPr/>
          <p:nvPr/>
        </p:nvSpPr>
        <p:spPr>
          <a:xfrm>
            <a:off x="8842248" y="2194560"/>
            <a:ext cx="2560320" cy="2011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8979408" y="2423160"/>
            <a:ext cx="22860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54D7B"/>
                </a:solidFill>
                <a:latin typeface="Segoe UI"/>
              </a:defRPr>
            </a:pPr>
            <a:r>
              <a:t>Python 3.12</a:t>
            </a:r>
          </a:p>
          <a:p>
            <a:pPr>
              <a:defRPr sz="1800">
                <a:solidFill>
                  <a:srgbClr val="243247"/>
                </a:solidFill>
                <a:latin typeface="Segoe UI"/>
              </a:defRPr>
            </a:pPr>
            <a:r>
              <a:t>OpenCLIP ViT-B/32, cổng 8020</a:t>
            </a:r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612648" y="48463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>
                <a:solidFill>
                  <a:srgbClr val="243247"/>
                </a:solidFill>
                <a:latin typeface="Segoe UI"/>
              </a:defRPr>
            </a:pPr>
            <a:r>
              <a:t>• Open-Meteo cung cấp thời tiết ở Footer. API này và dịch vụ AI chạy độc lập, không tham gia tạo đơn hoặc tính tiền.</a:t>
            </a:r>
          </a:p>
        </p:txBody>
      </p:sp>
    </p:spTree>
    <p:extLst>
      <p:ext uri="{BB962C8B-B14F-4D97-AF65-F5344CB8AC3E}">
        <p14:creationId xmlns:p14="http://schemas.microsoft.com/office/powerpoint/2010/main" val="17396986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65ff51b25c44f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11" name="TextBox 10"/>
          <p:cNvSpPr txBox="1"/>
          <p:nvPr/>
        </p:nvSpPr>
        <p:spPr>
          <a:xfrm>
            <a:off x="612648" y="9601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54D7B"/>
                </a:solidFill>
                <a:latin typeface="Segoe UI"/>
              </a:defRPr>
            </a:pPr>
            <a:r>
              <a:t>Tác nhân và Use Case</a:t>
            </a:r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630936" y="1572768"/>
            <a:ext cx="108173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>
                <a:solidFill>
                  <a:srgbClr val="627287"/>
                </a:solidFill>
                <a:latin typeface="Segoe UI"/>
              </a:defRPr>
            </a:pPr>
            <a:r>
              <a:t>Hai role trong DB: customer và admin. Guest là người chưa đăng nhập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10287000" y="6327648"/>
            <a:ext cx="126187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400" b="1">
                <a:solidFill>
                  <a:srgbClr val="2072B7"/>
                </a:solidFill>
                <a:latin typeface="Segoe UI"/>
              </a:defRPr>
            </a:pPr>
            <a:r>
              <a:t>06 / 14</a:t>
            </a:r>
          </a:p>
        </p:txBody>
      </p:sp>
      <p:pic xmlns:a="http://schemas.openxmlformats.org/drawingml/2006/main" xmlns:r="http://schemas.openxmlformats.org/officeDocument/2006/relationships">
        <p:nvPicPr>
          <p:cNvPr id="14" name="Picture 13" descr="smartcart-usecase-cl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430" y="1920240"/>
            <a:ext cx="3230435" cy="4023360"/>
          </a:xfrm>
          <a:prstGeom prst="rect">
            <a:avLst/>
          </a:prstGeom>
        </p:spPr>
      </p:pic>
      <p:sp xmlns:a="http://schemas.openxmlformats.org/drawingml/2006/main">
        <p:nvSpPr>
          <p:cNvPr id="15" name="TextBox 14"/>
          <p:cNvSpPr txBox="1"/>
          <p:nvPr/>
        </p:nvSpPr>
        <p:spPr>
          <a:xfrm>
            <a:off x="5394960" y="2011680"/>
            <a:ext cx="62179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154D7B"/>
                </a:solidFill>
                <a:latin typeface="Segoe UI"/>
              </a:rPr>
              <a:t>• Khách vãng lai: </a:t>
            </a:r>
            <a:r>
              <a:rPr sz="1950">
                <a:solidFill>
                  <a:srgbClr val="243247"/>
                </a:solidFill>
                <a:latin typeface="Segoe UI"/>
              </a:rPr>
              <a:t>Xem, lọc, tìm sản phẩm từ khóa/ảnh và dùng giỏ hàng trước khi đăng nhập.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154D7B"/>
                </a:solidFill>
                <a:latin typeface="Segoe UI"/>
              </a:rPr>
              <a:t>• Customer: </a:t>
            </a:r>
            <a:r>
              <a:rPr sz="1950">
                <a:solidFill>
                  <a:srgbClr val="243247"/>
                </a:solidFill>
                <a:latin typeface="Segoe UI"/>
              </a:rPr>
              <a:t>Đặt hàng COD, xem lịch sử đơn hàng của mình, hủy đơn khi ở trạng thái chờ xác nhận.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154D7B"/>
                </a:solidFill>
                <a:latin typeface="Segoe UI"/>
              </a:rPr>
              <a:t>• Admin: </a:t>
            </a:r>
            <a:r>
              <a:rPr sz="1950">
                <a:solidFill>
                  <a:srgbClr val="243247"/>
                </a:solidFill>
                <a:latin typeface="Segoe UI"/>
              </a:rPr>
              <a:t>Toàn quyền CRUD danh mục và sản phẩm, cập nhật trạng thái đơn và xem tổng quan.</a:t>
            </a:r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5394960" y="530352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i="1">
                <a:solidFill>
                  <a:srgbClr val="E65100"/>
                </a:solidFill>
                <a:latin typeface="Segoe UI"/>
              </a:defRPr>
            </a:pPr>
            <a:r>
              <a:t>=&gt; Server kiểm tra quyền truy cập qua Middleware. Việc ẩn nút trên giao diện không đủ để bảo vệ dữ liệu.</a:t>
            </a:r>
          </a:p>
        </p:txBody>
      </p:sp>
    </p:spTree>
    <p:extLst>
      <p:ext uri="{BB962C8B-B14F-4D97-AF65-F5344CB8AC3E}">
        <p14:creationId xmlns:p14="http://schemas.microsoft.com/office/powerpoint/2010/main" val="2786535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edcf2126374e5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21" name="TextBox 20"/>
          <p:cNvSpPr txBox="1"/>
          <p:nvPr/>
        </p:nvSpPr>
        <p:spPr>
          <a:xfrm>
            <a:off x="612648" y="9601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54D7B"/>
                </a:solidFill>
                <a:latin typeface="Segoe UI"/>
              </a:defRPr>
            </a:pPr>
            <a:r>
              <a:t>Cơ sở dữ liệu và ràng buộc toàn vẹn</a:t>
            </a:r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630936" y="1572768"/>
            <a:ext cx="108173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>
                <a:solidFill>
                  <a:srgbClr val="627287"/>
                </a:solidFill>
                <a:latin typeface="Segoe UI"/>
              </a:defRPr>
            </a:pPr>
            <a:r>
              <a:t>Năm bảng nghiệp vụ với quan hệ 1 : N và bảo vệ toàn vẹn lịch sử mua hàng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10287000" y="6327648"/>
            <a:ext cx="126187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400" b="1">
                <a:solidFill>
                  <a:srgbClr val="2072B7"/>
                </a:solidFill>
                <a:latin typeface="Segoe UI"/>
              </a:defRPr>
            </a:pPr>
            <a:r>
              <a:t>07 / 14</a:t>
            </a:r>
          </a:p>
        </p:txBody>
      </p:sp>
      <p:pic xmlns:a="http://schemas.openxmlformats.org/drawingml/2006/main" xmlns:r="http://schemas.openxmlformats.org/officeDocument/2006/relationships">
        <p:nvPicPr>
          <p:cNvPr id="24" name="Picture 23" descr="smartcart-e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2072005"/>
            <a:ext cx="5303520" cy="3719830"/>
          </a:xfrm>
          <a:prstGeom prst="rect">
            <a:avLst/>
          </a:prstGeom>
        </p:spPr>
      </p:pic>
      <p:sp xmlns:a="http://schemas.openxmlformats.org/drawingml/2006/main">
        <p:nvSpPr>
          <p:cNvPr id="25" name="TextBox 24"/>
          <p:cNvSpPr txBox="1"/>
          <p:nvPr/>
        </p:nvSpPr>
        <p:spPr>
          <a:xfrm>
            <a:off x="6126480" y="2011680"/>
            <a:ext cx="548640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2100" b="1">
                <a:solidFill>
                  <a:srgbClr val="154D7B"/>
                </a:solidFill>
                <a:latin typeface="Segoe UI"/>
              </a:rPr>
              <a:t>• Khóa ngoại RESTRICT: </a:t>
            </a:r>
            <a:r>
              <a:rPr sz="1900">
                <a:solidFill>
                  <a:srgbClr val="243247"/>
                </a:solidFill>
                <a:latin typeface="Segoe UI"/>
              </a:rPr>
              <a:t>Chặn xóa danh mục hoặc sản phẩm đang được dùng trong các đơn hàng hiện hữu.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154D7B"/>
                </a:solidFill>
                <a:latin typeface="Segoe UI"/>
              </a:rPr>
              <a:t>• Snapshot đơn hàng: </a:t>
            </a:r>
            <a:r>
              <a:rPr sz="1900">
                <a:solidFill>
                  <a:srgbClr val="243247"/>
                </a:solidFill>
                <a:latin typeface="Segoe UI"/>
              </a:rPr>
              <a:t>OrderItem giữ nguyên tên và giá tại thời điểm mua; giá tương lai sửa không lệch đơn cũ.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154D7B"/>
                </a:solidFill>
                <a:latin typeface="Segoe UI"/>
              </a:rPr>
              <a:t>• Dòng hàng duy nhất: </a:t>
            </a:r>
            <a:r>
              <a:rPr sz="1900">
                <a:solidFill>
                  <a:srgbClr val="243247"/>
                </a:solidFill>
                <a:latin typeface="Segoe UI"/>
              </a:rPr>
              <a:t>Cặp (order_id, product_id) chỉ xuất hiện 1 lần trong 1 đơn; tính toán tiền bằng DECIMAL(12,2).</a:t>
            </a:r>
          </a:p>
        </p:txBody>
      </p:sp>
    </p:spTree>
    <p:extLst>
      <p:ext uri="{BB962C8B-B14F-4D97-AF65-F5344CB8AC3E}">
        <p14:creationId xmlns:p14="http://schemas.microsoft.com/office/powerpoint/2010/main" val="15483733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944deeeb4e4ba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15" name="TextBox 14"/>
          <p:cNvSpPr txBox="1"/>
          <p:nvPr/>
        </p:nvSpPr>
        <p:spPr>
          <a:xfrm>
            <a:off x="612648" y="9601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54D7B"/>
                </a:solidFill>
                <a:latin typeface="Segoe UI"/>
              </a:defRPr>
            </a:pPr>
            <a:r>
              <a:t>Xác thực và bảo vệ truy cập</a:t>
            </a:r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630936" y="1572768"/>
            <a:ext cx="108173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>
                <a:solidFill>
                  <a:srgbClr val="627287"/>
                </a:solidFill>
                <a:latin typeface="Segoe UI"/>
              </a:defRPr>
            </a:pPr>
            <a:r>
              <a:t>Bảo vệ hệ thống ứng dụng web chống lại các nguy cơ tấn công mạng phổ biến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10287000" y="6327648"/>
            <a:ext cx="126187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400" b="1">
                <a:solidFill>
                  <a:srgbClr val="2072B7"/>
                </a:solidFill>
                <a:latin typeface="Segoe UI"/>
              </a:defRPr>
            </a:pPr>
            <a:r>
              <a:t>08 / 14</a:t>
            </a:r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630936" y="2057400"/>
            <a:ext cx="7315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3000" b="1">
                <a:solidFill>
                  <a:srgbClr val="2072B7"/>
                </a:solidFill>
                <a:latin typeface="Segoe UI"/>
              </a:defRPr>
            </a:pPr>
            <a:r>
              <a:t>01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1508760" y="20574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1">
                <a:solidFill>
                  <a:srgbClr val="243247"/>
                </a:solidFill>
                <a:latin typeface="Segoe UI"/>
              </a:defRPr>
            </a:pPr>
            <a:r>
              <a:t>Đăng ký và đăng nhập</a:t>
            </a:r>
          </a:p>
          <a:p>
            <a:pPr>
              <a:defRPr sz="1950">
                <a:solidFill>
                  <a:srgbClr val="627287"/>
                </a:solidFill>
                <a:latin typeface="Segoe UI"/>
              </a:defRPr>
            </a:pPr>
            <a:r>
              <a:t>Role đăng ký mặc định là Customer. Mật khẩu mã hóa Bcrypt, giới hạn thử sai (Rate limit 5 lần/phút) và tự động tái tạo session chống cướp phiên.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630936" y="3429000"/>
            <a:ext cx="7315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3000" b="1">
                <a:solidFill>
                  <a:srgbClr val="2072B7"/>
                </a:solidFill>
                <a:latin typeface="Segoe UI"/>
              </a:defRPr>
            </a:pPr>
            <a:r>
              <a:t>02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1508760" y="34290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1">
                <a:solidFill>
                  <a:srgbClr val="243247"/>
                </a:solidFill>
                <a:latin typeface="Segoe UI"/>
              </a:defRPr>
            </a:pPr>
            <a:r>
              <a:t>Route và thao tác dữ liệu</a:t>
            </a:r>
          </a:p>
          <a:p>
            <a:pPr>
              <a:defRPr sz="1950">
                <a:solidFill>
                  <a:srgbClr val="627287"/>
                </a:solidFill>
                <a:latin typeface="Segoe UI"/>
              </a:defRPr>
            </a:pPr>
            <a:r>
              <a:t>Middleware CheckRole chặn đứng truy cập trái phép vào trang Admin (403 Forbidden). Mã CSRF kiểm tra bắt buộc trên các request ghi dữ liệu.</a:t>
            </a:r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630936" y="4800600"/>
            <a:ext cx="7315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3000" b="1">
                <a:solidFill>
                  <a:srgbClr val="2072B7"/>
                </a:solidFill>
                <a:latin typeface="Segoe UI"/>
              </a:defRPr>
            </a:pPr>
            <a:r>
              <a:t>03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1508760" y="48006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1">
                <a:solidFill>
                  <a:srgbClr val="243247"/>
                </a:solidFill>
                <a:latin typeface="Segoe UI"/>
              </a:defRPr>
            </a:pPr>
            <a:r>
              <a:t>Đơn hàng thuộc đúng tài khoản</a:t>
            </a:r>
          </a:p>
          <a:p>
            <a:pPr>
              <a:defRPr sz="1950">
                <a:solidFill>
                  <a:srgbClr val="627287"/>
                </a:solidFill>
                <a:latin typeface="Segoe UI"/>
              </a:defRPr>
            </a:pPr>
            <a:r>
              <a:t>Truy vấn đơn từ quan hệ orders của người đang đăng nhập auth()-&gt;user()-&gt;orders(). Chặn đứng nguy cơ xem đơn người khác (Anti-IDOR).</a:t>
            </a:r>
          </a:p>
        </p:txBody>
      </p:sp>
    </p:spTree>
    <p:extLst>
      <p:ext uri="{BB962C8B-B14F-4D97-AF65-F5344CB8AC3E}">
        <p14:creationId xmlns:p14="http://schemas.microsoft.com/office/powerpoint/2010/main" val="8496112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7e4539f050411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16" name="TextBox 15"/>
          <p:cNvSpPr txBox="1"/>
          <p:nvPr/>
        </p:nvSpPr>
        <p:spPr>
          <a:xfrm>
            <a:off x="612648" y="9601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54D7B"/>
                </a:solidFill>
                <a:latin typeface="Segoe UI"/>
              </a:defRPr>
            </a:pPr>
            <a:r>
              <a:t>Catalog phía khách hàng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630936" y="1572768"/>
            <a:ext cx="108173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>
                <a:solidFill>
                  <a:srgbClr val="627287"/>
                </a:solidFill>
                <a:latin typeface="Segoe UI"/>
              </a:defRPr>
            </a:pPr>
            <a:r>
              <a:t>Tìm kiếm và điều hướng sản phẩm</a:t>
            </a:r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10287000" y="6327648"/>
            <a:ext cx="126187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400" b="1">
                <a:solidFill>
                  <a:srgbClr val="2072B7"/>
                </a:solidFill>
                <a:latin typeface="Segoe UI"/>
              </a:defRPr>
            </a:pPr>
            <a:r>
              <a:t>09 / 14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612648" y="2148840"/>
            <a:ext cx="393192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1">
                <a:solidFill>
                  <a:srgbClr val="154D7B"/>
                </a:solidFill>
                <a:latin typeface="Segoe UI"/>
              </a:defRPr>
            </a:pPr>
            <a:r>
              <a:t>8 sản phẩm mỗi trang</a:t>
            </a:r>
          </a:p>
          <a:p>
            <a:pPr>
              <a:spcAft>
                <a:spcPts val="2600"/>
              </a:spcAft>
              <a:defRPr sz="2000">
                <a:solidFill>
                  <a:srgbClr val="243247"/>
                </a:solidFill>
                <a:latin typeface="Segoe UI"/>
              </a:defRPr>
            </a:pPr>
            <a:r>
              <a:t>Phân trang tối ưu tốc độ tải. Tự động giữ bộ lọc và từ khóa khi chuyển trang.</a:t>
            </a:r>
          </a:p>
          <a:p>
            <a:pPr>
              <a:spcAft>
                <a:spcPts val="400"/>
              </a:spcAft>
              <a:defRPr sz="2300" b="1">
                <a:solidFill>
                  <a:srgbClr val="154D7B"/>
                </a:solidFill>
                <a:latin typeface="Segoe UI"/>
              </a:defRPr>
            </a:pPr>
            <a:r>
              <a:t>Bộ lọc và chi tiết</a:t>
            </a:r>
          </a:p>
          <a:p>
            <a:pPr>
              <a:defRPr sz="2000">
                <a:solidFill>
                  <a:srgbClr val="243247"/>
                </a:solidFill>
                <a:latin typeface="Segoe UI"/>
              </a:defRPr>
            </a:pPr>
            <a:r>
              <a:t>Tìm tên, danh mục, giá tăng/giảm. Chi tiết có ảnh lớn, giá niêm yết và tồn kho thực tế.</a:t>
            </a:r>
          </a:p>
        </p:txBody>
      </p:sp>
      <p:pic xmlns:a="http://schemas.openxmlformats.org/drawingml/2006/main" xmlns:r="http://schemas.openxmlformats.org/officeDocument/2006/relationships">
        <p:nvPicPr>
          <p:cNvPr id="20" name="Picture 19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79" y="2119094"/>
            <a:ext cx="6766560" cy="3808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4793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69a17b4b844e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14" name="TextBox 13"/>
          <p:cNvSpPr txBox="1"/>
          <p:nvPr/>
        </p:nvSpPr>
        <p:spPr>
          <a:xfrm>
            <a:off x="612648" y="9601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54D7B"/>
                </a:solidFill>
                <a:latin typeface="Segoe UI"/>
              </a:defRPr>
            </a:pPr>
            <a:r>
              <a:t>Quản trị danh mục và sản phẩm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630936" y="1572768"/>
            <a:ext cx="108173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>
                <a:solidFill>
                  <a:srgbClr val="627287"/>
                </a:solidFill>
                <a:latin typeface="Segoe UI"/>
              </a:defRPr>
            </a:pPr>
            <a:r>
              <a:t>CRUD hai bảng categories và products có quan hệ</a:t>
            </a:r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10287000" y="6327648"/>
            <a:ext cx="126187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400" b="1">
                <a:solidFill>
                  <a:srgbClr val="2072B7"/>
                </a:solidFill>
                <a:latin typeface="Segoe UI"/>
              </a:defRPr>
            </a:pPr>
            <a:r>
              <a:t>10 / 14</a:t>
            </a:r>
          </a:p>
        </p:txBody>
      </p:sp>
      <p:pic xmlns:a="http://schemas.openxmlformats.org/drawingml/2006/main" xmlns:r="http://schemas.openxmlformats.org/officeDocument/2006/relationships">
        <p:nvPicPr>
          <p:cNvPr id="17" name="Picture 16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7" y="2120265"/>
            <a:ext cx="6766560" cy="3806190"/>
          </a:xfrm>
          <a:prstGeom prst="rect">
            <a:avLst/>
          </a:prstGeom>
        </p:spPr>
      </p:pic>
      <p:sp xmlns:a="http://schemas.openxmlformats.org/drawingml/2006/main">
        <p:nvSpPr>
          <p:cNvPr id="18" name="TextBox 17"/>
          <p:cNvSpPr txBox="1"/>
          <p:nvPr/>
        </p:nvSpPr>
        <p:spPr>
          <a:xfrm>
            <a:off x="7680960" y="2148840"/>
            <a:ext cx="393192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1">
                <a:solidFill>
                  <a:srgbClr val="154D7B"/>
                </a:solidFill>
                <a:latin typeface="Segoe UI"/>
              </a:defRPr>
            </a:pPr>
            <a:r>
              <a:t>Validation và upload</a:t>
            </a:r>
          </a:p>
          <a:p>
            <a:pPr>
              <a:spcAft>
                <a:spcPts val="2600"/>
              </a:spcAft>
              <a:defRPr sz="2000">
                <a:solidFill>
                  <a:srgbClr val="243247"/>
                </a:solidFill>
                <a:latin typeface="Segoe UI"/>
              </a:defRPr>
            </a:pPr>
            <a:r>
              <a:t>Tên không rỗng, giá &gt; 0, tồn kho ≥ 0. Upload file ảnh JPEG, PNG, WebP an toàn.</a:t>
            </a:r>
          </a:p>
          <a:p>
            <a:pPr>
              <a:spcAft>
                <a:spcPts val="400"/>
              </a:spcAft>
              <a:defRPr sz="2300" b="1">
                <a:solidFill>
                  <a:srgbClr val="154D7B"/>
                </a:solidFill>
                <a:latin typeface="Segoe UI"/>
              </a:defRPr>
            </a:pPr>
            <a:r>
              <a:t>Giữ dữ liệu hiện hữu</a:t>
            </a:r>
          </a:p>
          <a:p>
            <a:pPr>
              <a:defRPr sz="2000">
                <a:solidFill>
                  <a:srgbClr val="243247"/>
                </a:solidFill>
                <a:latin typeface="Segoe UI"/>
              </a:defRPr>
            </a:pPr>
            <a:r>
              <a:t>Chặn xóa dữ liệu đang dùng. Seed giữ nguyên giá, kho và ảnh Admin đã sửa thực tế.</a:t>
            </a:r>
          </a:p>
        </p:txBody>
      </p:sp>
    </p:spTree>
    <p:extLst>
      <p:ext uri="{BB962C8B-B14F-4D97-AF65-F5344CB8AC3E}">
        <p14:creationId xmlns:p14="http://schemas.microsoft.com/office/powerpoint/2010/main" val="5545504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cd2b7a743a47b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14" name="TextBox 13"/>
          <p:cNvSpPr txBox="1"/>
          <p:nvPr/>
        </p:nvSpPr>
        <p:spPr>
          <a:xfrm>
            <a:off x="612648" y="9601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54D7B"/>
                </a:solidFill>
                <a:latin typeface="Segoe UI"/>
              </a:defRPr>
            </a:pPr>
            <a:r>
              <a:t>Giỏ hàng và đặt hàng COD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630936" y="1572768"/>
            <a:ext cx="108173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>
                <a:solidFill>
                  <a:srgbClr val="627287"/>
                </a:solidFill>
                <a:latin typeface="Segoe UI"/>
              </a:defRPr>
            </a:pPr>
            <a:r>
              <a:t>Trải nghiệm thời gian thực và kiểm soát giao dịch nhất quán trong một luồng</a:t>
            </a:r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10287000" y="6327648"/>
            <a:ext cx="126187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400" b="1">
                <a:solidFill>
                  <a:srgbClr val="2072B7"/>
                </a:solidFill>
                <a:latin typeface="Segoe UI"/>
              </a:defRPr>
            </a:pPr>
            <a:r>
              <a:t>11 / 14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630936" y="2057400"/>
            <a:ext cx="7315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3000" b="1">
                <a:solidFill>
                  <a:srgbClr val="2072B7"/>
                </a:solidFill>
                <a:latin typeface="Segoe UI"/>
              </a:defRPr>
            </a:pPr>
            <a:r>
              <a:t>01</a:t>
            </a:r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1508760" y="20574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1">
                <a:solidFill>
                  <a:srgbClr val="243247"/>
                </a:solidFill>
                <a:latin typeface="Segoe UI"/>
              </a:defRPr>
            </a:pPr>
            <a:r>
              <a:t>Giỏ hàng Fetch API</a:t>
            </a:r>
          </a:p>
          <a:p>
            <a:pPr>
              <a:defRPr sz="1950">
                <a:solidFill>
                  <a:srgbClr val="627287"/>
                </a:solidFill>
                <a:latin typeface="Segoe UI"/>
              </a:defRPr>
            </a:pPr>
            <a:r>
              <a:t>Cập nhật sản phẩm, số lượng, tổng tiền và badge giỏ hàng tức thời mà không cần tải lại toàn bộ trang.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630936" y="3429000"/>
            <a:ext cx="7315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3000" b="1">
                <a:solidFill>
                  <a:srgbClr val="2072B7"/>
                </a:solidFill>
                <a:latin typeface="Segoe UI"/>
              </a:defRPr>
            </a:pPr>
            <a:r>
              <a:t>02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1508760" y="34290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1">
                <a:solidFill>
                  <a:srgbClr val="243247"/>
                </a:solidFill>
                <a:latin typeface="Segoe UI"/>
              </a:defRPr>
            </a:pPr>
            <a:r>
              <a:t>Transaction tạo đơn</a:t>
            </a:r>
          </a:p>
          <a:p>
            <a:pPr>
              <a:defRPr sz="1950">
                <a:solidFill>
                  <a:srgbClr val="627287"/>
                </a:solidFill>
                <a:latin typeface="Segoe UI"/>
              </a:defRPr>
            </a:pPr>
            <a:r>
              <a:t>Khóa sản phẩm bằng lockForUpdate(), tạo đơn orders/items và trừ kho đồng thời. Có lỗi thì rollback toàn bộ.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630936" y="4800600"/>
            <a:ext cx="7315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3000" b="1">
                <a:solidFill>
                  <a:srgbClr val="2072B7"/>
                </a:solidFill>
                <a:latin typeface="Segoe UI"/>
              </a:defRPr>
            </a:pPr>
            <a:r>
              <a:t>03</a:t>
            </a:r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1508760" y="48006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1">
                <a:solidFill>
                  <a:srgbClr val="243247"/>
                </a:solidFill>
                <a:latin typeface="Segoe UI"/>
              </a:defRPr>
            </a:pPr>
            <a:r>
              <a:t>Chống gửi lặp đơn</a:t>
            </a:r>
          </a:p>
          <a:p>
            <a:pPr>
              <a:defRPr sz="1950">
                <a:solidFill>
                  <a:srgbClr val="627287"/>
                </a:solidFill>
                <a:latin typeface="Segoe UI"/>
              </a:defRPr>
            </a:pPr>
            <a:r>
              <a:t>Mã checkout_token duy nhất per-request. Bấm nhiều lần trả về đơn đã tạo, thành công mới dọn sạch Session.</a:t>
            </a:r>
          </a:p>
        </p:txBody>
      </p:sp>
    </p:spTree>
    <p:extLst>
      <p:ext uri="{BB962C8B-B14F-4D97-AF65-F5344CB8AC3E}">
        <p14:creationId xmlns:p14="http://schemas.microsoft.com/office/powerpoint/2010/main" val="124939908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ec9681536948c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17" name="TextBox 16"/>
          <p:cNvSpPr txBox="1"/>
          <p:nvPr/>
        </p:nvSpPr>
        <p:spPr>
          <a:xfrm>
            <a:off x="612648" y="9601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54D7B"/>
                </a:solidFill>
                <a:latin typeface="Segoe UI"/>
              </a:defRPr>
            </a:pPr>
            <a:r>
              <a:t>Trạng thái đơn và đối chiếu tồn kho</a:t>
            </a:r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630936" y="1572768"/>
            <a:ext cx="108173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>
                <a:solidFill>
                  <a:srgbClr val="627287"/>
                </a:solidFill>
                <a:latin typeface="Segoe UI"/>
              </a:defRPr>
            </a:pPr>
            <a:r>
              <a:t>Ví dụ kiểm chứng thực nghiệm: đơn giá 95.000 đồng, tồn ban đầu 35 sản phẩm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10287000" y="6327648"/>
            <a:ext cx="126187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400" b="1">
                <a:solidFill>
                  <a:srgbClr val="2072B7"/>
                </a:solidFill>
                <a:latin typeface="Segoe UI"/>
              </a:defRPr>
            </a:pPr>
            <a:r>
              <a:t>12 / 14</a:t>
            </a:r>
          </a:p>
        </p:txBody>
      </p:sp>
      <p:graphicFrame xmlns:a="http://schemas.openxmlformats.org/drawingml/2006/main">
        <p:nvGraphicFramePr>
          <p:cNvPr id="20" name="Table 19"/>
          <p:cNvGraphicFramePr>
            <a:graphicFrameLocks noGrp="1"/>
          </p:cNvGraphicFramePr>
          <p:nvPr/>
        </p:nvGraphicFramePr>
        <p:xfrm>
          <a:off x="612648" y="201168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292608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Thao tác</a:t>
                      </a:r>
                    </a:p>
                  </a:txBody>
                  <a:tcPr anchor="ctr">
                    <a:solidFill>
                      <a:srgbClr val="154D7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Nghiệp vụ</a:t>
                      </a:r>
                    </a:p>
                  </a:txBody>
                  <a:tcPr anchor="ctr">
                    <a:solidFill>
                      <a:srgbClr val="154D7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Trạng thái / Doanh thu</a:t>
                      </a:r>
                    </a:p>
                  </a:txBody>
                  <a:tcPr anchor="ctr">
                    <a:solidFill>
                      <a:srgbClr val="154D7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Tồn kho</a:t>
                      </a:r>
                    </a:p>
                  </a:txBody>
                  <a:tcPr anchor="ctr">
                    <a:solidFill>
                      <a:srgbClr val="154D7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243247"/>
                          </a:solidFill>
                          <a:latin typeface="Segoe UI"/>
                        </a:defRPr>
                      </a:pPr>
                      <a:r>
                        <a:t>Ban đầu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243247"/>
                          </a:solidFill>
                          <a:latin typeface="Segoe UI"/>
                        </a:defRPr>
                      </a:pPr>
                      <a:r>
                        <a:t>Chưa tạo hai đơn thử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243247"/>
                          </a:solidFill>
                          <a:latin typeface="Segoe UI"/>
                        </a:defRPr>
                      </a:pPr>
                      <a:r>
                        <a:t>0 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243247"/>
                          </a:solidFill>
                          <a:latin typeface="Segoe UI"/>
                        </a:defRPr>
                      </a:pPr>
                      <a:r>
                        <a:t>35 sản phẩm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243247"/>
                          </a:solidFill>
                          <a:latin typeface="Segoe UI"/>
                        </a:defRPr>
                      </a:pPr>
                      <a:r>
                        <a:t>Đặt đơn 1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243247"/>
                          </a:solidFill>
                          <a:latin typeface="Segoe UI"/>
                        </a:defRPr>
                      </a:pPr>
                      <a:r>
                        <a:t>Khách mua 2 sản phẩm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243247"/>
                          </a:solidFill>
                          <a:latin typeface="Segoe UI"/>
                        </a:defRPr>
                      </a:pPr>
                      <a:r>
                        <a:t>Chờ xác nhận / 190.000 đ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243247"/>
                          </a:solidFill>
                          <a:latin typeface="Segoe UI"/>
                        </a:defRPr>
                      </a:pPr>
                      <a:r>
                        <a:t>33 sản phẩm (-2)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243247"/>
                          </a:solidFill>
                          <a:latin typeface="Segoe UI"/>
                        </a:defRPr>
                      </a:pPr>
                      <a:r>
                        <a:t>Đặt đơn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243247"/>
                          </a:solidFill>
                          <a:latin typeface="Segoe UI"/>
                        </a:defRPr>
                      </a:pPr>
                      <a:r>
                        <a:t>Khách mua 1 sản phẩm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243247"/>
                          </a:solidFill>
                          <a:latin typeface="Segoe UI"/>
                        </a:defRPr>
                      </a:pPr>
                      <a:r>
                        <a:t>Chờ xác nhận / 95.000 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243247"/>
                          </a:solidFill>
                          <a:latin typeface="Segoe UI"/>
                        </a:defRPr>
                      </a:pPr>
                      <a:r>
                        <a:t>32 sản phẩm (-1)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243247"/>
                          </a:solidFill>
                          <a:latin typeface="Segoe UI"/>
                        </a:defRPr>
                      </a:pPr>
                      <a:r>
                        <a:t>Hoàn thành đơn 1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243247"/>
                          </a:solidFill>
                          <a:latin typeface="Segoe UI"/>
                        </a:defRPr>
                      </a:pPr>
                      <a:r>
                        <a:t>Đang giao, sau đó Hoàn thành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66534"/>
                          </a:solidFill>
                          <a:latin typeface="Segoe UI"/>
                        </a:defRPr>
                      </a:pPr>
                      <a:r>
                        <a:t>+190.000 đ (Ghi nhận)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243247"/>
                          </a:solidFill>
                          <a:latin typeface="Segoe UI"/>
                        </a:defRPr>
                      </a:pPr>
                      <a:r>
                        <a:t>32 sản phẩm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243247"/>
                          </a:solidFill>
                          <a:latin typeface="Segoe UI"/>
                        </a:defRPr>
                      </a:pPr>
                      <a:r>
                        <a:t>Hủy đơn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243247"/>
                          </a:solidFill>
                          <a:latin typeface="Segoe UI"/>
                        </a:defRPr>
                      </a:pPr>
                      <a:r>
                        <a:t>Khách gửi hủy đơn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243247"/>
                          </a:solidFill>
                          <a:latin typeface="Segoe UI"/>
                        </a:defRPr>
                      </a:pPr>
                      <a:r>
                        <a:t>Đã hủy (Không phát sinh)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E65100"/>
                          </a:solidFill>
                          <a:latin typeface="Segoe UI"/>
                        </a:defRPr>
                      </a:pPr>
                      <a:r>
                        <a:t>33 sản phẩm (+1 hoàn kho)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 xmlns:a="http://schemas.openxmlformats.org/drawingml/2006/main">
        <p:nvSpPr>
          <p:cNvPr id="21" name="TextBox 20"/>
          <p:cNvSpPr txBox="1"/>
          <p:nvPr/>
        </p:nvSpPr>
        <p:spPr>
          <a:xfrm>
            <a:off x="612648" y="5486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154D7B"/>
                </a:solidFill>
                <a:latin typeface="Segoe UI"/>
              </a:defRPr>
            </a:pPr>
            <a:r>
              <a:t>=&gt; Kết quả: Doanh thu completed 190.000 đồng. Tồn cuối 33 sản phẩm (đơn hủy hoàn lại đúng 1 sản phẩm). Hệ thống bảo toàn 100% tính nhất quán dữ liệu.</a:t>
            </a:r>
          </a:p>
        </p:txBody>
      </p:sp>
    </p:spTree>
    <p:extLst>
      <p:ext uri="{BB962C8B-B14F-4D97-AF65-F5344CB8AC3E}">
        <p14:creationId xmlns:p14="http://schemas.microsoft.com/office/powerpoint/2010/main" val="164837300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a2a0366639406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17" name="TextBox 16"/>
          <p:cNvSpPr txBox="1"/>
          <p:nvPr/>
        </p:nvSpPr>
        <p:spPr>
          <a:xfrm>
            <a:off x="612648" y="9601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54D7B"/>
                </a:solidFill>
                <a:latin typeface="Segoe UI"/>
              </a:defRPr>
            </a:pPr>
            <a:r>
              <a:t>Tìm kiếm sản phẩm bằng ảnh</a:t>
            </a:r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630936" y="1572768"/>
            <a:ext cx="108173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>
                <a:solidFill>
                  <a:srgbClr val="627287"/>
                </a:solidFill>
                <a:latin typeface="Segoe UI"/>
              </a:defRPr>
            </a:pPr>
            <a:r>
              <a:t>Chọn ảnh hoặc dùng camera tìm sản phẩm bằng AI OpenCLIP ViT-B/32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10287000" y="6327648"/>
            <a:ext cx="126187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400" b="1">
                <a:solidFill>
                  <a:srgbClr val="2072B7"/>
                </a:solidFill>
                <a:latin typeface="Segoe UI"/>
              </a:defRPr>
            </a:pPr>
            <a:r>
              <a:t>13 / 14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612648" y="2148840"/>
            <a:ext cx="393192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1">
                <a:solidFill>
                  <a:srgbClr val="154D7B"/>
                </a:solidFill>
                <a:latin typeface="Segoe UI"/>
              </a:defRPr>
            </a:pPr>
            <a:r>
              <a:t>Kiểm tra đầu vào</a:t>
            </a:r>
          </a:p>
          <a:p>
            <a:pPr>
              <a:spcAft>
                <a:spcPts val="2600"/>
              </a:spcAft>
              <a:defRPr sz="2000">
                <a:solidFill>
                  <a:srgbClr val="243247"/>
                </a:solidFill>
                <a:latin typeface="Segoe UI"/>
              </a:defRPr>
            </a:pPr>
            <a:r>
              <a:t>Chấp nhận JPG, PNG, WebP. Giới hạn 2 MB và 6000 × 6000 px ngăn quá tải tài nguyên.</a:t>
            </a:r>
          </a:p>
          <a:p>
            <a:pPr>
              <a:spcAft>
                <a:spcPts val="400"/>
              </a:spcAft>
              <a:defRPr sz="2300" b="1">
                <a:solidFill>
                  <a:srgbClr val="154D7B"/>
                </a:solidFill>
                <a:latin typeface="Segoe UI"/>
              </a:defRPr>
            </a:pPr>
            <a:r>
              <a:t>Kết quả có thể mua ngay</a:t>
            </a:r>
          </a:p>
          <a:p>
            <a:pPr>
              <a:defRPr sz="2000">
                <a:solidFill>
                  <a:srgbClr val="243247"/>
                </a:solidFill>
                <a:latin typeface="Segoe UI"/>
              </a:defRPr>
            </a:pPr>
            <a:r>
              <a:t>OpenCLIP so khớp Cosine Similarity. Hiển thị ảnh, tên, giá và nút Thêm giỏ tức thì.</a:t>
            </a:r>
          </a:p>
        </p:txBody>
      </p:sp>
      <p:pic xmlns:a="http://schemas.openxmlformats.org/drawingml/2006/main" xmlns:r="http://schemas.openxmlformats.org/officeDocument/2006/relationships"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371785"/>
            <a:ext cx="6766560" cy="3303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99731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cd1122ed0741a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11" name="TextBox 10"/>
          <p:cNvSpPr txBox="1"/>
          <p:nvPr/>
        </p:nvSpPr>
        <p:spPr>
          <a:xfrm>
            <a:off x="612648" y="9601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154D7B"/>
                </a:solidFill>
                <a:latin typeface="Segoe UI"/>
              </a:defRPr>
            </a:pPr>
            <a:r>
              <a:t>Kết luận</a:t>
            </a:r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10287000" y="6327648"/>
            <a:ext cx="126187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400" b="1">
                <a:solidFill>
                  <a:srgbClr val="2072B7"/>
                </a:solidFill>
                <a:latin typeface="Segoe UI"/>
              </a:defRPr>
            </a:pPr>
            <a:r>
              <a:t>14 / 14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621792" y="1920240"/>
            <a:ext cx="10863072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800"/>
              </a:spcAft>
              <a:defRPr sz="3200" b="1">
                <a:solidFill>
                  <a:srgbClr val="154D7B"/>
                </a:solidFill>
                <a:latin typeface="Segoe UI"/>
              </a:defRPr>
            </a:pPr>
            <a:r>
              <a:t>SmartCart đã kết nối luồng mua hàng hoàn chỉnh với dữ liệu đơn và tồn kho.</a:t>
            </a:r>
          </a:p>
          <a:p>
            <a:pPr>
              <a:spcAft>
                <a:spcPts val="3200"/>
              </a:spcAft>
              <a:defRPr sz="2400">
                <a:solidFill>
                  <a:srgbClr val="243247"/>
                </a:solidFill>
                <a:latin typeface="Segoe UI"/>
              </a:defRPr>
            </a:pPr>
            <a:r>
              <a:t>Bán hàng COD, phân quyền quản trị và tìm bằng ảnh AI đạt 88/88 test cases pass.</a:t>
            </a:r>
          </a:p>
          <a:p>
            <a:pPr>
              <a:spcAft>
                <a:spcPts val="800"/>
              </a:spcAft>
              <a:defRPr sz="3200" b="1">
                <a:solidFill>
                  <a:srgbClr val="E65100"/>
                </a:solidFill>
                <a:latin typeface="Segoe UI"/>
              </a:defRPr>
            </a:pPr>
            <a:r>
              <a:t>Cảm ơn Thầy và các bạn đã theo dõi!</a:t>
            </a:r>
          </a:p>
          <a:p>
            <a:pPr>
              <a:defRPr sz="2200">
                <a:solidFill>
                  <a:srgbClr val="627287"/>
                </a:solidFill>
                <a:latin typeface="Segoe UI"/>
              </a:defRPr>
            </a:pPr>
            <a:r>
              <a:t>Nhóm 11 sẵn sàng trả lời câu hỏi (Q&amp;A)</a:t>
            </a:r>
          </a:p>
        </p:txBody>
      </p:sp>
    </p:spTree>
    <p:extLst>
      <p:ext uri="{BB962C8B-B14F-4D97-AF65-F5344CB8AC3E}">
        <p14:creationId xmlns:p14="http://schemas.microsoft.com/office/powerpoint/2010/main" val="17646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2026-10-19T08:16:35.8670000Z</dcterms:created>
  <dcterms:modified xsi:type="dcterms:W3CDTF">2026-10-19T08:16:35.8670000Z</dcterms:modified>
</coreProperties>
</file>