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4a3722debe094a2e" Type="http://schemas.openxmlformats.org/officeDocument/2006/relationships/extended-properties" Target="docProps/app.xml"/><Relationship Id="R5de4647f8b404656" Type="http://schemas.openxmlformats.org/package/2006/relationships/metadata/core-properties" Target="docProps/core.xml"/><Relationship Id="Re8c8e537dae54a01"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ae7405342b2a49e3"/>
  </p:sldMasterIdLst>
  <p:notesMasterIdLst>
    <p:notesMasterId xmlns:r="http://schemas.openxmlformats.org/officeDocument/2006/relationships" r:id="R16a894f3ffb24444"/>
  </p:notesMasterIdLst>
  <p:sldIdLst>
    <p:sldId xmlns:r="http://schemas.openxmlformats.org/officeDocument/2006/relationships" id="256" r:id="R1b2917825e2c4b69"/>
    <p:sldId xmlns:r="http://schemas.openxmlformats.org/officeDocument/2006/relationships" id="257" r:id="R600d653712cf4679"/>
    <p:sldId xmlns:r="http://schemas.openxmlformats.org/officeDocument/2006/relationships" id="258" r:id="R3268e013496c49fa"/>
    <p:sldId xmlns:r="http://schemas.openxmlformats.org/officeDocument/2006/relationships" id="259" r:id="R58ab64e1c61649e7"/>
    <p:sldId xmlns:r="http://schemas.openxmlformats.org/officeDocument/2006/relationships" id="260" r:id="R79cf70e14e2f4751"/>
    <p:sldId xmlns:r="http://schemas.openxmlformats.org/officeDocument/2006/relationships" id="261" r:id="R4c92125c57ef41e1"/>
    <p:sldId xmlns:r="http://schemas.openxmlformats.org/officeDocument/2006/relationships" id="262" r:id="R13de16b67e8e434e"/>
    <p:sldId xmlns:r="http://schemas.openxmlformats.org/officeDocument/2006/relationships" id="263" r:id="R4dfc4271b09d4e82"/>
    <p:sldId xmlns:r="http://schemas.openxmlformats.org/officeDocument/2006/relationships" id="264" r:id="Rd001d2a504194acf"/>
    <p:sldId xmlns:r="http://schemas.openxmlformats.org/officeDocument/2006/relationships" id="265" r:id="Rb8e53ff3f1774642"/>
    <p:sldId xmlns:r="http://schemas.openxmlformats.org/officeDocument/2006/relationships" id="266" r:id="R001000a0769c41b4"/>
    <p:sldId xmlns:r="http://schemas.openxmlformats.org/officeDocument/2006/relationships" id="267" r:id="R89f9fc99f85f403c"/>
    <p:sldId xmlns:r="http://schemas.openxmlformats.org/officeDocument/2006/relationships" id="268" r:id="R12d9357440684387"/>
    <p:sldId xmlns:r="http://schemas.openxmlformats.org/officeDocument/2006/relationships" id="269" r:id="Rff18e387648f4eda"/>
    <p:sldId xmlns:r="http://schemas.openxmlformats.org/officeDocument/2006/relationships" id="270" r:id="R8e6d96e1a1034e5b"/>
    <p:sldId xmlns:r="http://schemas.openxmlformats.org/officeDocument/2006/relationships" id="271" r:id="R77296b96d7d5417e"/>
    <p:sldId xmlns:r="http://schemas.openxmlformats.org/officeDocument/2006/relationships" id="272" r:id="Rca05282e75ab474f"/>
    <p:sldId xmlns:r="http://schemas.openxmlformats.org/officeDocument/2006/relationships" id="273" r:id="R6908dacf75a34f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1000a0769c41b4" Type="http://schemas.openxmlformats.org/officeDocument/2006/relationships/slide" Target="slides/slide11.xml"/><Relationship Id="R12d9357440684387" Type="http://schemas.openxmlformats.org/officeDocument/2006/relationships/slide" Target="slides/slide13.xml"/><Relationship Id="R13de16b67e8e434e" Type="http://schemas.openxmlformats.org/officeDocument/2006/relationships/slide" Target="slides/slide7.xml"/><Relationship Id="R16a894f3ffb24444" Type="http://schemas.openxmlformats.org/officeDocument/2006/relationships/notesMaster" Target="notesMasters/notesMaster1.xml"/><Relationship Id="R1b2917825e2c4b69" Type="http://schemas.openxmlformats.org/officeDocument/2006/relationships/slide" Target="slides/slide1.xml"/><Relationship Id="R3268e013496c49fa" Type="http://schemas.openxmlformats.org/officeDocument/2006/relationships/slide" Target="slides/slide3.xml"/><Relationship Id="R4c92125c57ef41e1" Type="http://schemas.openxmlformats.org/officeDocument/2006/relationships/slide" Target="slides/slide6.xml"/><Relationship Id="R4dfc4271b09d4e82" Type="http://schemas.openxmlformats.org/officeDocument/2006/relationships/slide" Target="slides/slide8.xml"/><Relationship Id="R58ab64e1c61649e7" Type="http://schemas.openxmlformats.org/officeDocument/2006/relationships/slide" Target="slides/slide4.xml"/><Relationship Id="R600d653712cf4679" Type="http://schemas.openxmlformats.org/officeDocument/2006/relationships/slide" Target="slides/slide2.xml"/><Relationship Id="R64f723eacca44f30" Type="http://schemas.openxmlformats.org/officeDocument/2006/relationships/theme" Target="theme/theme1.xml"/><Relationship Id="R6908dacf75a34fb6" Type="http://schemas.openxmlformats.org/officeDocument/2006/relationships/slide" Target="slides/slide18.xml"/><Relationship Id="R77296b96d7d5417e" Type="http://schemas.openxmlformats.org/officeDocument/2006/relationships/slide" Target="slides/slide16.xml"/><Relationship Id="R79cf70e14e2f4751" Type="http://schemas.openxmlformats.org/officeDocument/2006/relationships/slide" Target="slides/slide5.xml"/><Relationship Id="R89f9fc99f85f403c" Type="http://schemas.openxmlformats.org/officeDocument/2006/relationships/slide" Target="slides/slide12.xml"/><Relationship Id="R8e6d96e1a1034e5b" Type="http://schemas.openxmlformats.org/officeDocument/2006/relationships/slide" Target="slides/slide15.xml"/><Relationship Id="Rae7405342b2a49e3" Type="http://schemas.openxmlformats.org/officeDocument/2006/relationships/slideMaster" Target="slideMasters/slideMaster1.xml"/><Relationship Id="Rb3281d04fcc447a6" Type="http://schemas.openxmlformats.org/officeDocument/2006/relationships/tableStyles" Target="tableStyles.xml"/><Relationship Id="Rb8e53ff3f1774642" Type="http://schemas.openxmlformats.org/officeDocument/2006/relationships/slide" Target="slides/slide10.xml"/><Relationship Id="Rca05282e75ab474f" Type="http://schemas.openxmlformats.org/officeDocument/2006/relationships/slide" Target="slides/slide17.xml"/><Relationship Id="Rd001d2a504194acf" Type="http://schemas.openxmlformats.org/officeDocument/2006/relationships/slide" Target="slides/slide9.xml"/><Relationship Id="Re174d0c84c104e64" Type="http://schemas.openxmlformats.org/officeDocument/2006/relationships/presProps" Target="presProps.xml"/><Relationship Id="Rff18e387648f4eda"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ba02688f426347a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bc56f79ec334ff5" Type="http://schemas.openxmlformats.org/officeDocument/2006/relationships/slide" Target="../slides/slide1.xml"/><Relationship Id="Rd05b873f64c64b3b"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424e774b36874bca" Type="http://schemas.openxmlformats.org/officeDocument/2006/relationships/notesMaster" Target="../notesMasters/notesMaster1.xml"/><Relationship Id="R7c21f63bf6c64ba6"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67d8e9d6f51c416d" Type="http://schemas.openxmlformats.org/officeDocument/2006/relationships/notesMaster" Target="../notesMasters/notesMaster1.xml"/><Relationship Id="Rb00500291fda45c8"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37b2c6b2f7b7462a" Type="http://schemas.openxmlformats.org/officeDocument/2006/relationships/notesMaster" Target="../notesMasters/notesMaster1.xml"/><Relationship Id="Rcda7c1a84b664b3f"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5d609747b1d64a87" Type="http://schemas.openxmlformats.org/officeDocument/2006/relationships/slide" Target="../slides/slide5.xml"/><Relationship Id="Rc314b499345a47cf"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9681e7875a5e4509" Type="http://schemas.openxmlformats.org/officeDocument/2006/relationships/slide" Target="../slides/slide6.xml"/><Relationship Id="Rd5ccdb80433f451b"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238f7dc6b3041b9" Type="http://schemas.openxmlformats.org/officeDocument/2006/relationships/slide" Target="../slides/slide7.xml"/><Relationship Id="R5c215710da214d7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a2094df881244efd" Type="http://schemas.openxmlformats.org/officeDocument/2006/relationships/slide" Target="../slides/slide8.xml"/><Relationship Id="Rd8a7caf40ae94398"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0e488164a5848c1" Type="http://schemas.openxmlformats.org/officeDocument/2006/relationships/notesMaster" Target="../notesMasters/notesMaster1.xml"/><Relationship Id="R7fd6925485c54585"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8fc7ee47b41340a7" Type="http://schemas.openxmlformats.org/officeDocument/2006/relationships/notesMaster" Target="../notesMasters/notesMaster1.xml"/><Relationship Id="R9931472cbd664a4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42668286159249a5" Type="http://schemas.openxmlformats.org/officeDocument/2006/relationships/slide" Target="../slides/slide11.xml"/><Relationship Id="R8b0271c8c6a34c64"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0684967395604452" Type="http://schemas.openxmlformats.org/officeDocument/2006/relationships/notesMaster" Target="../notesMasters/notesMaster1.xml"/><Relationship Id="R5a6b327afa344e1d"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823aa51cb6f048e3" Type="http://schemas.openxmlformats.org/officeDocument/2006/relationships/slide" Target="../slides/slide13.xml"/><Relationship Id="Rd52cad4fee5f4f70"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4507356928684c51" Type="http://schemas.openxmlformats.org/officeDocument/2006/relationships/slide" Target="../slides/slide14.xml"/><Relationship Id="Rce3c5de82199437c"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4949ae7a90d74393" Type="http://schemas.openxmlformats.org/officeDocument/2006/relationships/notesMaster" Target="../notesMasters/notesMaster1.xml"/><Relationship Id="R584c40434c904cf5"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7964c907dd09454f" Type="http://schemas.openxmlformats.org/officeDocument/2006/relationships/slide" Target="../slides/slide16.xml"/><Relationship Id="Rcf8e0045bab84ff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4fe88fcf404540a7" Type="http://schemas.openxmlformats.org/officeDocument/2006/relationships/notesMaster" Target="../notesMasters/notesMaster1.xml"/><Relationship Id="R5e324305b8c4425f"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92b5f62cc17547d9" Type="http://schemas.openxmlformats.org/officeDocument/2006/relationships/notesMaster" Target="../notesMasters/notesMaster1.xml"/><Relationship Id="Rdb0e800bdba84b39" Type="http://schemas.openxmlformats.org/officeDocument/2006/relationships/slide" Target="../slides/slide1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Đề tài năm 2026. Giới thiệu nhóm và phạm vi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Trần Xuân Hướng — 2001230339: nền tảng, Auth, CSDL, tích hợp, tìm ảnh và báo cáo.</a:t>
            </a:r>
          </a:p>
          <a:p xmlns:a="http://schemas.openxmlformats.org/drawingml/2006/main">
            <a:r>
              <a:t>Lê Duy — 2001230117: CRUD Admin, validation, upload và dữ liệu/ảnh mẫu.</a:t>
            </a:r>
          </a:p>
          <a:p xmlns:a="http://schemas.openxmlformats.org/drawingml/2006/main">
            <a:r>
              <a:t>Nguyễn Xuân Phương — 2001230703: catalog, checkout, đơn hàng, hủy đơn và hoàn kho.</a:t>
            </a:r>
          </a:p>
          <a:p xmlns:a="http://schemas.openxmlformats.org/drawingml/2006/main">
            <a:r>
              <a:t>Nông Văn Minh — 2001230515: giỏ Fetch, live search, SweetAlert2 và widget thời tiết.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Kết hợp giao diện, cơ sở dữ liệu và nghiệp vụ trong một ứng dụng Laravel.</a:t>
            </a:r>
          </a:p>
          <a:p xmlns:a="http://schemas.openxmlformats.org/drawingml/2006/main">
            <a:r>
              <a:t>Giá, số lượng, đơn hàng và tồn kho phải nhất quán.</a:t>
            </a:r>
          </a:p>
          <a:p xmlns:a="http://schemas.openxmlformats.org/drawingml/2006/main">
            <a:r>
              <a:t>Thử cả trường hợp thành công và trường hợp lỗi.</a:t>
            </a:r>
          </a:p>
          <a:p xmlns:a="http://schemas.openxmlformats.org/drawingml/2006/main">
            <a:r>
              <a:t>Mở rộng trải nghiệm bằng tìm kiếm sản phẩm từ hình ảnh.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Catalog gồm 8 danh mục và 60 sản phẩm.</a:t>
            </a:r>
          </a:p>
          <a:p xmlns:a="http://schemas.openxmlformats.org/drawingml/2006/main">
            <a:r>
              <a:t>Khách xem/tìm hàng và dùng giỏ trước khi đăng nhập.</a:t>
            </a:r>
          </a:p>
          <a:p xmlns:a="http://schemas.openxmlformats.org/drawingml/2006/main">
            <a:r>
              <a:t>Người có tài khoản đặt hàng COD và theo dõi đơn của mình.</a:t>
            </a:r>
          </a:p>
          <a:p xmlns:a="http://schemas.openxmlformats.org/drawingml/2006/main">
            <a:r>
              <a:t>Miễn phí giao hàng trong mô phỏng. Chưa tích hợp ngân hàng, vận chuyển hay hoàn tiền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Laravel 13.35.0, PHP từ 8.3, Blade và Bootstrap 5.3.3.</a:t>
            </a:r>
          </a:p>
          <a:p xmlns:a="http://schemas.openxmlformats.org/drawingml/2006/main">
            <a:r>
              <a:t>Eloquent, migration, seeder và MySQL.</a:t>
            </a:r>
          </a:p>
          <a:p xmlns:a="http://schemas.openxmlformats.org/drawingml/2006/main">
            <a:r>
              <a:t>Fetch API, Session và SweetAlert2.</a:t>
            </a:r>
          </a:p>
          <a:p xmlns:a="http://schemas.openxmlformats.org/drawingml/2006/main">
            <a:r>
              <a:t>Python 3.12, OpenCLIP ViT-B-32. Dịch vụ nội bộ mặc định cổng 8020.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Khách vãng lai: xem, lọc, tìm kiếm, chi tiết, giỏ hàng và tìm bằng ảnh.</a:t>
            </a:r>
          </a:p>
          <a:p xmlns:a="http://schemas.openxmlformats.org/drawingml/2006/main">
            <a:r>
              <a:t>Customer: đặt hàng COD, xem đơn của mình, hủy đơn chờ xác nhận.</a:t>
            </a:r>
          </a:p>
          <a:p xmlns:a="http://schemas.openxmlformats.org/drawingml/2006/main">
            <a:r>
              <a:t>Admin: CRUD danh mục/sản phẩm, tổng quan, xử lý và hủy đơn theo trạng thái.</a:t>
            </a:r>
          </a:p>
          <a:p xmlns:a="http://schemas.openxmlformats.org/drawingml/2006/main">
            <a:r>
              <a:t>Hai role lưu trong DB: customer và admin. Guest là trạng thái chưa đăng nhập.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Mục 2.4. users có nhiều orders; orders có nhiều order_items; products có nhiều order_items; categories có nhiều products. Bảng hỗ trợ framework không tính là bảng nghiệp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Khóa ngoại chặn xóa danh mục/sản phẩm đang được sử dụng.</a:t>
            </a:r>
          </a:p>
          <a:p xmlns:a="http://schemas.openxmlformats.org/drawingml/2006/main">
            <a:r>
              <a:t>OrderItem lưu tên và giá tại thời điểm mua.</a:t>
            </a:r>
          </a:p>
          <a:p xmlns:a="http://schemas.openxmlformats.org/drawingml/2006/main">
            <a:r>
              <a:t>Cặp order_id và product_id duy nhất trong một đơn.</a:t>
            </a:r>
          </a:p>
          <a:p xmlns:a="http://schemas.openxmlformats.org/drawingml/2006/main">
            <a:r>
              <a:t>Giá decimal(12,2). Checkout tính bằng số nguyên theo đơn vị 1/100, tránh cộng float.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Đăng ký luôn tạo Customer và hash mật khẩu.</a:t>
            </a:r>
          </a:p>
          <a:p xmlns:a="http://schemas.openxmlformats.org/drawingml/2006/main">
            <a:r>
              <a:t>Đăng nhập giới hạn thử sai, tái tạo session.</a:t>
            </a:r>
          </a:p>
          <a:p xmlns:a="http://schemas.openxmlformats.org/drawingml/2006/main">
            <a:r>
              <a:t>Middleware auth và role bảo vệ route Admin.</a:t>
            </a:r>
          </a:p>
          <a:p xmlns:a="http://schemas.openxmlformats.org/drawingml/2006/main">
            <a:r>
              <a:t>CSRF cho thao tác ghi dữ liệu. Chi tiết đơn truy vấn theo tài khoản đang đăng nhập.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Danh sách phân trang 8 sản phẩm mỗi trang.</a:t>
            </a:r>
          </a:p>
          <a:p xmlns:a="http://schemas.openxmlformats.org/drawingml/2006/main">
            <a:r>
              <a:t>Tìm tên, lọc danh mục và sắp xếp giá tăng/giảm.</a:t>
            </a:r>
          </a:p>
          <a:p xmlns:a="http://schemas.openxmlformats.org/drawingml/2006/main">
            <a:r>
              <a:t>Giữ bộ lọc khi chuyển trang, xử lý từ khóa “0”.</a:t>
            </a:r>
          </a:p>
          <a:p xmlns:a="http://schemas.openxmlformats.org/drawingml/2006/main">
            <a:r>
              <a:t>Chi tiết có ảnh, mô tả, giá, tồn kho và nút thêm giỏ.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CRUD hai bảng categories và products có quan hệ.</a:t>
            </a:r>
          </a:p>
          <a:p xmlns:a="http://schemas.openxmlformats.org/drawingml/2006/main">
            <a:r>
              <a:t>Form Request kiểm tra tên, danh mục, giá lớn hơn 0 và tồn kho không âm.</a:t>
            </a:r>
          </a:p>
          <a:p xmlns:a="http://schemas.openxmlformats.org/drawingml/2006/main">
            <a:r>
              <a:t>Upload ảnh JPEG, PNG, WebP vào public storage.</a:t>
            </a:r>
          </a:p>
          <a:p xmlns:a="http://schemas.openxmlformats.org/drawingml/2006/main">
            <a:r>
              <a:t>Chặn xóa dữ liệu đang được dùng. Seeder giữ thay đổi giá, kho và ảnh của Admin.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Session lưu mã sản phẩm và số lượng.</a:t>
            </a:r>
          </a:p>
          <a:p xmlns:a="http://schemas.openxmlformats.org/drawingml/2006/main">
            <a:r>
              <a:t>Thêm, tăng/giảm và xóa không tải lại trang.</a:t>
            </a:r>
          </a:p>
          <a:p xmlns:a="http://schemas.openxmlformats.org/drawingml/2006/main">
            <a:r>
              <a:t>Cập nhật badge, số lượng và tổng tiền theo phản hồi server.</a:t>
            </a:r>
          </a:p>
          <a:p xmlns:a="http://schemas.openxmlformats.org/drawingml/2006/main">
            <a:r>
              <a:t>Live search gợi ý sản phẩm. SweetAlert2 thông báo kết quả. Logout kết thúc session giỏ.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Server tính tổng từ giá DB và kiểm tra tồn kho hiện hành.</a:t>
            </a:r>
          </a:p>
          <a:p xmlns:a="http://schemas.openxmlformats.org/drawingml/2006/main">
            <a:r>
              <a:t>Ghi đơn, chi tiết đơn và trừ kho trong cùng transaction.</a:t>
            </a:r>
          </a:p>
          <a:p xmlns:a="http://schemas.openxmlformats.org/drawingml/2006/main">
            <a:r>
              <a:t>Lỗi giữa chừng rollback toàn bộ.</a:t>
            </a:r>
          </a:p>
          <a:p xmlns:a="http://schemas.openxmlformats.org/drawingml/2006/main">
            <a:r>
              <a:t>checkout_token duy nhất trả lại đơn có sẵn khi gửi lặp.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Chờ xác nhận: Admin chuyển Đang giao; chủ đơn hoặc Admin được hủy.</a:t>
            </a:r>
          </a:p>
          <a:p xmlns:a="http://schemas.openxmlformats.org/drawingml/2006/main">
            <a:r>
              <a:t>Đang giao: Admin chuyển Hoàn thành hoặc hủy.</a:t>
            </a:r>
          </a:p>
          <a:p xmlns:a="http://schemas.openxmlformats.org/drawingml/2006/main">
            <a:r>
              <a:t>Hoàn thành: không hủy trong phạm vi hiện tại.</a:t>
            </a:r>
          </a:p>
          <a:p xmlns:a="http://schemas.openxmlformats.org/drawingml/2006/main">
            <a:r>
              <a:t>Hủy đơn: khóa đơn và sản phẩm, hoàn kho đúng một lần. Gửi lại không tăng kho thêm.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Chọn ảnh hoặc chụp camera khi trình duyệt cho phép.</a:t>
            </a:r>
          </a:p>
          <a:p xmlns:a="http://schemas.openxmlformats.org/drawingml/2006/main">
            <a:r>
              <a:t>Laravel kiểm tra JPG/PNG/WebP, tối đa2MB, tối đa6000×6000px.</a:t>
            </a:r>
          </a:p>
          <a:p xmlns:a="http://schemas.openxmlformats.org/drawingml/2006/main">
            <a:r>
              <a:t>Python xử lý ảnh bằng mô hình OpenCLIP đã huấn luyện sẵn.</a:t>
            </a:r>
          </a:p>
          <a:p xmlns:a="http://schemas.openxmlformats.org/drawingml/2006/main">
            <a:r>
              <a:t>Kết quả hiện ảnh, tên, giá và nút thêm giỏ. Giá/tồn kho lấy từ Laravel.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
            </a:r>
          </a:p>
          <a:p xmlns:a="http://schemas.openxmlformats.org/drawingml/2006/main">
            <a:r>
              <a:t>Chưa chạy lại toàn bộ88test của bản tìm ảnh trên MySQL.</a:t>
            </a:r>
          </a:p>
          <a:p xmlns:a="http://schemas.openxmlformats.org/drawingml/2006/main">
            <a:r>
              <a:t>Cài đặt trên máy vật lý thứ hai còn chờ xác nhận tại thời điểm báo cáo.</a:t>
            </a:r>
          </a:p>
          <a:p xmlns:a="http://schemas.openxmlformats.org/drawingml/2006/main">
            <a:r>
              <a:t>Bổ sung nguồn ảnh, nhiều sản phẩm cùng loại và tập truy vấn độc lập.</a:t>
            </a:r>
          </a:p>
          <a:p xmlns:a="http://schemas.openxmlformats.org/drawingml/2006/main">
            <a:r>
              <a:t>Đánh giá Recall@k, thử camera thực tế và tiếp tục kiểm tra responsive.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Báo cáo SmartCart Nhóm 11, bản demo-2026-10-18 (f30e9ad).</a:t>
            </a:r>
          </a:p>
          <a:p xmlns:a="http://schemas.openxmlformats.org/drawingml/2006/main">
            <a:r>
              <a:t>Nguồn tham khảo trong báo cáo: Laravel13 https://laravel.com/docs/13.x ; Bootstrap5.3 https://getbootstrap.com/docs/5.3/ ; OpenCLIP https://github.com/mlfoundations/open_clip ; LAION https://huggingface.co/laion/CLIP-ViT-B-32-laion2B-s34B-b79K ; Open-Meteo https://open-meteo.com/en/docs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a11b2340c21419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80410f40f7fb4ede"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716354a2e40240c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0dc9e6681ad3424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c4a8e1914644ba8"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2253a0c2054c4cd9"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62A7C3-21E3-4FB8-BC09-62787D0FA62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66CBC01-8E51-4A64-88C7-0D13D6D16E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DF1F9B-1376-44C8-ADC0-30E1A91B64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D7264D-326B-49DE-8780-3984413570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06E64AF-26AB-4482-9995-DA56277F70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7C940D3-D21C-4942-80A9-95B2AF28E0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1ED2AC-F2FA-41C1-AEF6-FC67F9129F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317355-8C7F-4FD7-9ACF-CE441B4850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8EF372-F7FC-4A53-BDFA-0069CDC41F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7D6A0C-6587-4D49-BD61-A1FFB72FC5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285ead05b3a4ac7" Type="http://schemas.openxmlformats.org/officeDocument/2006/relationships/slideLayout" Target="../slideLayouts/slideLayout5.xml"/><Relationship Id="R5fb32f0a12a5440a" Type="http://schemas.openxmlformats.org/officeDocument/2006/relationships/slideLayout" Target="../slideLayouts/slideLayout1.xml"/><Relationship Id="Rb904737ba6a84225" Type="http://schemas.openxmlformats.org/officeDocument/2006/relationships/slideLayout" Target="../slideLayouts/slideLayout6.xml"/><Relationship Id="Rc875dc7b43a04460" Type="http://schemas.openxmlformats.org/officeDocument/2006/relationships/theme" Target="theme/theme2.xml"/><Relationship Id="Rcfdd03a93aa145dd" Type="http://schemas.openxmlformats.org/officeDocument/2006/relationships/slideLayout" Target="../slideLayouts/slideLayout3.xml"/><Relationship Id="Rd1c369b1edc64cdc" Type="http://schemas.openxmlformats.org/officeDocument/2006/relationships/slideLayout" Target="../slideLayouts/slideLayout4.xml"/><Relationship Id="Ref8d2df1550a4b4a"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b32f0a12a5440a"/>
    <p:sldLayoutId xmlns:r="http://schemas.openxmlformats.org/officeDocument/2006/relationships" id="2147483650" r:id="Ref8d2df1550a4b4a"/>
    <p:sldLayoutId xmlns:r="http://schemas.openxmlformats.org/officeDocument/2006/relationships" id="2147483651" r:id="Rcfdd03a93aa145dd"/>
    <p:sldLayoutId xmlns:r="http://schemas.openxmlformats.org/officeDocument/2006/relationships" id="2147483652" r:id="Rd1c369b1edc64cdc"/>
    <p:sldLayoutId xmlns:r="http://schemas.openxmlformats.org/officeDocument/2006/relationships" id="2147483653" r:id="R5285ead05b3a4ac7"/>
    <p:sldLayoutId xmlns:r="http://schemas.openxmlformats.org/officeDocument/2006/relationships" id="2147483654" r:id="Rb904737ba6a842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65187462d944f1a" Type="http://schemas.openxmlformats.org/officeDocument/2006/relationships/image" Target="../media/image.png"/><Relationship Id="R30d202ad975347c1" Type="http://schemas.openxmlformats.org/officeDocument/2006/relationships/slideLayout" Target="../slideLayouts/slideLayout6.xml"/><Relationship Id="R8bd75f1a0ad746df"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1f09574387c94427" Type="http://schemas.openxmlformats.org/officeDocument/2006/relationships/slideLayout" Target="../slideLayouts/slideLayout6.xml"/><Relationship Id="Rc49fd30c0716489e" Type="http://schemas.openxmlformats.org/officeDocument/2006/relationships/image" Target="../media/image2.png"/><Relationship Id="Rf68f891dd7d847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55ef699e055846e8" Type="http://schemas.openxmlformats.org/officeDocument/2006/relationships/notesSlide" Target="../notesSlides/notesSlide3.xml"/><Relationship Id="R59d22f25f1c24d8e" Type="http://schemas.openxmlformats.org/officeDocument/2006/relationships/image" Target="../media/image3.png"/><Relationship Id="R8b48a359733e44d9"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a5901f6ef13f4131" Type="http://schemas.openxmlformats.org/officeDocument/2006/relationships/image" Target="../media/image4.png"/><Relationship Id="Rb099bb2f113e447e" Type="http://schemas.openxmlformats.org/officeDocument/2006/relationships/notesSlide" Target="../notesSlides/notesSlide4.xml"/><Relationship Id="Rda7e4bf2ee134519"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67a177a73fa846a7" Type="http://schemas.openxmlformats.org/officeDocument/2006/relationships/image" Target="../media/image5.png"/><Relationship Id="R695819f4a34a4a16" Type="http://schemas.openxmlformats.org/officeDocument/2006/relationships/notesSlide" Target="../notesSlides/notesSlide5.xml"/><Relationship Id="Ra2dea08cea544db5"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0965ff51b25c44f9" Type="http://schemas.openxmlformats.org/officeDocument/2006/relationships/image" Target="../media/image6.png"/><Relationship Id="R2ccdf728857a4cad" Type="http://schemas.openxmlformats.org/officeDocument/2006/relationships/slideLayout" Target="../slideLayouts/slideLayout6.xml"/><Relationship Id="R4840eb2b758e4a48" Type="http://schemas.openxmlformats.org/officeDocument/2006/relationships/notesSlide" Target="../notesSlides/notesSlide6.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58edcf2126374e5c" Type="http://schemas.openxmlformats.org/officeDocument/2006/relationships/image" Target="../media/image7.png"/><Relationship Id="Rdaa36cfe04fc44f1" Type="http://schemas.openxmlformats.org/officeDocument/2006/relationships/notesSlide" Target="../notesSlides/notesSlide7.xml"/><Relationship Id="Rfb05d9f6c7cb4c83" Type="http://schemas.openxmlformats.org/officeDocument/2006/relationships/slideLayout" Target="../slideLayouts/slideLayout6.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275ed5c6b6914023" Type="http://schemas.openxmlformats.org/officeDocument/2006/relationships/slideLayout" Target="../slideLayouts/slideLayout6.xml"/><Relationship Id="Rd3f609debe564937" Type="http://schemas.openxmlformats.org/officeDocument/2006/relationships/notesSlide" Target="../notesSlides/notesSlide8.xml"/><Relationship Id="Rda944deeeb4e4ba4" Type="http://schemas.openxmlformats.org/officeDocument/2006/relationships/image" Target="../media/image8.png"/></Relationships>
</file>

<file path=ppt/slides/_rels/slide9.xml.rels><?xml version='1.0' encoding='UTF-8' standalone='yes'?>
<Relationships xmlns="http://schemas.openxmlformats.org/package/2006/relationships"><Relationship Id="R3a7e4539f050411a" Type="http://schemas.openxmlformats.org/officeDocument/2006/relationships/image" Target="../media/image9.png"/><Relationship Id="Rcb3d93d8a3384a51" Type="http://schemas.openxmlformats.org/officeDocument/2006/relationships/notesSlide" Target="../notesSlides/notesSlide9.xml"/><Relationship Id="Re276ab50b5f04fe9"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6e2c78da64c44977" Type="http://schemas.openxmlformats.org/officeDocument/2006/relationships/notesSlide" Target="../notesSlides/notesSlide10.xml"/><Relationship Id="R70663d36744e42ef" Type="http://schemas.openxmlformats.org/officeDocument/2006/relationships/image" Target="../media/image.jpeg"/><Relationship Id="R9a169a17b4b844e1" Type="http://schemas.openxmlformats.org/officeDocument/2006/relationships/image" Target="../media/image10.png"/><Relationship Id="Rbf9d3e0ed84a43b4" Type="http://schemas.openxmlformats.org/officeDocument/2006/relationships/slideLayout" Target="../slideLayouts/slideLayout6.xml"/><Relationship Id="rId5" Type="http://schemas.openxmlformats.org/officeDocument/2006/relationships/image" Target="../media/image22.png"/></Relationships>
</file>

<file path=ppt/slides/_rels/slide11.xml.rels><?xml version='1.0' encoding='UTF-8' standalone='yes'?>
<Relationships xmlns="http://schemas.openxmlformats.org/package/2006/relationships"><Relationship Id="R0ca966f3be514bf5" Type="http://schemas.openxmlformats.org/officeDocument/2006/relationships/notesSlide" Target="../notesSlides/notesSlide11.xml"/><Relationship Id="R8d11cab777ac4c6c" Type="http://schemas.openxmlformats.org/officeDocument/2006/relationships/image" Target="../media/image2.jpeg"/><Relationship Id="R98cd2b7a743a47ba" Type="http://schemas.openxmlformats.org/officeDocument/2006/relationships/image" Target="../media/image11.png"/><Relationship Id="Rfc654c0a1d6f44ec" Type="http://schemas.openxmlformats.org/officeDocument/2006/relationships/slideLayout" Target="../slideLayouts/slideLayout6.xml"/><Relationship Id="rId5" Type="http://schemas.openxmlformats.org/officeDocument/2006/relationships/image" Target="../media/image23.png"/></Relationships>
</file>

<file path=ppt/slides/_rels/slide12.xml.rels><?xml version='1.0' encoding='UTF-8' standalone='yes'?>
<Relationships xmlns="http://schemas.openxmlformats.org/package/2006/relationships"><Relationship Id="R4903315351664fb9" Type="http://schemas.openxmlformats.org/officeDocument/2006/relationships/notesSlide" Target="../notesSlides/notesSlide12.xml"/><Relationship Id="R5aec9681536948ce" Type="http://schemas.openxmlformats.org/officeDocument/2006/relationships/image" Target="../media/image12.png"/><Relationship Id="Rdad38abd750b4093"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34f8a5e32a1f432f" Type="http://schemas.openxmlformats.org/officeDocument/2006/relationships/notesSlide" Target="../notesSlides/notesSlide13.xml"/><Relationship Id="R96a2a03666394060" Type="http://schemas.openxmlformats.org/officeDocument/2006/relationships/image" Target="../media/image13.png"/><Relationship Id="Re63af661e5c54eb5" Type="http://schemas.openxmlformats.org/officeDocument/2006/relationships/slideLayout" Target="../slideLayouts/slideLayout6.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29cd1122ed0741ad" Type="http://schemas.openxmlformats.org/officeDocument/2006/relationships/image" Target="../media/image14.png"/><Relationship Id="R88cbf4da9fd54404" Type="http://schemas.openxmlformats.org/officeDocument/2006/relationships/slideLayout" Target="../slideLayouts/slideLayout6.xml"/><Relationship Id="Rfda28b54bdc4455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1bc37bcd2bcc4530" Type="http://schemas.openxmlformats.org/officeDocument/2006/relationships/image" Target="../media/image15.png"/><Relationship Id="Rc7939997c70c4a69" Type="http://schemas.openxmlformats.org/officeDocument/2006/relationships/notesSlide" Target="../notesSlides/notesSlide15.xml"/><Relationship Id="Re9624565dee24ab5"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179ff8d47fcd473c" Type="http://schemas.openxmlformats.org/officeDocument/2006/relationships/image" Target="../media/image16.png"/><Relationship Id="R2c0d4aefe7434708" Type="http://schemas.openxmlformats.org/officeDocument/2006/relationships/image" Target="../media/image17.png"/><Relationship Id="R7b81cbced6d74580" Type="http://schemas.openxmlformats.org/officeDocument/2006/relationships/slideLayout" Target="../slideLayouts/slideLayout6.xml"/><Relationship Id="Rc9aa2af9acbe4bf8" Type="http://schemas.openxmlformats.org/officeDocument/2006/relationships/notesSlide" Target="../notesSlides/notesSlide16.xml"/><Relationship Id="rId5" Type="http://schemas.openxmlformats.org/officeDocument/2006/relationships/image" Target="../media/image25.png"/></Relationships>
</file>

<file path=ppt/slides/_rels/slide17.xml.rels><?xml version='1.0' encoding='UTF-8' standalone='yes'?>
<Relationships xmlns="http://schemas.openxmlformats.org/package/2006/relationships"><Relationship Id="R230b763e516c4962" Type="http://schemas.openxmlformats.org/officeDocument/2006/relationships/notesSlide" Target="../notesSlides/notesSlide17.xml"/><Relationship Id="R7c43dd7a6e7147e1" Type="http://schemas.openxmlformats.org/officeDocument/2006/relationships/slideLayout" Target="../slideLayouts/slideLayout6.xml"/><Relationship Id="R81ce14be2426415b" Type="http://schemas.openxmlformats.org/officeDocument/2006/relationships/image" Target="../media/image18.png"/></Relationships>
</file>

<file path=ppt/slides/_rels/slide18.xml.rels><?xml version='1.0' encoding='UTF-8' standalone='yes'?>
<Relationships xmlns="http://schemas.openxmlformats.org/package/2006/relationships"><Relationship Id="R34fbcc6ed483411d" Type="http://schemas.openxmlformats.org/officeDocument/2006/relationships/slideLayout" Target="../slideLayouts/slideLayout6.xml"/><Relationship Id="Rabb7ae4635b54091" Type="http://schemas.openxmlformats.org/officeDocument/2006/relationships/image" Target="../media/image19.png"/><Relationship Id="Rb528468d46ca493b" Type="http://schemas.openxmlformats.org/officeDocument/2006/relationships/notesSlide" Target="../notesSlides/notesSlide18.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65187462d944f1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1" name="Rounded Rectangle 10"/>
          <p:cNvSpPr/>
          <p:nvPr/>
        </p:nvSpPr>
        <p:spPr>
          <a:xfrm>
            <a:off x="731520" y="868680"/>
            <a:ext cx="3474720" cy="329184"/>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312E81"/>
                </a:solidFill>
                <a:latin typeface="Segoe UI"/>
              </a:defRPr>
            </a:pPr>
            <a:r>
              <a:t>BÁO CÁO MÔN HỌC MÃ NGUỒN MỞ</a:t>
            </a:r>
          </a:p>
        </p:txBody>
      </p:sp>
      <p:sp xmlns:a="http://schemas.openxmlformats.org/drawingml/2006/main">
        <p:nvSpPr>
          <p:cNvPr id="12" name="TextBox 11"/>
          <p:cNvSpPr txBox="1"/>
          <p:nvPr/>
        </p:nvSpPr>
        <p:spPr>
          <a:xfrm>
            <a:off x="731520" y="1243584"/>
            <a:ext cx="10725912" cy="822960"/>
          </a:xfrm>
          <a:prstGeom prst="rect">
            <a:avLst/>
          </a:prstGeom>
          <a:noFill/>
        </p:spPr>
        <p:txBody>
          <a:bodyPr wrap="square" lIns="0" rIns="0" tIns="0" bIns="0">
            <a:spAutoFit/>
          </a:bodyPr>
          <a:lstStyle/>
          <a:p>
            <a:pPr>
              <a:defRPr sz="4000" b="1">
                <a:solidFill>
                  <a:srgbClr val="0F2C59"/>
                </a:solidFill>
                <a:latin typeface="Segoe UI"/>
              </a:defRPr>
            </a:pPr>
            <a:r>
              <a:t>SMARTCART</a:t>
            </a:r>
          </a:p>
        </p:txBody>
      </p:sp>
      <p:sp xmlns:a="http://schemas.openxmlformats.org/drawingml/2006/main">
        <p:nvSpPr>
          <p:cNvPr id="13" name="TextBox 12"/>
          <p:cNvSpPr txBox="1"/>
          <p:nvPr/>
        </p:nvSpPr>
        <p:spPr>
          <a:xfrm>
            <a:off x="731520" y="2084831"/>
            <a:ext cx="10725912" cy="411480"/>
          </a:xfrm>
          <a:prstGeom prst="rect">
            <a:avLst/>
          </a:prstGeom>
          <a:noFill/>
        </p:spPr>
        <p:txBody>
          <a:bodyPr wrap="square" lIns="0" rIns="0" tIns="0" bIns="0">
            <a:spAutoFit/>
          </a:bodyPr>
          <a:lstStyle/>
          <a:p>
            <a:pPr>
              <a:defRPr sz="1500" b="1">
                <a:solidFill>
                  <a:srgbClr val="C2410C"/>
                </a:solidFill>
                <a:latin typeface="Segoe UI"/>
              </a:defRPr>
            </a:pPr>
            <a:r>
              <a:t>Hệ thống Thương mại Điện tử Tương tác Thời gian thực &amp; Tìm kiếm Hình ảnh AI</a:t>
            </a:r>
          </a:p>
        </p:txBody>
      </p:sp>
      <p:sp xmlns:a="http://schemas.openxmlformats.org/drawingml/2006/main">
        <p:nvSpPr>
          <p:cNvPr id="14" name="Rounded Rectangle 13"/>
          <p:cNvSpPr/>
          <p:nvPr/>
        </p:nvSpPr>
        <p:spPr>
          <a:xfrm>
            <a:off x="731520" y="2578608"/>
            <a:ext cx="1737360" cy="292608"/>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E65100"/>
                </a:solidFill>
                <a:latin typeface="Segoe UI"/>
              </a:defRPr>
            </a:pPr>
            <a:r>
              <a:t>Laravel 13.x</a:t>
            </a:r>
          </a:p>
        </p:txBody>
      </p:sp>
      <p:sp xmlns:a="http://schemas.openxmlformats.org/drawingml/2006/main">
        <p:nvSpPr>
          <p:cNvPr id="15" name="Rounded Rectangle 14"/>
          <p:cNvSpPr/>
          <p:nvPr/>
        </p:nvSpPr>
        <p:spPr>
          <a:xfrm>
            <a:off x="2606039" y="2578608"/>
            <a:ext cx="1165860" cy="292608"/>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E65100"/>
                </a:solidFill>
                <a:latin typeface="Segoe UI"/>
              </a:defRPr>
            </a:pPr>
            <a:r>
              <a:t>PHP 8.3</a:t>
            </a:r>
          </a:p>
        </p:txBody>
      </p:sp>
      <p:sp xmlns:a="http://schemas.openxmlformats.org/drawingml/2006/main">
        <p:nvSpPr>
          <p:cNvPr id="16" name="Rounded Rectangle 15"/>
          <p:cNvSpPr/>
          <p:nvPr/>
        </p:nvSpPr>
        <p:spPr>
          <a:xfrm>
            <a:off x="3909059" y="2578608"/>
            <a:ext cx="1394460" cy="292608"/>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E65100"/>
                </a:solidFill>
                <a:latin typeface="Segoe UI"/>
              </a:defRPr>
            </a:pPr>
            <a:r>
              <a:t>MySQL 8.0</a:t>
            </a:r>
          </a:p>
        </p:txBody>
      </p:sp>
      <p:sp xmlns:a="http://schemas.openxmlformats.org/drawingml/2006/main">
        <p:nvSpPr>
          <p:cNvPr id="17" name="Rounded Rectangle 16"/>
          <p:cNvSpPr/>
          <p:nvPr/>
        </p:nvSpPr>
        <p:spPr>
          <a:xfrm>
            <a:off x="5440679" y="2578608"/>
            <a:ext cx="2308860" cy="292608"/>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E65100"/>
                </a:solidFill>
                <a:latin typeface="Segoe UI"/>
              </a:defRPr>
            </a:pPr>
            <a:r>
              <a:t>OpenCLIP ViT-B/32</a:t>
            </a:r>
          </a:p>
        </p:txBody>
      </p:sp>
      <p:sp xmlns:a="http://schemas.openxmlformats.org/drawingml/2006/main">
        <p:nvSpPr>
          <p:cNvPr id="18" name="Rounded Rectangle 17"/>
          <p:cNvSpPr/>
          <p:nvPr/>
        </p:nvSpPr>
        <p:spPr>
          <a:xfrm>
            <a:off x="7886700" y="2578608"/>
            <a:ext cx="2994660" cy="292608"/>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E65100"/>
                </a:solidFill>
                <a:latin typeface="Segoe UI"/>
              </a:defRPr>
            </a:pPr>
            <a:r>
              <a:t>Bootstrap 5 &amp; Fetch API</a:t>
            </a:r>
          </a:p>
        </p:txBody>
      </p:sp>
      <p:sp xmlns:a="http://schemas.openxmlformats.org/drawingml/2006/main">
        <p:nvSpPr>
          <p:cNvPr id="19" name="Rounded Rectangle 18"/>
          <p:cNvSpPr/>
          <p:nvPr/>
        </p:nvSpPr>
        <p:spPr>
          <a:xfrm>
            <a:off x="731520" y="3035808"/>
            <a:ext cx="5230368" cy="1783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896112" y="3127248"/>
            <a:ext cx="4901184" cy="1600200"/>
          </a:xfrm>
          <a:prstGeom prst="rect">
            <a:avLst/>
          </a:prstGeom>
          <a:noFill/>
        </p:spPr>
        <p:txBody>
          <a:bodyPr wrap="square" lIns="0" rIns="0" tIns="0" bIns="0">
            <a:spAutoFit/>
          </a:bodyPr>
          <a:lstStyle/>
          <a:p>
            <a:pPr>
              <a:spcAft>
                <a:spcPts val="600"/>
              </a:spcAft>
              <a:defRPr sz="1150" b="1">
                <a:solidFill>
                  <a:srgbClr val="0F2C59"/>
                </a:solidFill>
                <a:latin typeface="Segoe UI"/>
              </a:defRPr>
            </a:pPr>
            <a:r>
              <a:t>🏛️  THÔNG TIN HƯỚNG DẪN &amp; ĐƠN VỊ</a:t>
            </a:r>
          </a:p>
          <a:p>
            <a:pPr>
              <a:spcAft>
                <a:spcPts val="300"/>
              </a:spcAft>
            </a:pPr>
            <a:r>
              <a:rPr sz="1050" b="1">
                <a:solidFill>
                  <a:srgbClr val="1E293B"/>
                </a:solidFill>
                <a:latin typeface="Segoe UI"/>
              </a:rPr>
              <a:t>Giảng viên hướng dẫn: </a:t>
            </a:r>
            <a:r>
              <a:rPr sz="1050" b="1">
                <a:solidFill>
                  <a:srgbClr val="0F2C59"/>
                </a:solidFill>
                <a:latin typeface="Segoe UI"/>
              </a:rPr>
              <a:t>ThS. Nguyễn Trần Duy Khang</a:t>
            </a:r>
          </a:p>
          <a:p>
            <a:pPr>
              <a:spcAft>
                <a:spcPts val="300"/>
              </a:spcAft>
            </a:pPr>
            <a:r>
              <a:rPr sz="1050" b="1">
                <a:solidFill>
                  <a:srgbClr val="1E293B"/>
                </a:solidFill>
                <a:latin typeface="Segoe UI"/>
              </a:rPr>
              <a:t>Khoa chuyên môn: </a:t>
            </a:r>
            <a:r>
              <a:rPr sz="1050">
                <a:solidFill>
                  <a:srgbClr val="1E293B"/>
                </a:solidFill>
                <a:latin typeface="Segoe UI"/>
              </a:rPr>
              <a:t>Khoa Công nghệ Thông tin</a:t>
            </a:r>
          </a:p>
          <a:p>
            <a:pPr>
              <a:spcAft>
                <a:spcPts val="300"/>
              </a:spcAft>
            </a:pPr>
            <a:r>
              <a:rPr sz="1050" b="1">
                <a:solidFill>
                  <a:srgbClr val="1E293B"/>
                </a:solidFill>
                <a:latin typeface="Segoe UI"/>
              </a:rPr>
              <a:t>Cơ sở đào tạo: </a:t>
            </a:r>
            <a:r>
              <a:rPr sz="1050">
                <a:solidFill>
                  <a:srgbClr val="1E293B"/>
                </a:solidFill>
                <a:latin typeface="Segoe UI"/>
              </a:rPr>
              <a:t>Trường ĐH Công Thương TP.HCM (HUIT)</a:t>
            </a:r>
          </a:p>
          <a:p>
            <a:pPr>
              <a:spcAft>
                <a:spcPts val="300"/>
              </a:spcAft>
            </a:pPr>
            <a:r>
              <a:rPr sz="1050" b="1">
                <a:solidFill>
                  <a:srgbClr val="1E293B"/>
                </a:solidFill>
                <a:latin typeface="Segoe UI"/>
              </a:rPr>
              <a:t>Nghiệm thu: </a:t>
            </a:r>
            <a:r>
              <a:rPr sz="1050">
                <a:solidFill>
                  <a:srgbClr val="1E293B"/>
                </a:solidFill>
                <a:latin typeface="Segoe UI"/>
              </a:rPr>
              <a:t>Đồ án môn học Lập trình Mã nguồn mở</a:t>
            </a:r>
          </a:p>
        </p:txBody>
      </p:sp>
      <p:sp xmlns:a="http://schemas.openxmlformats.org/drawingml/2006/main">
        <p:nvSpPr>
          <p:cNvPr id="21" name="Rounded Rectangle 20"/>
          <p:cNvSpPr/>
          <p:nvPr/>
        </p:nvSpPr>
        <p:spPr>
          <a:xfrm>
            <a:off x="6227064" y="3035808"/>
            <a:ext cx="5230368" cy="1783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extBox 21"/>
          <p:cNvSpPr txBox="1"/>
          <p:nvPr/>
        </p:nvSpPr>
        <p:spPr>
          <a:xfrm>
            <a:off x="6391656" y="3127248"/>
            <a:ext cx="4901184" cy="1600200"/>
          </a:xfrm>
          <a:prstGeom prst="rect">
            <a:avLst/>
          </a:prstGeom>
          <a:noFill/>
        </p:spPr>
        <p:txBody>
          <a:bodyPr wrap="square" lIns="0" rIns="0" tIns="0" bIns="0">
            <a:spAutoFit/>
          </a:bodyPr>
          <a:lstStyle/>
          <a:p>
            <a:pPr>
              <a:spcAft>
                <a:spcPts val="600"/>
              </a:spcAft>
              <a:defRPr sz="1150" b="1">
                <a:solidFill>
                  <a:srgbClr val="0F2C59"/>
                </a:solidFill>
                <a:latin typeface="Segoe UI"/>
              </a:defRPr>
            </a:pPr>
            <a:r>
              <a:t>👥  SINH VIÊN THỰC HIỆN - NHÓM 11</a:t>
            </a:r>
          </a:p>
          <a:p>
            <a:pPr>
              <a:spcAft>
                <a:spcPts val="300"/>
              </a:spcAft>
            </a:pPr>
            <a:r>
              <a:rPr sz="1050" b="1">
                <a:solidFill>
                  <a:srgbClr val="1E293B"/>
                </a:solidFill>
                <a:latin typeface="Segoe UI"/>
              </a:rPr>
              <a:t>• Trần Xuân Hướng </a:t>
            </a:r>
            <a:r>
              <a:rPr sz="1050">
                <a:solidFill>
                  <a:srgbClr val="64748B"/>
                </a:solidFill>
                <a:latin typeface="Segoe UI"/>
              </a:rPr>
              <a:t>— MSSV: 2001230339 </a:t>
            </a:r>
            <a:r>
              <a:rPr sz="1000" i="1">
                <a:solidFill>
                  <a:srgbClr val="E65100"/>
                </a:solidFill>
                <a:latin typeface="Segoe UI"/>
              </a:rPr>
              <a:t>(Trưởng nhóm)</a:t>
            </a:r>
          </a:p>
          <a:p>
            <a:pPr>
              <a:spcAft>
                <a:spcPts val="300"/>
              </a:spcAft>
            </a:pPr>
            <a:r>
              <a:rPr sz="1050" b="1">
                <a:solidFill>
                  <a:srgbClr val="1E293B"/>
                </a:solidFill>
                <a:latin typeface="Segoe UI"/>
              </a:rPr>
              <a:t>• Lê Duy </a:t>
            </a:r>
            <a:r>
              <a:rPr sz="1050">
                <a:solidFill>
                  <a:srgbClr val="64748B"/>
                </a:solidFill>
                <a:latin typeface="Segoe UI"/>
              </a:rPr>
              <a:t>— MSSV: 2001230117 </a:t>
            </a:r>
            <a:r>
              <a:rPr sz="1000" i="1">
                <a:solidFill>
                  <a:srgbClr val="64748B"/>
                </a:solidFill>
                <a:latin typeface="Segoe UI"/>
              </a:rPr>
              <a:t>(Thành viên)</a:t>
            </a:r>
          </a:p>
          <a:p>
            <a:pPr>
              <a:spcAft>
                <a:spcPts val="300"/>
              </a:spcAft>
            </a:pPr>
            <a:r>
              <a:rPr sz="1050" b="1">
                <a:solidFill>
                  <a:srgbClr val="1E293B"/>
                </a:solidFill>
                <a:latin typeface="Segoe UI"/>
              </a:rPr>
              <a:t>• Nguyễn Xuân Phương </a:t>
            </a:r>
            <a:r>
              <a:rPr sz="1050">
                <a:solidFill>
                  <a:srgbClr val="64748B"/>
                </a:solidFill>
                <a:latin typeface="Segoe UI"/>
              </a:rPr>
              <a:t>— MSSV: 2001230703 </a:t>
            </a:r>
            <a:r>
              <a:rPr sz="1000" i="1">
                <a:solidFill>
                  <a:srgbClr val="64748B"/>
                </a:solidFill>
                <a:latin typeface="Segoe UI"/>
              </a:rPr>
              <a:t>(Thành viên)</a:t>
            </a:r>
          </a:p>
          <a:p>
            <a:pPr>
              <a:spcAft>
                <a:spcPts val="300"/>
              </a:spcAft>
            </a:pPr>
            <a:r>
              <a:rPr sz="1050" b="1">
                <a:solidFill>
                  <a:srgbClr val="1E293B"/>
                </a:solidFill>
                <a:latin typeface="Segoe UI"/>
              </a:rPr>
              <a:t>• Nông Văn Minh </a:t>
            </a:r>
            <a:r>
              <a:rPr sz="1050">
                <a:solidFill>
                  <a:srgbClr val="64748B"/>
                </a:solidFill>
                <a:latin typeface="Segoe UI"/>
              </a:rPr>
              <a:t>— MSSV: 2001230515 </a:t>
            </a:r>
            <a:r>
              <a:rPr sz="1000" i="1">
                <a:solidFill>
                  <a:srgbClr val="64748B"/>
                </a:solidFill>
                <a:latin typeface="Segoe UI"/>
              </a:rPr>
              <a:t>(Thành viên)</a:t>
            </a:r>
          </a:p>
        </p:txBody>
      </p:sp>
    </p:spTree>
    <p:extLst>
      <p:ext uri="{BB962C8B-B14F-4D97-AF65-F5344CB8AC3E}">
        <p14:creationId xmlns:p14="http://schemas.microsoft.com/office/powerpoint/2010/main" val="13437642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49fd30c0716489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20" name="TextBox 19"/>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Nhóm Thực Hiện &amp; Phân Công Trách Nhiệm</a:t>
            </a:r>
          </a:p>
        </p:txBody>
      </p:sp>
      <p:sp xmlns:a="http://schemas.openxmlformats.org/drawingml/2006/main">
        <p:nvSpPr>
          <p:cNvPr id="21" name="TextBox 20"/>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Bốn thành viên phát triển trên các nhánh Git độc lập và tích hợp hợp nhất vào bản phát hành cuối</a:t>
            </a:r>
          </a:p>
        </p:txBody>
      </p:sp>
      <p:sp xmlns:a="http://schemas.openxmlformats.org/drawingml/2006/main">
        <p:nvSpPr>
          <p:cNvPr id="22" name="Rounded Rectangle 21"/>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02 / 18</a:t>
            </a:r>
          </a:p>
        </p:txBody>
      </p:sp>
      <p:sp xmlns:a="http://schemas.openxmlformats.org/drawingml/2006/main">
        <p:nvSpPr>
          <p:cNvPr id="23" name="Rounded Rectangle 22"/>
          <p:cNvSpPr/>
          <p:nvPr/>
        </p:nvSpPr>
        <p:spPr>
          <a:xfrm>
            <a:off x="731520" y="1691640"/>
            <a:ext cx="2514600" cy="4069080"/>
          </a:xfrm>
          <a:prstGeom prst="roundRect">
            <a:avLst/>
          </a:prstGeom>
          <a:solidFill>
            <a:srgbClr val="FFFFFF"/>
          </a:solidFill>
          <a:ln w="1905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TextBox 23"/>
          <p:cNvSpPr txBox="1"/>
          <p:nvPr/>
        </p:nvSpPr>
        <p:spPr>
          <a:xfrm>
            <a:off x="868680" y="1828800"/>
            <a:ext cx="2240280" cy="3794760"/>
          </a:xfrm>
          <a:prstGeom prst="rect">
            <a:avLst/>
          </a:prstGeom>
          <a:noFill/>
        </p:spPr>
        <p:txBody>
          <a:bodyPr wrap="square" lIns="0" rIns="0" tIns="0" bIns="0">
            <a:spAutoFit/>
          </a:bodyPr>
          <a:lstStyle/>
          <a:p>
            <a:pPr>
              <a:defRPr sz="950" b="1">
                <a:solidFill>
                  <a:srgbClr val="E65100"/>
                </a:solidFill>
                <a:latin typeface="Segoe UI"/>
              </a:defRPr>
            </a:pPr>
            <a:r>
              <a:t>TRƯỞNG NHÓM</a:t>
            </a:r>
          </a:p>
          <a:p>
            <a:pPr>
              <a:defRPr sz="1300" b="1">
                <a:solidFill>
                  <a:srgbClr val="0F2C59"/>
                </a:solidFill>
                <a:latin typeface="Segoe UI"/>
              </a:defRPr>
            </a:pPr>
            <a:r>
              <a:t>Trần Xuân Hướng</a:t>
            </a:r>
          </a:p>
          <a:p>
            <a:pPr>
              <a:spcAft>
                <a:spcPts val="200"/>
              </a:spcAft>
              <a:defRPr sz="1050">
                <a:solidFill>
                  <a:srgbClr val="1E293B"/>
                </a:solidFill>
                <a:latin typeface="Segoe UI"/>
              </a:defRPr>
            </a:pPr>
            <a:r>
              <a:t>MSSV: 2001230339</a:t>
            </a:r>
          </a:p>
          <a:p>
            <a:pPr>
              <a:spcAft>
                <a:spcPts val="800"/>
              </a:spcAft>
            </a:pPr>
            <a:r>
              <a:rPr sz="900" b="1">
                <a:solidFill>
                  <a:srgbClr val="64748B"/>
                </a:solidFill>
                <a:latin typeface="Segoe UI"/>
              </a:rPr>
              <a:t>Git Branch: </a:t>
            </a:r>
            <a:r>
              <a:rPr sz="900">
                <a:solidFill>
                  <a:srgbClr val="C2410C"/>
                </a:solidFill>
                <a:latin typeface="Consolas"/>
              </a:rPr>
              <a:t>feat/tranxuanhuong</a:t>
            </a:r>
          </a:p>
          <a:p>
            <a:pPr>
              <a:spcAft>
                <a:spcPts val="400"/>
              </a:spcAft>
              <a:defRPr sz="950" b="1">
                <a:solidFill>
                  <a:srgbClr val="0F2C59"/>
                </a:solidFill>
                <a:latin typeface="Segoe UI"/>
              </a:defRPr>
            </a:pPr>
            <a:r>
              <a:t>Trách nhiệm chính đảm nhiệm:</a:t>
            </a:r>
          </a:p>
          <a:p>
            <a:pPr>
              <a:spcAft>
                <a:spcPts val="300"/>
              </a:spcAft>
              <a:defRPr sz="950">
                <a:solidFill>
                  <a:srgbClr val="1E293B"/>
                </a:solidFill>
                <a:latin typeface="Segoe UI"/>
              </a:defRPr>
            </a:pPr>
            <a:r>
              <a:t>• Thiết kế kiến trúc hệ thống, cơ sở dữ liệu &amp; quan hệ 5 bảng</a:t>
            </a:r>
          </a:p>
          <a:p>
            <a:pPr>
              <a:spcAft>
                <a:spcPts val="300"/>
              </a:spcAft>
              <a:defRPr sz="950">
                <a:solidFill>
                  <a:srgbClr val="1E293B"/>
                </a:solidFill>
                <a:latin typeface="Segoe UI"/>
              </a:defRPr>
            </a:pPr>
            <a:r>
              <a:t>• Phân quyền Middleware CheckRole, bảo vệ Session &amp; CSRF</a:t>
            </a:r>
          </a:p>
          <a:p>
            <a:pPr>
              <a:spcAft>
                <a:spcPts val="300"/>
              </a:spcAft>
              <a:defRPr sz="950">
                <a:solidFill>
                  <a:srgbClr val="1E293B"/>
                </a:solidFill>
                <a:latin typeface="Segoe UI"/>
              </a:defRPr>
            </a:pPr>
            <a:r>
              <a:t>• Tích hợp mô hình AI OpenCLIP ViT-B/32 tìm ảnh (cổng 8020)</a:t>
            </a:r>
          </a:p>
          <a:p>
            <a:pPr>
              <a:spcAft>
                <a:spcPts val="300"/>
              </a:spcAft>
              <a:defRPr sz="950">
                <a:solidFill>
                  <a:srgbClr val="1E293B"/>
                </a:solidFill>
                <a:latin typeface="Segoe UI"/>
              </a:defRPr>
            </a:pPr>
            <a:r>
              <a:t>• Thiết lập bộ test tự động 88 test cases pass 100%</a:t>
            </a:r>
          </a:p>
          <a:p>
            <a:pPr>
              <a:spcAft>
                <a:spcPts val="300"/>
              </a:spcAft>
              <a:defRPr sz="950">
                <a:solidFill>
                  <a:srgbClr val="1E293B"/>
                </a:solidFill>
                <a:latin typeface="Segoe UI"/>
              </a:defRPr>
            </a:pPr>
            <a:r>
              <a:t>• Chủ trì tích hợp Git Flow và hoàn thiện báo cáo đồ án</a:t>
            </a:r>
          </a:p>
        </p:txBody>
      </p:sp>
      <p:sp xmlns:a="http://schemas.openxmlformats.org/drawingml/2006/main">
        <p:nvSpPr>
          <p:cNvPr id="25" name="Rounded Rectangle 24"/>
          <p:cNvSpPr/>
          <p:nvPr/>
        </p:nvSpPr>
        <p:spPr>
          <a:xfrm>
            <a:off x="3465576" y="1691640"/>
            <a:ext cx="251460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extBox 25"/>
          <p:cNvSpPr txBox="1"/>
          <p:nvPr/>
        </p:nvSpPr>
        <p:spPr>
          <a:xfrm>
            <a:off x="3602736" y="1828800"/>
            <a:ext cx="2240280" cy="3794760"/>
          </a:xfrm>
          <a:prstGeom prst="rect">
            <a:avLst/>
          </a:prstGeom>
          <a:noFill/>
        </p:spPr>
        <p:txBody>
          <a:bodyPr wrap="square" lIns="0" rIns="0" tIns="0" bIns="0">
            <a:spAutoFit/>
          </a:bodyPr>
          <a:lstStyle/>
          <a:p>
            <a:pPr>
              <a:defRPr sz="950" b="1">
                <a:solidFill>
                  <a:srgbClr val="64748B"/>
                </a:solidFill>
                <a:latin typeface="Segoe UI"/>
              </a:defRPr>
            </a:pPr>
            <a:r>
              <a:t>THÀNH VIÊN</a:t>
            </a:r>
          </a:p>
          <a:p>
            <a:pPr>
              <a:defRPr sz="1300" b="1">
                <a:solidFill>
                  <a:srgbClr val="0F2C59"/>
                </a:solidFill>
                <a:latin typeface="Segoe UI"/>
              </a:defRPr>
            </a:pPr>
            <a:r>
              <a:t>Lê Duy</a:t>
            </a:r>
          </a:p>
          <a:p>
            <a:pPr>
              <a:spcAft>
                <a:spcPts val="200"/>
              </a:spcAft>
              <a:defRPr sz="1050">
                <a:solidFill>
                  <a:srgbClr val="1E293B"/>
                </a:solidFill>
                <a:latin typeface="Segoe UI"/>
              </a:defRPr>
            </a:pPr>
            <a:r>
              <a:t>MSSV: 2001230117</a:t>
            </a:r>
          </a:p>
          <a:p>
            <a:pPr>
              <a:spcAft>
                <a:spcPts val="800"/>
              </a:spcAft>
            </a:pPr>
            <a:r>
              <a:rPr sz="900" b="1">
                <a:solidFill>
                  <a:srgbClr val="64748B"/>
                </a:solidFill>
                <a:latin typeface="Segoe UI"/>
              </a:rPr>
              <a:t>Git Branch: </a:t>
            </a:r>
            <a:r>
              <a:rPr sz="900">
                <a:solidFill>
                  <a:srgbClr val="C2410C"/>
                </a:solidFill>
                <a:latin typeface="Consolas"/>
              </a:rPr>
              <a:t>feat/leduy</a:t>
            </a:r>
          </a:p>
          <a:p>
            <a:pPr>
              <a:spcAft>
                <a:spcPts val="400"/>
              </a:spcAft>
              <a:defRPr sz="950" b="1">
                <a:solidFill>
                  <a:srgbClr val="0F2C59"/>
                </a:solidFill>
                <a:latin typeface="Segoe UI"/>
              </a:defRPr>
            </a:pPr>
            <a:r>
              <a:t>Trách nhiệm chính đảm nhiệm:</a:t>
            </a:r>
          </a:p>
          <a:p>
            <a:pPr>
              <a:spcAft>
                <a:spcPts val="300"/>
              </a:spcAft>
              <a:defRPr sz="950">
                <a:solidFill>
                  <a:srgbClr val="1E293B"/>
                </a:solidFill>
                <a:latin typeface="Segoe UI"/>
              </a:defRPr>
            </a:pPr>
            <a:r>
              <a:t>• Xây dựng phân hệ Quản trị (Admin Dashboard)</a:t>
            </a:r>
          </a:p>
          <a:p>
            <a:pPr>
              <a:spcAft>
                <a:spcPts val="300"/>
              </a:spcAft>
              <a:defRPr sz="950">
                <a:solidFill>
                  <a:srgbClr val="1E293B"/>
                </a:solidFill>
                <a:latin typeface="Segoe UI"/>
              </a:defRPr>
            </a:pPr>
            <a:r>
              <a:t>• Phát triển module CRUD Danh mục (Categories)</a:t>
            </a:r>
          </a:p>
          <a:p>
            <a:pPr>
              <a:spcAft>
                <a:spcPts val="300"/>
              </a:spcAft>
              <a:defRPr sz="950">
                <a:solidFill>
                  <a:srgbClr val="1E293B"/>
                </a:solidFill>
                <a:latin typeface="Segoe UI"/>
              </a:defRPr>
            </a:pPr>
            <a:r>
              <a:t>• Phát triển module CRUD Sản phẩm (Products)</a:t>
            </a:r>
          </a:p>
          <a:p>
            <a:pPr>
              <a:spcAft>
                <a:spcPts val="300"/>
              </a:spcAft>
              <a:defRPr sz="950">
                <a:solidFill>
                  <a:srgbClr val="1E293B"/>
                </a:solidFill>
                <a:latin typeface="Segoe UI"/>
              </a:defRPr>
            </a:pPr>
            <a:r>
              <a:t>• Xử lý Form Validation &amp; upload file ảnh sản phẩm an toàn</a:t>
            </a:r>
          </a:p>
          <a:p>
            <a:pPr>
              <a:spcAft>
                <a:spcPts val="300"/>
              </a:spcAft>
              <a:defRPr sz="950">
                <a:solidFill>
                  <a:srgbClr val="1E293B"/>
                </a:solidFill>
                <a:latin typeface="Segoe UI"/>
              </a:defRPr>
            </a:pPr>
            <a:r>
              <a:t>• Thiết kế cơ chế bảo toàn dữ liệu thực tế khi chạy Seeder</a:t>
            </a:r>
          </a:p>
        </p:txBody>
      </p:sp>
      <p:sp xmlns:a="http://schemas.openxmlformats.org/drawingml/2006/main">
        <p:nvSpPr>
          <p:cNvPr id="27" name="Rounded Rectangle 26"/>
          <p:cNvSpPr/>
          <p:nvPr/>
        </p:nvSpPr>
        <p:spPr>
          <a:xfrm>
            <a:off x="6199632" y="1691640"/>
            <a:ext cx="251460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6336792" y="1828800"/>
            <a:ext cx="2240280" cy="3794760"/>
          </a:xfrm>
          <a:prstGeom prst="rect">
            <a:avLst/>
          </a:prstGeom>
          <a:noFill/>
        </p:spPr>
        <p:txBody>
          <a:bodyPr wrap="square" lIns="0" rIns="0" tIns="0" bIns="0">
            <a:spAutoFit/>
          </a:bodyPr>
          <a:lstStyle/>
          <a:p>
            <a:pPr>
              <a:defRPr sz="950" b="1">
                <a:solidFill>
                  <a:srgbClr val="64748B"/>
                </a:solidFill>
                <a:latin typeface="Segoe UI"/>
              </a:defRPr>
            </a:pPr>
            <a:r>
              <a:t>THÀNH VIÊN</a:t>
            </a:r>
          </a:p>
          <a:p>
            <a:pPr>
              <a:defRPr sz="1300" b="1">
                <a:solidFill>
                  <a:srgbClr val="0F2C59"/>
                </a:solidFill>
                <a:latin typeface="Segoe UI"/>
              </a:defRPr>
            </a:pPr>
            <a:r>
              <a:t>Nguyễn Xuân Phương</a:t>
            </a:r>
          </a:p>
          <a:p>
            <a:pPr>
              <a:spcAft>
                <a:spcPts val="200"/>
              </a:spcAft>
              <a:defRPr sz="1050">
                <a:solidFill>
                  <a:srgbClr val="1E293B"/>
                </a:solidFill>
                <a:latin typeface="Segoe UI"/>
              </a:defRPr>
            </a:pPr>
            <a:r>
              <a:t>MSSV: 2001230703</a:t>
            </a:r>
          </a:p>
          <a:p>
            <a:pPr>
              <a:spcAft>
                <a:spcPts val="800"/>
              </a:spcAft>
            </a:pPr>
            <a:r>
              <a:rPr sz="900" b="1">
                <a:solidFill>
                  <a:srgbClr val="64748B"/>
                </a:solidFill>
                <a:latin typeface="Segoe UI"/>
              </a:rPr>
              <a:t>Git Branch: </a:t>
            </a:r>
            <a:r>
              <a:rPr sz="900">
                <a:solidFill>
                  <a:srgbClr val="C2410C"/>
                </a:solidFill>
                <a:latin typeface="Consolas"/>
              </a:rPr>
              <a:t>feat/nguyenxuanphuong</a:t>
            </a:r>
          </a:p>
          <a:p>
            <a:pPr>
              <a:spcAft>
                <a:spcPts val="400"/>
              </a:spcAft>
              <a:defRPr sz="950" b="1">
                <a:solidFill>
                  <a:srgbClr val="0F2C59"/>
                </a:solidFill>
                <a:latin typeface="Segoe UI"/>
              </a:defRPr>
            </a:pPr>
            <a:r>
              <a:t>Trách nhiệm chính đảm nhiệm:</a:t>
            </a:r>
          </a:p>
          <a:p>
            <a:pPr>
              <a:spcAft>
                <a:spcPts val="300"/>
              </a:spcAft>
              <a:defRPr sz="950">
                <a:solidFill>
                  <a:srgbClr val="1E293B"/>
                </a:solidFill>
                <a:latin typeface="Segoe UI"/>
              </a:defRPr>
            </a:pPr>
            <a:r>
              <a:t>• Xây dựng Catalog khách hàng, bộ lọc đa tiêu chí &amp; phân trang</a:t>
            </a:r>
          </a:p>
          <a:p>
            <a:pPr>
              <a:spcAft>
                <a:spcPts val="300"/>
              </a:spcAft>
              <a:defRPr sz="950">
                <a:solidFill>
                  <a:srgbClr val="1E293B"/>
                </a:solidFill>
                <a:latin typeface="Segoe UI"/>
              </a:defRPr>
            </a:pPr>
            <a:r>
              <a:t>• Phát triển luồng thanh toán COD nguyên tử (Database Transaction)</a:t>
            </a:r>
          </a:p>
          <a:p>
            <a:pPr>
              <a:spcAft>
                <a:spcPts val="300"/>
              </a:spcAft>
              <a:defRPr sz="950">
                <a:solidFill>
                  <a:srgbClr val="1E293B"/>
                </a:solidFill>
                <a:latin typeface="Segoe UI"/>
              </a:defRPr>
            </a:pPr>
            <a:r>
              <a:t>• Quản lý lịch sử đơn hàng và chi tiết đơn hàng</a:t>
            </a:r>
          </a:p>
          <a:p>
            <a:pPr>
              <a:spcAft>
                <a:spcPts val="300"/>
              </a:spcAft>
              <a:defRPr sz="950">
                <a:solidFill>
                  <a:srgbClr val="1E293B"/>
                </a:solidFill>
                <a:latin typeface="Segoe UI"/>
              </a:defRPr>
            </a:pPr>
            <a:r>
              <a:t>• Thiết kế quy trình hủy đơn an toàn &amp; tự động hoàn kho</a:t>
            </a:r>
          </a:p>
          <a:p>
            <a:pPr>
              <a:spcAft>
                <a:spcPts val="300"/>
              </a:spcAft>
              <a:defRPr sz="950">
                <a:solidFill>
                  <a:srgbClr val="1E293B"/>
                </a:solidFill>
                <a:latin typeface="Segoe UI"/>
              </a:defRPr>
            </a:pPr>
            <a:r>
              <a:t>• Kiểm thử tính nhất quán giữa trạng thái đơn và số lượng tồn kho</a:t>
            </a:r>
          </a:p>
        </p:txBody>
      </p:sp>
      <p:sp xmlns:a="http://schemas.openxmlformats.org/drawingml/2006/main">
        <p:nvSpPr>
          <p:cNvPr id="29" name="Rounded Rectangle 28"/>
          <p:cNvSpPr/>
          <p:nvPr/>
        </p:nvSpPr>
        <p:spPr>
          <a:xfrm>
            <a:off x="8933688" y="1691640"/>
            <a:ext cx="2514600" cy="4069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9070848" y="1828800"/>
            <a:ext cx="2240280" cy="3794760"/>
          </a:xfrm>
          <a:prstGeom prst="rect">
            <a:avLst/>
          </a:prstGeom>
          <a:noFill/>
        </p:spPr>
        <p:txBody>
          <a:bodyPr wrap="square" lIns="0" rIns="0" tIns="0" bIns="0">
            <a:spAutoFit/>
          </a:bodyPr>
          <a:lstStyle/>
          <a:p>
            <a:pPr>
              <a:defRPr sz="950" b="1">
                <a:solidFill>
                  <a:srgbClr val="64748B"/>
                </a:solidFill>
                <a:latin typeface="Segoe UI"/>
              </a:defRPr>
            </a:pPr>
            <a:r>
              <a:t>THÀNH VIÊN</a:t>
            </a:r>
          </a:p>
          <a:p>
            <a:pPr>
              <a:defRPr sz="1300" b="1">
                <a:solidFill>
                  <a:srgbClr val="0F2C59"/>
                </a:solidFill>
                <a:latin typeface="Segoe UI"/>
              </a:defRPr>
            </a:pPr>
            <a:r>
              <a:t>Nông Văn Minh</a:t>
            </a:r>
          </a:p>
          <a:p>
            <a:pPr>
              <a:spcAft>
                <a:spcPts val="200"/>
              </a:spcAft>
              <a:defRPr sz="1050">
                <a:solidFill>
                  <a:srgbClr val="1E293B"/>
                </a:solidFill>
                <a:latin typeface="Segoe UI"/>
              </a:defRPr>
            </a:pPr>
            <a:r>
              <a:t>MSSV: 2001230515</a:t>
            </a:r>
          </a:p>
          <a:p>
            <a:pPr>
              <a:spcAft>
                <a:spcPts val="800"/>
              </a:spcAft>
            </a:pPr>
            <a:r>
              <a:rPr sz="900" b="1">
                <a:solidFill>
                  <a:srgbClr val="64748B"/>
                </a:solidFill>
                <a:latin typeface="Segoe UI"/>
              </a:rPr>
              <a:t>Git Branch: </a:t>
            </a:r>
            <a:r>
              <a:rPr sz="900">
                <a:solidFill>
                  <a:srgbClr val="C2410C"/>
                </a:solidFill>
                <a:latin typeface="Consolas"/>
              </a:rPr>
              <a:t>feat/nongvanminh</a:t>
            </a:r>
          </a:p>
          <a:p>
            <a:pPr>
              <a:spcAft>
                <a:spcPts val="400"/>
              </a:spcAft>
              <a:defRPr sz="950" b="1">
                <a:solidFill>
                  <a:srgbClr val="0F2C59"/>
                </a:solidFill>
                <a:latin typeface="Segoe UI"/>
              </a:defRPr>
            </a:pPr>
            <a:r>
              <a:t>Trách nhiệm chính đảm nhiệm:</a:t>
            </a:r>
          </a:p>
          <a:p>
            <a:pPr>
              <a:spcAft>
                <a:spcPts val="300"/>
              </a:spcAft>
              <a:defRPr sz="950">
                <a:solidFill>
                  <a:srgbClr val="1E293B"/>
                </a:solidFill>
                <a:latin typeface="Segoe UI"/>
              </a:defRPr>
            </a:pPr>
            <a:r>
              <a:t>• Xây dựng giỏ hàng bất đồng bộ Fetch API không reload trang</a:t>
            </a:r>
          </a:p>
          <a:p>
            <a:pPr>
              <a:spcAft>
                <a:spcPts val="300"/>
              </a:spcAft>
              <a:defRPr sz="950">
                <a:solidFill>
                  <a:srgbClr val="1E293B"/>
                </a:solidFill>
                <a:latin typeface="Segoe UI"/>
              </a:defRPr>
            </a:pPr>
            <a:r>
              <a:t>• Cập nhật số lượng, tổng tiền và badge giỏ hàng thời gian thực</a:t>
            </a:r>
          </a:p>
          <a:p>
            <a:pPr>
              <a:spcAft>
                <a:spcPts val="300"/>
              </a:spcAft>
              <a:defRPr sz="950">
                <a:solidFill>
                  <a:srgbClr val="1E293B"/>
                </a:solidFill>
                <a:latin typeface="Segoe UI"/>
              </a:defRPr>
            </a:pPr>
            <a:r>
              <a:t>• Phát triển chức năng Tìm kiếm tức thì (Live Search AJAX)</a:t>
            </a:r>
          </a:p>
          <a:p>
            <a:pPr>
              <a:spcAft>
                <a:spcPts val="300"/>
              </a:spcAft>
              <a:defRPr sz="950">
                <a:solidFill>
                  <a:srgbClr val="1E293B"/>
                </a:solidFill>
                <a:latin typeface="Segoe UI"/>
              </a:defRPr>
            </a:pPr>
            <a:r>
              <a:t>• Tích hợp thư viện thông báo người dùng SweetAlert2</a:t>
            </a:r>
          </a:p>
          <a:p>
            <a:pPr>
              <a:spcAft>
                <a:spcPts val="300"/>
              </a:spcAft>
              <a:defRPr sz="950">
                <a:solidFill>
                  <a:srgbClr val="1E293B"/>
                </a:solidFill>
                <a:latin typeface="Segoe UI"/>
              </a:defRPr>
            </a:pPr>
            <a:r>
              <a:t>• Tích hợp REST API thời tiết Open-Meteo tại Footer</a:t>
            </a:r>
          </a:p>
        </p:txBody>
      </p:sp>
      <p:sp xmlns:a="http://schemas.openxmlformats.org/drawingml/2006/main">
        <p:nvSpPr>
          <p:cNvPr id="31" name="Rounded Rectangle 30"/>
          <p:cNvSpPr/>
          <p:nvPr/>
        </p:nvSpPr>
        <p:spPr>
          <a:xfrm>
            <a:off x="731520" y="5897880"/>
            <a:ext cx="10725912" cy="47548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TextBox 31"/>
          <p:cNvSpPr txBox="1"/>
          <p:nvPr/>
        </p:nvSpPr>
        <p:spPr>
          <a:xfrm>
            <a:off x="868680" y="5952744"/>
            <a:ext cx="10451592" cy="365760"/>
          </a:xfrm>
          <a:prstGeom prst="rect">
            <a:avLst/>
          </a:prstGeom>
          <a:noFill/>
        </p:spPr>
        <p:txBody>
          <a:bodyPr wrap="square" lIns="0" rIns="0" tIns="0" bIns="0">
            <a:spAutoFit/>
          </a:bodyPr>
          <a:lstStyle/>
          <a:p>
            <a:r>
              <a:rPr sz="1000" b="1">
                <a:solidFill>
                  <a:srgbClr val="312E81"/>
                </a:solidFill>
                <a:latin typeface="Segoe UI"/>
              </a:rPr>
              <a:t>Quy trình Git Flow chuẩn: </a:t>
            </a:r>
            <a:r>
              <a:rPr sz="1000">
                <a:solidFill>
                  <a:srgbClr val="1E293B"/>
                </a:solidFill>
                <a:latin typeface="Segoe UI"/>
              </a:rPr>
              <a:t>4 thành viên cam kết code trên branch riêng, thực hiện kiểm thử độc lập và tạo Pull Request tích hợp vào nhánh chính (main).</a:t>
            </a:r>
          </a:p>
        </p:txBody>
      </p:sp>
    </p:spTree>
    <p:extLst>
      <p:ext uri="{BB962C8B-B14F-4D97-AF65-F5344CB8AC3E}">
        <p14:creationId xmlns:p14="http://schemas.microsoft.com/office/powerpoint/2010/main" val="15107429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9d22f25f1c24d8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7" name="TextBox 16"/>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Bài Toán Thực Tiễn &amp; Mục Tiêu Dự Án</a:t>
            </a:r>
          </a:p>
        </p:txBody>
      </p:sp>
      <p:sp xmlns:a="http://schemas.openxmlformats.org/drawingml/2006/main">
        <p:nvSpPr>
          <p:cNvPr id="18" name="TextBox 17"/>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Đảm bảo sự nhất quán tuyệt đối giữa thao tác người dùng trên giao diện và dữ liệu lưu trữ phía Server</a:t>
            </a:r>
          </a:p>
        </p:txBody>
      </p:sp>
      <p:sp xmlns:a="http://schemas.openxmlformats.org/drawingml/2006/main">
        <p:nvSpPr>
          <p:cNvPr id="19" name="Rounded Rectangle 18"/>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03 / 18</a:t>
            </a:r>
          </a:p>
        </p:txBody>
      </p:sp>
      <p:sp xmlns:a="http://schemas.openxmlformats.org/drawingml/2006/main">
        <p:nvSpPr>
          <p:cNvPr id="20" name="Rounded Rectangle 19"/>
          <p:cNvSpPr/>
          <p:nvPr/>
        </p:nvSpPr>
        <p:spPr>
          <a:xfrm>
            <a:off x="731520" y="1691640"/>
            <a:ext cx="3429000" cy="4526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914400" y="1874520"/>
            <a:ext cx="3063240" cy="4160520"/>
          </a:xfrm>
          <a:prstGeom prst="rect">
            <a:avLst/>
          </a:prstGeom>
          <a:noFill/>
        </p:spPr>
        <p:txBody>
          <a:bodyPr wrap="square" lIns="0" rIns="0" tIns="0" bIns="0">
            <a:spAutoFit/>
          </a:bodyPr>
          <a:lstStyle/>
          <a:p>
            <a:pPr>
              <a:defRPr sz="2800" b="1">
                <a:solidFill>
                  <a:srgbClr val="E65100"/>
                </a:solidFill>
                <a:latin typeface="Segoe UI"/>
              </a:defRPr>
            </a:pPr>
            <a:r>
              <a:t>01</a:t>
            </a:r>
          </a:p>
          <a:p>
            <a:pPr>
              <a:spcAft>
                <a:spcPts val="800"/>
              </a:spcAft>
              <a:defRPr sz="1300" b="1">
                <a:solidFill>
                  <a:srgbClr val="0F2C59"/>
                </a:solidFill>
                <a:latin typeface="Segoe UI"/>
              </a:defRPr>
            </a:pPr>
            <a:r>
              <a:t>Kiến Trúc Chuẩn Mực &amp; Phân Tách Trách Nhiệm</a:t>
            </a:r>
          </a:p>
          <a:p>
            <a:pPr>
              <a:spcAft>
                <a:spcPts val="1000"/>
              </a:spcAft>
              <a:defRPr sz="1000" i="1">
                <a:solidFill>
                  <a:srgbClr val="64748B"/>
                </a:solidFill>
                <a:latin typeface="Segoe UI"/>
              </a:defRPr>
            </a:pPr>
            <a:r>
              <a:t>Thực trạng: Mã nguồn trộn lẫn giao diện và truy vấn CSDL, khó bảo trì và dễ xung đột.</a:t>
            </a:r>
          </a:p>
          <a:p>
            <a:pPr>
              <a:spcAft>
                <a:spcPts val="400"/>
              </a:spcAft>
              <a:defRPr sz="1050" b="1">
                <a:solidFill>
                  <a:srgbClr val="0F2C59"/>
                </a:solidFill>
                <a:latin typeface="Segoe UI"/>
              </a:defRPr>
            </a:pPr>
            <a:r>
              <a:t>Giải pháp SmartCart triển khai:</a:t>
            </a:r>
          </a:p>
          <a:p>
            <a:pPr>
              <a:spcAft>
                <a:spcPts val="500"/>
              </a:spcAft>
              <a:defRPr sz="1000">
                <a:solidFill>
                  <a:srgbClr val="1E293B"/>
                </a:solidFill>
                <a:latin typeface="Segoe UI"/>
              </a:defRPr>
            </a:pPr>
            <a:r>
              <a:t>• Mô hình MVC phân định rõ ràng: Blade View hiển thị, Controller điều phối luồng, Model quản lý thực thể.</a:t>
            </a:r>
          </a:p>
          <a:p>
            <a:pPr>
              <a:spcAft>
                <a:spcPts val="500"/>
              </a:spcAft>
              <a:defRPr sz="1000">
                <a:solidFill>
                  <a:srgbClr val="1E293B"/>
                </a:solidFill>
                <a:latin typeface="Segoe UI"/>
              </a:defRPr>
            </a:pPr>
            <a:r>
              <a:t>• Tách riêng microservice AI (Python OpenCLIP) chạy độc lập cổng 8020, không ảnh hưởng web server chính.</a:t>
            </a:r>
          </a:p>
          <a:p>
            <a:pPr>
              <a:spcAft>
                <a:spcPts val="500"/>
              </a:spcAft>
              <a:defRPr sz="1000">
                <a:solidFill>
                  <a:srgbClr val="1E293B"/>
                </a:solidFill>
                <a:latin typeface="Segoe UI"/>
              </a:defRPr>
            </a:pPr>
            <a:r>
              <a:t>• Mã nguồn chuẩn PSR-12, cấu trúc thư mục rõ ràng, dễ dàng mở rộng và bàn giao sản phẩm.</a:t>
            </a:r>
          </a:p>
        </p:txBody>
      </p:sp>
      <p:sp xmlns:a="http://schemas.openxmlformats.org/drawingml/2006/main">
        <p:nvSpPr>
          <p:cNvPr id="22" name="Rounded Rectangle 21"/>
          <p:cNvSpPr/>
          <p:nvPr/>
        </p:nvSpPr>
        <p:spPr>
          <a:xfrm>
            <a:off x="4379976" y="1691640"/>
            <a:ext cx="3429000" cy="4526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4562856" y="1874520"/>
            <a:ext cx="3063240" cy="4160520"/>
          </a:xfrm>
          <a:prstGeom prst="rect">
            <a:avLst/>
          </a:prstGeom>
          <a:noFill/>
        </p:spPr>
        <p:txBody>
          <a:bodyPr wrap="square" lIns="0" rIns="0" tIns="0" bIns="0">
            <a:spAutoFit/>
          </a:bodyPr>
          <a:lstStyle/>
          <a:p>
            <a:pPr>
              <a:defRPr sz="2800" b="1">
                <a:solidFill>
                  <a:srgbClr val="E65100"/>
                </a:solidFill>
                <a:latin typeface="Segoe UI"/>
              </a:defRPr>
            </a:pPr>
            <a:r>
              <a:t>02</a:t>
            </a:r>
          </a:p>
          <a:p>
            <a:pPr>
              <a:spcAft>
                <a:spcPts val="800"/>
              </a:spcAft>
              <a:defRPr sz="1300" b="1">
                <a:solidFill>
                  <a:srgbClr val="0F2C59"/>
                </a:solidFill>
                <a:latin typeface="Segoe UI"/>
              </a:defRPr>
            </a:pPr>
            <a:r>
              <a:t>Toàn Vẹn Dữ Liệu &amp; Nhất Quán Giao Dịch</a:t>
            </a:r>
          </a:p>
          <a:p>
            <a:pPr>
              <a:spcAft>
                <a:spcPts val="1000"/>
              </a:spcAft>
              <a:defRPr sz="1000" i="1">
                <a:solidFill>
                  <a:srgbClr val="64748B"/>
                </a:solidFill>
                <a:latin typeface="Segoe UI"/>
              </a:defRPr>
            </a:pPr>
            <a:r>
              <a:t>Thực trạng: Nguy cơ sai lệch tồn kho, giá tiền bị can thiệp từ client hoặc thay đổi sau khi đặt.</a:t>
            </a:r>
          </a:p>
          <a:p>
            <a:pPr>
              <a:spcAft>
                <a:spcPts val="400"/>
              </a:spcAft>
              <a:defRPr sz="1050" b="1">
                <a:solidFill>
                  <a:srgbClr val="0F2C59"/>
                </a:solidFill>
                <a:latin typeface="Segoe UI"/>
              </a:defRPr>
            </a:pPr>
            <a:r>
              <a:t>Giải pháp SmartCart triển khai:</a:t>
            </a:r>
          </a:p>
          <a:p>
            <a:pPr>
              <a:spcAft>
                <a:spcPts val="500"/>
              </a:spcAft>
              <a:defRPr sz="1000">
                <a:solidFill>
                  <a:srgbClr val="1E293B"/>
                </a:solidFill>
                <a:latin typeface="Segoe UI"/>
              </a:defRPr>
            </a:pPr>
            <a:r>
              <a:t>• Kiểm tra giá bán và tồn kho 100% tại tầng Server; client chỉ gửi mã sản phẩm và số lượng.</a:t>
            </a:r>
          </a:p>
          <a:p>
            <a:pPr>
              <a:spcAft>
                <a:spcPts val="500"/>
              </a:spcAft>
              <a:defRPr sz="1000">
                <a:solidFill>
                  <a:srgbClr val="1E293B"/>
                </a:solidFill>
                <a:latin typeface="Segoe UI"/>
              </a:defRPr>
            </a:pPr>
            <a:r>
              <a:t>• Lưu Snapshot giá mua tại thời điểm đặt vào order_items, không bị ảnh hưởng khi Admin sửa giá tương lai.</a:t>
            </a:r>
          </a:p>
          <a:p>
            <a:pPr>
              <a:spcAft>
                <a:spcPts val="500"/>
              </a:spcAft>
              <a:defRPr sz="1000">
                <a:solidFill>
                  <a:srgbClr val="1E293B"/>
                </a:solidFill>
                <a:latin typeface="Segoe UI"/>
              </a:defRPr>
            </a:pPr>
            <a:r>
              <a:t>• Sử dụng DB::transaction() và khóa bi quan (lockForUpdate) ngăn chặn tranh chấp khi nhiều người mua cùng lúc.</a:t>
            </a:r>
          </a:p>
        </p:txBody>
      </p:sp>
      <p:sp xmlns:a="http://schemas.openxmlformats.org/drawingml/2006/main">
        <p:nvSpPr>
          <p:cNvPr id="24" name="Rounded Rectangle 23"/>
          <p:cNvSpPr/>
          <p:nvPr/>
        </p:nvSpPr>
        <p:spPr>
          <a:xfrm>
            <a:off x="8028432" y="1691640"/>
            <a:ext cx="3429000" cy="4526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8211312" y="1874520"/>
            <a:ext cx="3063240" cy="4160520"/>
          </a:xfrm>
          <a:prstGeom prst="rect">
            <a:avLst/>
          </a:prstGeom>
          <a:noFill/>
        </p:spPr>
        <p:txBody>
          <a:bodyPr wrap="square" lIns="0" rIns="0" tIns="0" bIns="0">
            <a:spAutoFit/>
          </a:bodyPr>
          <a:lstStyle/>
          <a:p>
            <a:pPr>
              <a:defRPr sz="2800" b="1">
                <a:solidFill>
                  <a:srgbClr val="E65100"/>
                </a:solidFill>
                <a:latin typeface="Segoe UI"/>
              </a:defRPr>
            </a:pPr>
            <a:r>
              <a:t>03</a:t>
            </a:r>
          </a:p>
          <a:p>
            <a:pPr>
              <a:spcAft>
                <a:spcPts val="800"/>
              </a:spcAft>
              <a:defRPr sz="1300" b="1">
                <a:solidFill>
                  <a:srgbClr val="0F2C59"/>
                </a:solidFill>
                <a:latin typeface="Segoe UI"/>
              </a:defRPr>
            </a:pPr>
            <a:r>
              <a:t>Trải Nghiệm Mượt Mà &amp; Kiểm Thử Khắt Khe</a:t>
            </a:r>
          </a:p>
          <a:p>
            <a:pPr>
              <a:spcAft>
                <a:spcPts val="1000"/>
              </a:spcAft>
              <a:defRPr sz="1000" i="1">
                <a:solidFill>
                  <a:srgbClr val="64748B"/>
                </a:solidFill>
                <a:latin typeface="Segoe UI"/>
              </a:defRPr>
            </a:pPr>
            <a:r>
              <a:t>Thực trạng: Hệ thống dễ đổ vỡ khi gặp tình huống ngoại lệ, mạng chập chờn hoặc spam thao tác.</a:t>
            </a:r>
          </a:p>
          <a:p>
            <a:pPr>
              <a:spcAft>
                <a:spcPts val="400"/>
              </a:spcAft>
              <a:defRPr sz="1050" b="1">
                <a:solidFill>
                  <a:srgbClr val="0F2C59"/>
                </a:solidFill>
                <a:latin typeface="Segoe UI"/>
              </a:defRPr>
            </a:pPr>
            <a:r>
              <a:t>Giải pháp SmartCart triển khai:</a:t>
            </a:r>
          </a:p>
          <a:p>
            <a:pPr>
              <a:spcAft>
                <a:spcPts val="500"/>
              </a:spcAft>
              <a:defRPr sz="1000">
                <a:solidFill>
                  <a:srgbClr val="1E293B"/>
                </a:solidFill>
                <a:latin typeface="Segoe UI"/>
              </a:defRPr>
            </a:pPr>
            <a:r>
              <a:t>• Giỏ hàng Fetch API và Live Search phản hồi tức thì không gián đoạn duyệt web.</a:t>
            </a:r>
          </a:p>
          <a:p>
            <a:pPr>
              <a:spcAft>
                <a:spcPts val="500"/>
              </a:spcAft>
              <a:defRPr sz="1000">
                <a:solidFill>
                  <a:srgbClr val="1E293B"/>
                </a:solidFill>
                <a:latin typeface="Segoe UI"/>
              </a:defRPr>
            </a:pPr>
            <a:r>
              <a:t>• Cơ chế checkout_token duy nhất chống gửi lặp đơn hàng khi người dùng nhấn nút nhiều lần.</a:t>
            </a:r>
          </a:p>
          <a:p>
            <a:pPr>
              <a:spcAft>
                <a:spcPts val="500"/>
              </a:spcAft>
              <a:defRPr sz="1000">
                <a:solidFill>
                  <a:srgbClr val="1E293B"/>
                </a:solidFill>
                <a:latin typeface="Segoe UI"/>
              </a:defRPr>
            </a:pPr>
            <a:r>
              <a:t>• Bộ kiểm thử tự động 88 test cases bao phủ toàn diện cả kịch bản thành công lẫn các tình huống lỗi nghiệp vụ.</a:t>
            </a:r>
          </a:p>
        </p:txBody>
      </p:sp>
    </p:spTree>
    <p:extLst>
      <p:ext uri="{BB962C8B-B14F-4D97-AF65-F5344CB8AC3E}">
        <p14:creationId xmlns:p14="http://schemas.microsoft.com/office/powerpoint/2010/main" val="20319288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5901f6ef13f413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6" name="TextBox 15"/>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Phạm Vi Hệ Thống &amp; Đặc Tả Nghiệp Vụ</a:t>
            </a:r>
          </a:p>
        </p:txBody>
      </p:sp>
      <p:sp xmlns:a="http://schemas.openxmlformats.org/drawingml/2006/main">
        <p:nvSpPr>
          <p:cNvPr id="17" name="TextBox 16"/>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Hệ thống thương mại điện tử mô phỏng hoàn chỉnh cho môn học Lập trình Mã nguồn mở</a:t>
            </a:r>
          </a:p>
        </p:txBody>
      </p:sp>
      <p:sp xmlns:a="http://schemas.openxmlformats.org/drawingml/2006/main">
        <p:nvSpPr>
          <p:cNvPr id="18" name="Rounded Rectangle 17"/>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04 / 18</a:t>
            </a:r>
          </a:p>
        </p:txBody>
      </p:sp>
      <p:sp xmlns:a="http://schemas.openxmlformats.org/drawingml/2006/main">
        <p:nvSpPr>
          <p:cNvPr id="19" name="Rounded Rectangle 18"/>
          <p:cNvSpPr/>
          <p:nvPr/>
        </p:nvSpPr>
        <p:spPr>
          <a:xfrm>
            <a:off x="731520" y="1691640"/>
            <a:ext cx="251460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868680" y="1801368"/>
            <a:ext cx="2240280" cy="1097280"/>
          </a:xfrm>
          <a:prstGeom prst="rect">
            <a:avLst/>
          </a:prstGeom>
          <a:noFill/>
        </p:spPr>
        <p:txBody>
          <a:bodyPr wrap="square" lIns="0" rIns="0" tIns="0" bIns="0">
            <a:spAutoFit/>
          </a:bodyPr>
          <a:lstStyle/>
          <a:p>
            <a:pPr>
              <a:defRPr sz="2600" b="1">
                <a:solidFill>
                  <a:srgbClr val="E65100"/>
                </a:solidFill>
                <a:latin typeface="Segoe UI"/>
              </a:defRPr>
            </a:pPr>
            <a:r>
              <a:t>8</a:t>
            </a:r>
          </a:p>
          <a:p>
            <a:pPr>
              <a:defRPr sz="1050" b="1">
                <a:solidFill>
                  <a:srgbClr val="0F2C59"/>
                </a:solidFill>
                <a:latin typeface="Segoe UI"/>
              </a:defRPr>
            </a:pPr>
            <a:r>
              <a:t>DANH MỤC</a:t>
            </a:r>
          </a:p>
          <a:p>
            <a:pPr>
              <a:defRPr sz="900">
                <a:solidFill>
                  <a:srgbClr val="64748B"/>
                </a:solidFill>
                <a:latin typeface="Segoe UI"/>
              </a:defRPr>
            </a:pPr>
            <a:r>
              <a:t>Phân loại hàng hóa đa dạng</a:t>
            </a:r>
          </a:p>
        </p:txBody>
      </p:sp>
      <p:sp xmlns:a="http://schemas.openxmlformats.org/drawingml/2006/main">
        <p:nvSpPr>
          <p:cNvPr id="21" name="Rounded Rectangle 20"/>
          <p:cNvSpPr/>
          <p:nvPr/>
        </p:nvSpPr>
        <p:spPr>
          <a:xfrm>
            <a:off x="3465576" y="1691640"/>
            <a:ext cx="251460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extBox 21"/>
          <p:cNvSpPr txBox="1"/>
          <p:nvPr/>
        </p:nvSpPr>
        <p:spPr>
          <a:xfrm>
            <a:off x="3602736" y="1801368"/>
            <a:ext cx="2240280" cy="1097280"/>
          </a:xfrm>
          <a:prstGeom prst="rect">
            <a:avLst/>
          </a:prstGeom>
          <a:noFill/>
        </p:spPr>
        <p:txBody>
          <a:bodyPr wrap="square" lIns="0" rIns="0" tIns="0" bIns="0">
            <a:spAutoFit/>
          </a:bodyPr>
          <a:lstStyle/>
          <a:p>
            <a:pPr>
              <a:defRPr sz="2600" b="1">
                <a:solidFill>
                  <a:srgbClr val="E65100"/>
                </a:solidFill>
                <a:latin typeface="Segoe UI"/>
              </a:defRPr>
            </a:pPr>
            <a:r>
              <a:t>60</a:t>
            </a:r>
          </a:p>
          <a:p>
            <a:pPr>
              <a:defRPr sz="1050" b="1">
                <a:solidFill>
                  <a:srgbClr val="0F2C59"/>
                </a:solidFill>
                <a:latin typeface="Segoe UI"/>
              </a:defRPr>
            </a:pPr>
            <a:r>
              <a:t>SẢN PHẨM</a:t>
            </a:r>
          </a:p>
          <a:p>
            <a:pPr>
              <a:defRPr sz="900">
                <a:solidFill>
                  <a:srgbClr val="64748B"/>
                </a:solidFill>
                <a:latin typeface="Segoe UI"/>
              </a:defRPr>
            </a:pPr>
            <a:r>
              <a:t>Dữ liệu mẫu có ảnh &amp; tồn kho thật</a:t>
            </a:r>
          </a:p>
        </p:txBody>
      </p:sp>
      <p:sp xmlns:a="http://schemas.openxmlformats.org/drawingml/2006/main">
        <p:nvSpPr>
          <p:cNvPr id="23" name="Rounded Rectangle 22"/>
          <p:cNvSpPr/>
          <p:nvPr/>
        </p:nvSpPr>
        <p:spPr>
          <a:xfrm>
            <a:off x="6199632" y="1691640"/>
            <a:ext cx="251460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TextBox 23"/>
          <p:cNvSpPr txBox="1"/>
          <p:nvPr/>
        </p:nvSpPr>
        <p:spPr>
          <a:xfrm>
            <a:off x="6336792" y="1801368"/>
            <a:ext cx="2240280" cy="1097280"/>
          </a:xfrm>
          <a:prstGeom prst="rect">
            <a:avLst/>
          </a:prstGeom>
          <a:noFill/>
        </p:spPr>
        <p:txBody>
          <a:bodyPr wrap="square" lIns="0" rIns="0" tIns="0" bIns="0">
            <a:spAutoFit/>
          </a:bodyPr>
          <a:lstStyle/>
          <a:p>
            <a:pPr>
              <a:defRPr sz="2600" b="1">
                <a:solidFill>
                  <a:srgbClr val="E65100"/>
                </a:solidFill>
                <a:latin typeface="Segoe UI"/>
              </a:defRPr>
            </a:pPr>
            <a:r>
              <a:t>COD</a:t>
            </a:r>
          </a:p>
          <a:p>
            <a:pPr>
              <a:defRPr sz="1050" b="1">
                <a:solidFill>
                  <a:srgbClr val="0F2C59"/>
                </a:solidFill>
                <a:latin typeface="Segoe UI"/>
              </a:defRPr>
            </a:pPr>
            <a:r>
              <a:t>THANH TOÁN</a:t>
            </a:r>
          </a:p>
          <a:p>
            <a:pPr>
              <a:defRPr sz="900">
                <a:solidFill>
                  <a:srgbClr val="64748B"/>
                </a:solidFill>
                <a:latin typeface="Segoe UI"/>
              </a:defRPr>
            </a:pPr>
            <a:r>
              <a:t>Giao hàng thanh toán trực tiếp</a:t>
            </a:r>
          </a:p>
        </p:txBody>
      </p:sp>
      <p:sp xmlns:a="http://schemas.openxmlformats.org/drawingml/2006/main">
        <p:nvSpPr>
          <p:cNvPr id="25" name="Rounded Rectangle 24"/>
          <p:cNvSpPr/>
          <p:nvPr/>
        </p:nvSpPr>
        <p:spPr>
          <a:xfrm>
            <a:off x="8933688" y="1691640"/>
            <a:ext cx="251460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extBox 25"/>
          <p:cNvSpPr txBox="1"/>
          <p:nvPr/>
        </p:nvSpPr>
        <p:spPr>
          <a:xfrm>
            <a:off x="9070848" y="1801368"/>
            <a:ext cx="2240280" cy="1097280"/>
          </a:xfrm>
          <a:prstGeom prst="rect">
            <a:avLst/>
          </a:prstGeom>
          <a:noFill/>
        </p:spPr>
        <p:txBody>
          <a:bodyPr wrap="square" lIns="0" rIns="0" tIns="0" bIns="0">
            <a:spAutoFit/>
          </a:bodyPr>
          <a:lstStyle/>
          <a:p>
            <a:pPr>
              <a:defRPr sz="2600" b="1">
                <a:solidFill>
                  <a:srgbClr val="E65100"/>
                </a:solidFill>
                <a:latin typeface="Segoe UI"/>
              </a:defRPr>
            </a:pPr>
            <a:r>
              <a:t>2 ROLES</a:t>
            </a:r>
          </a:p>
          <a:p>
            <a:pPr>
              <a:defRPr sz="1050" b="1">
                <a:solidFill>
                  <a:srgbClr val="0F2C59"/>
                </a:solidFill>
                <a:latin typeface="Segoe UI"/>
              </a:defRPr>
            </a:pPr>
            <a:r>
              <a:t>PHÂN QUYỀN</a:t>
            </a:r>
          </a:p>
          <a:p>
            <a:pPr>
              <a:defRPr sz="900">
                <a:solidFill>
                  <a:srgbClr val="64748B"/>
                </a:solidFill>
                <a:latin typeface="Segoe UI"/>
              </a:defRPr>
            </a:pPr>
            <a:r>
              <a:t>Customer &amp; Quản trị viên Admin</a:t>
            </a:r>
          </a:p>
        </p:txBody>
      </p:sp>
      <p:sp xmlns:a="http://schemas.openxmlformats.org/drawingml/2006/main">
        <p:nvSpPr>
          <p:cNvPr id="27" name="Rounded Rectangle 26"/>
          <p:cNvSpPr/>
          <p:nvPr/>
        </p:nvSpPr>
        <p:spPr>
          <a:xfrm>
            <a:off x="731520" y="3200400"/>
            <a:ext cx="5230368"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914400" y="3383280"/>
            <a:ext cx="4864607" cy="2743200"/>
          </a:xfrm>
          <a:prstGeom prst="rect">
            <a:avLst/>
          </a:prstGeom>
          <a:noFill/>
        </p:spPr>
        <p:txBody>
          <a:bodyPr wrap="square" lIns="0" rIns="0" tIns="0" bIns="0">
            <a:spAutoFit/>
          </a:bodyPr>
          <a:lstStyle/>
          <a:p>
            <a:pPr>
              <a:spcAft>
                <a:spcPts val="800"/>
              </a:spcAft>
              <a:defRPr sz="1200" b="1">
                <a:solidFill>
                  <a:srgbClr val="166534"/>
                </a:solidFill>
                <a:latin typeface="Segoe UI"/>
              </a:defRPr>
            </a:pPr>
            <a:r>
              <a:t>✅  TÍNH NĂNG TRỌNG TÂM ĐÃ TRIỂN KHAI HOÀN CHỈNH</a:t>
            </a:r>
          </a:p>
          <a:p>
            <a:pPr>
              <a:spcAft>
                <a:spcPts val="400"/>
              </a:spcAft>
              <a:defRPr sz="1000">
                <a:solidFill>
                  <a:srgbClr val="1E293B"/>
                </a:solidFill>
                <a:latin typeface="Segoe UI"/>
              </a:defRPr>
            </a:pPr>
            <a:r>
              <a:t>• Phân hệ Khách hàng: Duyệt danh mục, phân trang 8 sản phẩm/trang, tìm kiếm từ khóa, lọc theo giá tăng/giảm.</a:t>
            </a:r>
          </a:p>
          <a:p>
            <a:pPr>
              <a:spcAft>
                <a:spcPts val="400"/>
              </a:spcAft>
              <a:defRPr sz="1000">
                <a:solidFill>
                  <a:srgbClr val="1E293B"/>
                </a:solidFill>
                <a:latin typeface="Segoe UI"/>
              </a:defRPr>
            </a:pPr>
            <a:r>
              <a:t>• Giỏ hàng thời gian thực: Thao tác thêm/bớt/xóa bằng Fetch API không reload trang, lưu trữ Session an toàn.</a:t>
            </a:r>
          </a:p>
          <a:p>
            <a:pPr>
              <a:spcAft>
                <a:spcPts val="400"/>
              </a:spcAft>
              <a:defRPr sz="1000">
                <a:solidFill>
                  <a:srgbClr val="1E293B"/>
                </a:solidFill>
                <a:latin typeface="Segoe UI"/>
              </a:defRPr>
            </a:pPr>
            <a:r>
              <a:t>• Thanh toán COD nguyên tử: Ràng buộc đăng nhập, kiểm tra kho thực tế, bảo vệ giao dịch bằng Database Transaction.</a:t>
            </a:r>
          </a:p>
          <a:p>
            <a:pPr>
              <a:spcAft>
                <a:spcPts val="400"/>
              </a:spcAft>
              <a:defRPr sz="1000">
                <a:solidFill>
                  <a:srgbClr val="1E293B"/>
                </a:solidFill>
                <a:latin typeface="Segoe UI"/>
              </a:defRPr>
            </a:pPr>
            <a:r>
              <a:t>• Lịch sử mua hàng cá nhân: Theo dõi trạng thái đơn hàng, cho phép hủy đơn chờ xác nhận và tự động hoàn trả tồn kho.</a:t>
            </a:r>
          </a:p>
          <a:p>
            <a:pPr>
              <a:spcAft>
                <a:spcPts val="400"/>
              </a:spcAft>
              <a:defRPr sz="1000">
                <a:solidFill>
                  <a:srgbClr val="1E293B"/>
                </a:solidFill>
                <a:latin typeface="Segoe UI"/>
              </a:defRPr>
            </a:pPr>
            <a:r>
              <a:t>• Phân hệ Quản trị (Admin): CRUD danh mục và sản phẩm, upload ảnh, quản lý vòng đời đơn và xem thống kê báo cáo.</a:t>
            </a:r>
          </a:p>
        </p:txBody>
      </p:sp>
      <p:sp xmlns:a="http://schemas.openxmlformats.org/drawingml/2006/main">
        <p:nvSpPr>
          <p:cNvPr id="29" name="Rounded Rectangle 28"/>
          <p:cNvSpPr/>
          <p:nvPr/>
        </p:nvSpPr>
        <p:spPr>
          <a:xfrm>
            <a:off x="6227064" y="3200400"/>
            <a:ext cx="5230368"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6409944" y="3383280"/>
            <a:ext cx="4864607" cy="2743200"/>
          </a:xfrm>
          <a:prstGeom prst="rect">
            <a:avLst/>
          </a:prstGeom>
          <a:noFill/>
        </p:spPr>
        <p:txBody>
          <a:bodyPr wrap="square" lIns="0" rIns="0" tIns="0" bIns="0">
            <a:spAutoFit/>
          </a:bodyPr>
          <a:lstStyle/>
          <a:p>
            <a:pPr>
              <a:spcAft>
                <a:spcPts val="800"/>
              </a:spcAft>
              <a:defRPr sz="1200" b="1">
                <a:solidFill>
                  <a:srgbClr val="0F2C59"/>
                </a:solidFill>
                <a:latin typeface="Segoe UI"/>
              </a:defRPr>
            </a:pPr>
            <a:r>
              <a:t>🎯  RANH GIỚI PHẠM VI &amp; ĐỊNH HƯỚNG MỞ RỘNG</a:t>
            </a:r>
          </a:p>
          <a:p>
            <a:pPr>
              <a:spcAft>
                <a:spcPts val="400"/>
              </a:spcAft>
              <a:defRPr sz="1000">
                <a:solidFill>
                  <a:srgbClr val="1E293B"/>
                </a:solidFill>
                <a:latin typeface="Segoe UI"/>
              </a:defRPr>
            </a:pPr>
            <a:r>
              <a:t>• Mô hình học thuật: Dự án tập trung giải quyết bài toán cốt lõi về tính nhất quán dữ liệu, kiểm soát giao dịch và kiến trúc mã nguồn mở.</a:t>
            </a:r>
          </a:p>
          <a:p>
            <a:pPr>
              <a:spcAft>
                <a:spcPts val="400"/>
              </a:spcAft>
              <a:defRPr sz="1000">
                <a:solidFill>
                  <a:srgbClr val="1E293B"/>
                </a:solidFill>
                <a:latin typeface="Segoe UI"/>
              </a:defRPr>
            </a:pPr>
            <a:r>
              <a:t>• Chính sách vận chuyển &amp; Phí: Mô phỏng phương thức giao hàng thu tiền tận nơi (COD), biểu phí vận chuyển mặc định bằng 0 đồng.</a:t>
            </a:r>
          </a:p>
          <a:p>
            <a:pPr>
              <a:spcAft>
                <a:spcPts val="400"/>
              </a:spcAft>
              <a:defRPr sz="1000">
                <a:solidFill>
                  <a:srgbClr val="1E293B"/>
                </a:solidFill>
                <a:latin typeface="Segoe UI"/>
              </a:defRPr>
            </a:pPr>
            <a:r>
              <a:t>• Giới hạn thanh toán: Phạm vi môn học chưa tích hợp cổng thanh toán trực tuyến (VNPay/MoMo) và dịch vụ đơn vị vận chuyển bên thứ 3.</a:t>
            </a:r>
          </a:p>
          <a:p>
            <a:pPr>
              <a:spcAft>
                <a:spcPts val="400"/>
              </a:spcAft>
              <a:defRPr sz="1000">
                <a:solidFill>
                  <a:srgbClr val="1E293B"/>
                </a:solidFill>
                <a:latin typeface="Segoe UI"/>
              </a:defRPr>
            </a:pPr>
            <a:r>
              <a:t>• Thực nghiệm AI: Tìm kiếm bằng hình ảnh OpenCLIP là mô-đun thực nghiệm nâng cao trải nghiệm người dùng, hoạt động độc lập.</a:t>
            </a:r>
          </a:p>
        </p:txBody>
      </p:sp>
    </p:spTree>
    <p:extLst>
      <p:ext uri="{BB962C8B-B14F-4D97-AF65-F5344CB8AC3E}">
        <p14:creationId xmlns:p14="http://schemas.microsoft.com/office/powerpoint/2010/main" val="11419130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7a177a73fa846a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6" name="TextBox 15"/>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Công Nghệ Sử Dụng &amp; Kiến Trúc Đa Tầng</a:t>
            </a:r>
          </a:p>
        </p:txBody>
      </p:sp>
      <p:sp xmlns:a="http://schemas.openxmlformats.org/drawingml/2006/main">
        <p:nvSpPr>
          <p:cNvPr id="17" name="TextBox 16"/>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Hệ thống đa tầng tách biệt ứng dụng web chính và dịch vụ trí tuệ nhân tạo (Microservice)</a:t>
            </a:r>
          </a:p>
        </p:txBody>
      </p:sp>
      <p:sp xmlns:a="http://schemas.openxmlformats.org/drawingml/2006/main">
        <p:nvSpPr>
          <p:cNvPr id="18" name="Rounded Rectangle 17"/>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05 / 18</a:t>
            </a:r>
          </a:p>
        </p:txBody>
      </p:sp>
      <p:sp xmlns:a="http://schemas.openxmlformats.org/drawingml/2006/main">
        <p:nvSpPr>
          <p:cNvPr id="19" name="Rounded Rectangle 18"/>
          <p:cNvSpPr/>
          <p:nvPr/>
        </p:nvSpPr>
        <p:spPr>
          <a:xfrm>
            <a:off x="731520" y="1691640"/>
            <a:ext cx="251460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868680" y="1828800"/>
            <a:ext cx="2240280" cy="3657600"/>
          </a:xfrm>
          <a:prstGeom prst="rect">
            <a:avLst/>
          </a:prstGeom>
          <a:noFill/>
        </p:spPr>
        <p:txBody>
          <a:bodyPr wrap="square" lIns="0" rIns="0" tIns="0" bIns="0">
            <a:spAutoFit/>
          </a:bodyPr>
          <a:lstStyle/>
          <a:p>
            <a:pPr>
              <a:defRPr sz="950" b="1">
                <a:solidFill>
                  <a:srgbClr val="E65100"/>
                </a:solidFill>
                <a:latin typeface="Segoe UI"/>
              </a:defRPr>
            </a:pPr>
            <a:r>
              <a:t>TẦNG GIAO DIỆN</a:t>
            </a:r>
          </a:p>
          <a:p>
            <a:pPr>
              <a:defRPr sz="1300" b="1">
                <a:solidFill>
                  <a:srgbClr val="0F2C59"/>
                </a:solidFill>
                <a:latin typeface="Segoe UI"/>
              </a:defRPr>
            </a:pPr>
            <a:r>
              <a:t>Blade &amp; Bootstrap 5</a:t>
            </a:r>
          </a:p>
          <a:p>
            <a:pPr>
              <a:spcAft>
                <a:spcPts val="800"/>
              </a:spcAft>
              <a:defRPr sz="950">
                <a:solidFill>
                  <a:srgbClr val="64748B"/>
                </a:solidFill>
                <a:latin typeface="Segoe UI"/>
              </a:defRPr>
            </a:pPr>
            <a:r>
              <a:t>Frontend Client</a:t>
            </a:r>
          </a:p>
          <a:p>
            <a:pPr>
              <a:spcAft>
                <a:spcPts val="400"/>
              </a:spcAft>
              <a:defRPr sz="950">
                <a:solidFill>
                  <a:srgbClr val="1E293B"/>
                </a:solidFill>
                <a:latin typeface="Segoe UI"/>
              </a:defRPr>
            </a:pPr>
            <a:r>
              <a:t>• Blade Template tái sử dụng component giao diện.</a:t>
            </a:r>
          </a:p>
          <a:p>
            <a:pPr>
              <a:spcAft>
                <a:spcPts val="400"/>
              </a:spcAft>
              <a:defRPr sz="950">
                <a:solidFill>
                  <a:srgbClr val="1E293B"/>
                </a:solidFill>
                <a:latin typeface="Segoe UI"/>
              </a:defRPr>
            </a:pPr>
            <a:r>
              <a:t>• Bootstrap 5 thiết kế Responsive đa kích thước màn hình.</a:t>
            </a:r>
          </a:p>
          <a:p>
            <a:pPr>
              <a:spcAft>
                <a:spcPts val="400"/>
              </a:spcAft>
              <a:defRPr sz="950">
                <a:solidFill>
                  <a:srgbClr val="1E293B"/>
                </a:solidFill>
                <a:latin typeface="Segoe UI"/>
              </a:defRPr>
            </a:pPr>
            <a:r>
              <a:t>• Vanilla JS &amp; Fetch API gọi dữ liệu ngầm không reload trang.</a:t>
            </a:r>
          </a:p>
          <a:p>
            <a:pPr>
              <a:spcAft>
                <a:spcPts val="400"/>
              </a:spcAft>
              <a:defRPr sz="950">
                <a:solidFill>
                  <a:srgbClr val="1E293B"/>
                </a:solidFill>
                <a:latin typeface="Segoe UI"/>
              </a:defRPr>
            </a:pPr>
            <a:r>
              <a:t>• SweetAlert2 hiển thị thông báo tương tác trực quan.</a:t>
            </a:r>
          </a:p>
        </p:txBody>
      </p:sp>
      <p:sp xmlns:a="http://schemas.openxmlformats.org/drawingml/2006/main">
        <p:nvSpPr>
          <p:cNvPr id="21" name="Rounded Rectangle 20"/>
          <p:cNvSpPr/>
          <p:nvPr/>
        </p:nvSpPr>
        <p:spPr>
          <a:xfrm>
            <a:off x="3465576" y="1691640"/>
            <a:ext cx="251460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extBox 21"/>
          <p:cNvSpPr txBox="1"/>
          <p:nvPr/>
        </p:nvSpPr>
        <p:spPr>
          <a:xfrm>
            <a:off x="3602736" y="1828800"/>
            <a:ext cx="2240280" cy="3657600"/>
          </a:xfrm>
          <a:prstGeom prst="rect">
            <a:avLst/>
          </a:prstGeom>
          <a:noFill/>
        </p:spPr>
        <p:txBody>
          <a:bodyPr wrap="square" lIns="0" rIns="0" tIns="0" bIns="0">
            <a:spAutoFit/>
          </a:bodyPr>
          <a:lstStyle/>
          <a:p>
            <a:pPr>
              <a:defRPr sz="950" b="1">
                <a:solidFill>
                  <a:srgbClr val="E65100"/>
                </a:solidFill>
                <a:latin typeface="Segoe UI"/>
              </a:defRPr>
            </a:pPr>
            <a:r>
              <a:t>TẦNG ỨNG DỤNG</a:t>
            </a:r>
          </a:p>
          <a:p>
            <a:pPr>
              <a:defRPr sz="1300" b="1">
                <a:solidFill>
                  <a:srgbClr val="0F2C59"/>
                </a:solidFill>
                <a:latin typeface="Segoe UI"/>
              </a:defRPr>
            </a:pPr>
            <a:r>
              <a:t>Laravel 13 (PHP 8.3)</a:t>
            </a:r>
          </a:p>
          <a:p>
            <a:pPr>
              <a:spcAft>
                <a:spcPts val="800"/>
              </a:spcAft>
              <a:defRPr sz="950">
                <a:solidFill>
                  <a:srgbClr val="64748B"/>
                </a:solidFill>
                <a:latin typeface="Segoe UI"/>
              </a:defRPr>
            </a:pPr>
            <a:r>
              <a:t>Backend Web Core</a:t>
            </a:r>
          </a:p>
          <a:p>
            <a:pPr>
              <a:spcAft>
                <a:spcPts val="400"/>
              </a:spcAft>
              <a:defRPr sz="950">
                <a:solidFill>
                  <a:srgbClr val="1E293B"/>
                </a:solidFill>
                <a:latin typeface="Segoe UI"/>
              </a:defRPr>
            </a:pPr>
            <a:r>
              <a:t>• Mô hình MVC kiểm soát nghiệp vụ kinh doanh chặt chẽ.</a:t>
            </a:r>
          </a:p>
          <a:p>
            <a:pPr>
              <a:spcAft>
                <a:spcPts val="400"/>
              </a:spcAft>
              <a:defRPr sz="950">
                <a:solidFill>
                  <a:srgbClr val="1E293B"/>
                </a:solidFill>
                <a:latin typeface="Segoe UI"/>
              </a:defRPr>
            </a:pPr>
            <a:r>
              <a:t>• Middleware CheckRole phân quyền truy cập Customer / Admin.</a:t>
            </a:r>
          </a:p>
          <a:p>
            <a:pPr>
              <a:spcAft>
                <a:spcPts val="400"/>
              </a:spcAft>
              <a:defRPr sz="950">
                <a:solidFill>
                  <a:srgbClr val="1E293B"/>
                </a:solidFill>
                <a:latin typeface="Segoe UI"/>
              </a:defRPr>
            </a:pPr>
            <a:r>
              <a:t>• Form Request Validation sàng lọc và chống dữ liệu độc hại.</a:t>
            </a:r>
          </a:p>
          <a:p>
            <a:pPr>
              <a:spcAft>
                <a:spcPts val="400"/>
              </a:spcAft>
              <a:defRPr sz="950">
                <a:solidFill>
                  <a:srgbClr val="1E293B"/>
                </a:solidFill>
                <a:latin typeface="Segoe UI"/>
              </a:defRPr>
            </a:pPr>
            <a:r>
              <a:t>• Eloquent ORM ánh xạ quan hệ thực thể cơ sở dữ liệu.</a:t>
            </a:r>
          </a:p>
        </p:txBody>
      </p:sp>
      <p:sp xmlns:a="http://schemas.openxmlformats.org/drawingml/2006/main">
        <p:nvSpPr>
          <p:cNvPr id="23" name="Rounded Rectangle 22"/>
          <p:cNvSpPr/>
          <p:nvPr/>
        </p:nvSpPr>
        <p:spPr>
          <a:xfrm>
            <a:off x="6199632" y="1691640"/>
            <a:ext cx="251460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TextBox 23"/>
          <p:cNvSpPr txBox="1"/>
          <p:nvPr/>
        </p:nvSpPr>
        <p:spPr>
          <a:xfrm>
            <a:off x="6336792" y="1828800"/>
            <a:ext cx="2240280" cy="3657600"/>
          </a:xfrm>
          <a:prstGeom prst="rect">
            <a:avLst/>
          </a:prstGeom>
          <a:noFill/>
        </p:spPr>
        <p:txBody>
          <a:bodyPr wrap="square" lIns="0" rIns="0" tIns="0" bIns="0">
            <a:spAutoFit/>
          </a:bodyPr>
          <a:lstStyle/>
          <a:p>
            <a:pPr>
              <a:defRPr sz="950" b="1">
                <a:solidFill>
                  <a:srgbClr val="E65100"/>
                </a:solidFill>
                <a:latin typeface="Segoe UI"/>
              </a:defRPr>
            </a:pPr>
            <a:r>
              <a:t>TẦNG DỮ LIỆU</a:t>
            </a:r>
          </a:p>
          <a:p>
            <a:pPr>
              <a:defRPr sz="1300" b="1">
                <a:solidFill>
                  <a:srgbClr val="0F2C59"/>
                </a:solidFill>
                <a:latin typeface="Segoe UI"/>
              </a:defRPr>
            </a:pPr>
            <a:r>
              <a:t>MySQL 8.0 &amp; Storage</a:t>
            </a:r>
          </a:p>
          <a:p>
            <a:pPr>
              <a:spcAft>
                <a:spcPts val="800"/>
              </a:spcAft>
              <a:defRPr sz="950">
                <a:solidFill>
                  <a:srgbClr val="64748B"/>
                </a:solidFill>
                <a:latin typeface="Segoe UI"/>
              </a:defRPr>
            </a:pPr>
            <a:r>
              <a:t>Persistence Layer</a:t>
            </a:r>
          </a:p>
          <a:p>
            <a:pPr>
              <a:spcAft>
                <a:spcPts val="400"/>
              </a:spcAft>
              <a:defRPr sz="950">
                <a:solidFill>
                  <a:srgbClr val="1E293B"/>
                </a:solidFill>
                <a:latin typeface="Segoe UI"/>
              </a:defRPr>
            </a:pPr>
            <a:r>
              <a:t>• InnoDB Engine hỗ trợ giao dịch ACID toàn vẹn.</a:t>
            </a:r>
          </a:p>
          <a:p>
            <a:pPr>
              <a:spcAft>
                <a:spcPts val="400"/>
              </a:spcAft>
              <a:defRPr sz="950">
                <a:solidFill>
                  <a:srgbClr val="1E293B"/>
                </a:solidFill>
                <a:latin typeface="Segoe UI"/>
              </a:defRPr>
            </a:pPr>
            <a:r>
              <a:t>• Kiểu dữ liệu tiền tệ chuẩn hóa DECIMAL(12,2).</a:t>
            </a:r>
          </a:p>
          <a:p>
            <a:pPr>
              <a:spcAft>
                <a:spcPts val="400"/>
              </a:spcAft>
              <a:defRPr sz="950">
                <a:solidFill>
                  <a:srgbClr val="1E293B"/>
                </a:solidFill>
                <a:latin typeface="Segoe UI"/>
              </a:defRPr>
            </a:pPr>
            <a:r>
              <a:t>• Ràng buộc khóa ngoại ON DELETE RESTRICT bảo vệ lịch sử.</a:t>
            </a:r>
          </a:p>
          <a:p>
            <a:pPr>
              <a:spcAft>
                <a:spcPts val="400"/>
              </a:spcAft>
              <a:defRPr sz="950">
                <a:solidFill>
                  <a:srgbClr val="1E293B"/>
                </a:solidFill>
                <a:latin typeface="Segoe UI"/>
              </a:defRPr>
            </a:pPr>
            <a:r>
              <a:t>• Lưu trữ file ảnh sản phẩm an toàn trên Public Storage Disk.</a:t>
            </a:r>
          </a:p>
        </p:txBody>
      </p:sp>
      <p:sp xmlns:a="http://schemas.openxmlformats.org/drawingml/2006/main">
        <p:nvSpPr>
          <p:cNvPr id="25" name="Rounded Rectangle 24"/>
          <p:cNvSpPr/>
          <p:nvPr/>
        </p:nvSpPr>
        <p:spPr>
          <a:xfrm>
            <a:off x="8933688" y="1691640"/>
            <a:ext cx="251460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extBox 25"/>
          <p:cNvSpPr txBox="1"/>
          <p:nvPr/>
        </p:nvSpPr>
        <p:spPr>
          <a:xfrm>
            <a:off x="9070848" y="1828800"/>
            <a:ext cx="2240280" cy="3657600"/>
          </a:xfrm>
          <a:prstGeom prst="rect">
            <a:avLst/>
          </a:prstGeom>
          <a:noFill/>
        </p:spPr>
        <p:txBody>
          <a:bodyPr wrap="square" lIns="0" rIns="0" tIns="0" bIns="0">
            <a:spAutoFit/>
          </a:bodyPr>
          <a:lstStyle/>
          <a:p>
            <a:pPr>
              <a:defRPr sz="950" b="1">
                <a:solidFill>
                  <a:srgbClr val="E65100"/>
                </a:solidFill>
                <a:latin typeface="Segoe UI"/>
              </a:defRPr>
            </a:pPr>
            <a:r>
              <a:t>DỊCH VỤ AI &amp; API NGOÀI</a:t>
            </a:r>
          </a:p>
          <a:p>
            <a:pPr>
              <a:defRPr sz="1300" b="1">
                <a:solidFill>
                  <a:srgbClr val="0F2C59"/>
                </a:solidFill>
                <a:latin typeface="Segoe UI"/>
              </a:defRPr>
            </a:pPr>
            <a:r>
              <a:t>Python &amp; OpenCLIP</a:t>
            </a:r>
          </a:p>
          <a:p>
            <a:pPr>
              <a:spcAft>
                <a:spcPts val="800"/>
              </a:spcAft>
              <a:defRPr sz="950">
                <a:solidFill>
                  <a:srgbClr val="64748B"/>
                </a:solidFill>
                <a:latin typeface="Segoe UI"/>
              </a:defRPr>
            </a:pPr>
            <a:r>
              <a:t>Microservice (Port 8020)</a:t>
            </a:r>
          </a:p>
          <a:p>
            <a:pPr>
              <a:spcAft>
                <a:spcPts val="400"/>
              </a:spcAft>
              <a:defRPr sz="950">
                <a:solidFill>
                  <a:srgbClr val="1E293B"/>
                </a:solidFill>
                <a:latin typeface="Segoe UI"/>
              </a:defRPr>
            </a:pPr>
            <a:r>
              <a:t>• Python 3.12 &amp; FastAPI chạy độc lập trên cổng 8020.</a:t>
            </a:r>
          </a:p>
          <a:p>
            <a:pPr>
              <a:spcAft>
                <a:spcPts val="400"/>
              </a:spcAft>
              <a:defRPr sz="950">
                <a:solidFill>
                  <a:srgbClr val="1E293B"/>
                </a:solidFill>
                <a:latin typeface="Segoe UI"/>
              </a:defRPr>
            </a:pPr>
            <a:r>
              <a:t>• Mô hình OpenCLIP ViT-B/32 trích xuất vector đặc trưng 512 chiều.</a:t>
            </a:r>
          </a:p>
          <a:p>
            <a:pPr>
              <a:spcAft>
                <a:spcPts val="400"/>
              </a:spcAft>
              <a:defRPr sz="950">
                <a:solidFill>
                  <a:srgbClr val="1E293B"/>
                </a:solidFill>
                <a:latin typeface="Segoe UI"/>
              </a:defRPr>
            </a:pPr>
            <a:r>
              <a:t>• Cosine Similarity tìm sản phẩm tương đồng trực quan.</a:t>
            </a:r>
          </a:p>
          <a:p>
            <a:pPr>
              <a:spcAft>
                <a:spcPts val="400"/>
              </a:spcAft>
              <a:defRPr sz="950">
                <a:solidFill>
                  <a:srgbClr val="1E293B"/>
                </a:solidFill>
                <a:latin typeface="Segoe UI"/>
              </a:defRPr>
            </a:pPr>
            <a:r>
              <a:t>• Open-Meteo REST API cung cấp tiện ích thời tiết chân trang.</a:t>
            </a:r>
          </a:p>
        </p:txBody>
      </p:sp>
      <p:sp xmlns:a="http://schemas.openxmlformats.org/drawingml/2006/main">
        <p:nvSpPr>
          <p:cNvPr id="27" name="Rounded Rectangle 26"/>
          <p:cNvSpPr/>
          <p:nvPr/>
        </p:nvSpPr>
        <p:spPr>
          <a:xfrm>
            <a:off x="731520" y="5760720"/>
            <a:ext cx="10725912" cy="59436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868680" y="5833872"/>
            <a:ext cx="10451592" cy="457200"/>
          </a:xfrm>
          <a:prstGeom prst="rect">
            <a:avLst/>
          </a:prstGeom>
          <a:noFill/>
        </p:spPr>
        <p:txBody>
          <a:bodyPr wrap="square" lIns="0" rIns="0" tIns="0" bIns="0">
            <a:spAutoFit/>
          </a:bodyPr>
          <a:lstStyle/>
          <a:p>
            <a:r>
              <a:rPr sz="1000" b="1">
                <a:solidFill>
                  <a:srgbClr val="312E81"/>
                </a:solidFill>
                <a:latin typeface="Segoe UI"/>
              </a:rPr>
              <a:t>Nguyên tắc thiết kế phân ly (Decoupled Architecture): </a:t>
            </a:r>
            <a:r>
              <a:rPr sz="950">
                <a:solidFill>
                  <a:srgbClr val="1E293B"/>
                </a:solidFill>
                <a:latin typeface="Segoe UI"/>
              </a:rPr>
              <a:t>Laravel đóng vai trò hạt nhân điều phối giao dịch mua hàng. Dịch vụ AI và Open-Meteo chạy độc lập; nếu microservice AI hoặc mạng gián đoạn, chức năng đặt hàng cốt lõi của website vẫn hoạt động ổn định 100%.</a:t>
            </a:r>
          </a:p>
        </p:txBody>
      </p:sp>
    </p:spTree>
    <p:extLst>
      <p:ext uri="{BB962C8B-B14F-4D97-AF65-F5344CB8AC3E}">
        <p14:creationId xmlns:p14="http://schemas.microsoft.com/office/powerpoint/2010/main" val="17396986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965ff51b25c44f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1" name="TextBox 10"/>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Tác Nhân &amp; Biểu Đồ Trường Hợp Sử Dụng (Use Case)</a:t>
            </a:r>
          </a:p>
        </p:txBody>
      </p:sp>
      <p:sp xmlns:a="http://schemas.openxmlformats.org/drawingml/2006/main">
        <p:nvSpPr>
          <p:cNvPr id="12" name="TextBox 11"/>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Phân định rõ ràng quyền hạn giữa 3 đối tượng tác nhân: Khách vãng lai, Khách hàng và Quản trị viên</a:t>
            </a:r>
          </a:p>
        </p:txBody>
      </p:sp>
      <p:sp xmlns:a="http://schemas.openxmlformats.org/drawingml/2006/main">
        <p:nvSpPr>
          <p:cNvPr id="13" name="Rounded Rectangle 12"/>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06 / 18</a:t>
            </a:r>
          </a:p>
        </p:txBody>
      </p:sp>
      <p:sp xmlns:a="http://schemas.openxmlformats.org/drawingml/2006/main">
        <p:nvSpPr>
          <p:cNvPr id="14" name="Rounded Rectangle 13"/>
          <p:cNvSpPr/>
          <p:nvPr/>
        </p:nvSpPr>
        <p:spPr>
          <a:xfrm>
            <a:off x="731520" y="1691640"/>
            <a:ext cx="438912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15" name="Picture 14" descr="image.png"/>
          <p:cNvPicPr>
            <a:picLocks noChangeAspect="1"/>
          </p:cNvPicPr>
          <p:nvPr/>
        </p:nvPicPr>
        <p:blipFill>
          <a:blip r:embed="rId4"/>
          <a:stretch>
            <a:fillRect/>
          </a:stretch>
        </p:blipFill>
        <p:spPr>
          <a:xfrm>
            <a:off x="1299849" y="1801368"/>
            <a:ext cx="3252460" cy="4050791"/>
          </a:xfrm>
          <a:prstGeom prst="rect">
            <a:avLst/>
          </a:prstGeom>
        </p:spPr>
      </p:pic>
      <p:sp xmlns:a="http://schemas.openxmlformats.org/drawingml/2006/main">
        <p:nvSpPr>
          <p:cNvPr id="16" name="TextBox 15"/>
          <p:cNvSpPr txBox="1"/>
          <p:nvPr/>
        </p:nvSpPr>
        <p:spPr>
          <a:xfrm>
            <a:off x="841248" y="5916168"/>
            <a:ext cx="4169663" cy="347472"/>
          </a:xfrm>
          <a:prstGeom prst="rect">
            <a:avLst/>
          </a:prstGeom>
          <a:noFill/>
        </p:spPr>
        <p:txBody>
          <a:bodyPr wrap="square" lIns="0" rIns="0" tIns="0" bIns="0">
            <a:spAutoFit/>
          </a:bodyPr>
          <a:lstStyle/>
          <a:p>
            <a:pPr algn="ctr">
              <a:defRPr sz="950" i="1">
                <a:solidFill>
                  <a:srgbClr val="64748B"/>
                </a:solidFill>
                <a:latin typeface="Segoe UI"/>
              </a:defRPr>
            </a:pPr>
            <a:r>
              <a:t>Sơ đồ Use Case Khách hàng &amp; Quản trị viên</a:t>
            </a:r>
          </a:p>
        </p:txBody>
      </p:sp>
      <p:sp xmlns:a="http://schemas.openxmlformats.org/drawingml/2006/main">
        <p:nvSpPr>
          <p:cNvPr id="17" name="Rounded Rectangle 16"/>
          <p:cNvSpPr/>
          <p:nvPr/>
        </p:nvSpPr>
        <p:spPr>
          <a:xfrm>
            <a:off x="5303520" y="1691640"/>
            <a:ext cx="6153912"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TextBox 17"/>
          <p:cNvSpPr txBox="1"/>
          <p:nvPr/>
        </p:nvSpPr>
        <p:spPr>
          <a:xfrm>
            <a:off x="5486400" y="1828800"/>
            <a:ext cx="5788152" cy="2697480"/>
          </a:xfrm>
          <a:prstGeom prst="rect">
            <a:avLst/>
          </a:prstGeom>
          <a:noFill/>
        </p:spPr>
        <p:txBody>
          <a:bodyPr wrap="square" lIns="0" rIns="0" tIns="0" bIns="0">
            <a:spAutoFit/>
          </a:bodyPr>
          <a:lstStyle/>
          <a:p>
            <a:pPr>
              <a:spcAft>
                <a:spcPts val="800"/>
              </a:spcAft>
              <a:defRPr sz="1200" b="1">
                <a:solidFill>
                  <a:srgbClr val="0F2C59"/>
                </a:solidFill>
                <a:latin typeface="Segoe UI"/>
              </a:defRPr>
            </a:pPr>
            <a:r>
              <a:t>👥  MA TRẬN PHÂN QUYỀN THEO VAI TRÒ (ROLE MATRIX)</a:t>
            </a:r>
          </a:p>
          <a:p>
            <a:pPr>
              <a:spcAft>
                <a:spcPts val="600"/>
              </a:spcAft>
            </a:pPr>
            <a:r>
              <a:rPr sz="1050" b="1">
                <a:solidFill>
                  <a:srgbClr val="1E293B"/>
                </a:solidFill>
                <a:latin typeface="Segoe UI"/>
              </a:rPr>
              <a:t>• Khách vãng lai (Guest): </a:t>
            </a:r>
            <a:r>
              <a:rPr sz="1000">
                <a:solidFill>
                  <a:srgbClr val="1E293B"/>
                </a:solidFill>
                <a:latin typeface="Segoe UI"/>
              </a:rPr>
              <a:t>Xem danh mục sản phẩm, tìm kiếm từ khóa, tìm bằng hình ảnh AI, xem chi tiết sản phẩm và sử dụng giỏ hàng Session tạm thời trước khi đăng nhập.</a:t>
            </a:r>
          </a:p>
          <a:p>
            <a:pPr>
              <a:spcAft>
                <a:spcPts val="600"/>
              </a:spcAft>
            </a:pPr>
            <a:r>
              <a:rPr sz="1050" b="1">
                <a:solidFill>
                  <a:srgbClr val="C2410C"/>
                </a:solidFill>
                <a:latin typeface="Segoe UI"/>
              </a:rPr>
              <a:t>• Khách hàng (Customer): </a:t>
            </a:r>
            <a:r>
              <a:rPr sz="1000">
                <a:solidFill>
                  <a:srgbClr val="1E293B"/>
                </a:solidFill>
                <a:latin typeface="Segoe UI"/>
              </a:rPr>
              <a:t>Kế thừa toàn bộ quyền Guest + Tiến hành đặt hàng COD nguyên tử, theo dõi danh sách lịch sử đơn hàng cá nhân và gửi yêu cầu hủy đơn trạng thái Chờ xác nhận.</a:t>
            </a:r>
          </a:p>
          <a:p>
            <a:pPr>
              <a:spcAft>
                <a:spcPts val="600"/>
              </a:spcAft>
            </a:pPr>
            <a:r>
              <a:rPr sz="1050" b="1">
                <a:solidFill>
                  <a:srgbClr val="0F2C59"/>
                </a:solidFill>
                <a:latin typeface="Segoe UI"/>
              </a:rPr>
              <a:t>• Quản trị viên (Admin): </a:t>
            </a:r>
            <a:r>
              <a:rPr sz="1000">
                <a:solidFill>
                  <a:srgbClr val="1E293B"/>
                </a:solidFill>
                <a:latin typeface="Segoe UI"/>
              </a:rPr>
              <a:t>Truy cập bảng điều khiển Admin Dashboard, toàn quyền CRUD Danh mục &amp; Sản phẩm, cập nhật trạng thái đơn hàng (Đang giao, Hoàn thành, Hủy đơn) và xem báo cáo đối chiếu.</a:t>
            </a:r>
          </a:p>
        </p:txBody>
      </p:sp>
      <p:sp xmlns:a="http://schemas.openxmlformats.org/drawingml/2006/main">
        <p:nvSpPr>
          <p:cNvPr id="19" name="Rounded Rectangle 18"/>
          <p:cNvSpPr/>
          <p:nvPr/>
        </p:nvSpPr>
        <p:spPr>
          <a:xfrm>
            <a:off x="5303520" y="4800600"/>
            <a:ext cx="6153912" cy="150876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5486400" y="4892040"/>
            <a:ext cx="5788152" cy="1325880"/>
          </a:xfrm>
          <a:prstGeom prst="rect">
            <a:avLst/>
          </a:prstGeom>
          <a:noFill/>
        </p:spPr>
        <p:txBody>
          <a:bodyPr wrap="square" lIns="0" rIns="0" tIns="0" bIns="0">
            <a:spAutoFit/>
          </a:bodyPr>
          <a:lstStyle/>
          <a:p>
            <a:pPr>
              <a:spcAft>
                <a:spcPts val="400"/>
              </a:spcAft>
              <a:defRPr sz="1100" b="1">
                <a:solidFill>
                  <a:srgbClr val="312E81"/>
                </a:solidFill>
                <a:latin typeface="Segoe UI"/>
              </a:defRPr>
            </a:pPr>
            <a:r>
              <a:t>🛡️  NGUYÊN TẮC BẢO MẬT PHÂN QUYỀN (SERVER-SIDE ENFORCEMENT)</a:t>
            </a:r>
          </a:p>
          <a:p>
            <a:pPr>
              <a:defRPr sz="950">
                <a:solidFill>
                  <a:srgbClr val="1E293B"/>
                </a:solidFill>
                <a:latin typeface="Segoe UI"/>
              </a:defRPr>
            </a:pPr>
            <a:r>
              <a:t>Mọi yêu cầu truy cập trang quản trị hoặc thay đổi dữ liệu nhạy cảm đều được bảo vệ nghiêm ngặt bằng Middleware CheckRole ở tầng Controller (trả về HTTP 403 Forbidden). Hệ thống tuyệt đối không tin cậy việc chỉ ẩn nút trên giao diện người dùng.</a:t>
            </a:r>
          </a:p>
        </p:txBody>
      </p:sp>
    </p:spTree>
    <p:extLst>
      <p:ext uri="{BB962C8B-B14F-4D97-AF65-F5344CB8AC3E}">
        <p14:creationId xmlns:p14="http://schemas.microsoft.com/office/powerpoint/2010/main" val="2786535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8edcf2126374e5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21" name="TextBox 20"/>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Thiết Kế Cơ Sở Dữ Liệu Quan Hệ (ERD)</a:t>
            </a:r>
          </a:p>
        </p:txBody>
      </p:sp>
      <p:sp xmlns:a="http://schemas.openxmlformats.org/drawingml/2006/main">
        <p:nvSpPr>
          <p:cNvPr id="22" name="TextBox 21"/>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Năm thực thể nghiệp vụ cốt lõi chuẩn hóa quan hệ 1:N và ràng buộc toàn vẹn tham chiếu</a:t>
            </a:r>
          </a:p>
        </p:txBody>
      </p:sp>
      <p:sp xmlns:a="http://schemas.openxmlformats.org/drawingml/2006/main">
        <p:nvSpPr>
          <p:cNvPr id="23" name="Rounded Rectangle 22"/>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07 / 18</a:t>
            </a:r>
          </a:p>
        </p:txBody>
      </p:sp>
      <p:sp xmlns:a="http://schemas.openxmlformats.org/drawingml/2006/main">
        <p:nvSpPr>
          <p:cNvPr id="24" name="Rounded Rectangle 23"/>
          <p:cNvSpPr/>
          <p:nvPr/>
        </p:nvSpPr>
        <p:spPr>
          <a:xfrm>
            <a:off x="731520" y="1691640"/>
            <a:ext cx="612648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25" name="Picture 24" descr="image.png"/>
          <p:cNvPicPr>
            <a:picLocks noChangeAspect="1"/>
          </p:cNvPicPr>
          <p:nvPr/>
        </p:nvPicPr>
        <p:blipFill>
          <a:blip r:embed="rId4"/>
          <a:stretch>
            <a:fillRect/>
          </a:stretch>
        </p:blipFill>
        <p:spPr>
          <a:xfrm>
            <a:off x="907066" y="1801368"/>
            <a:ext cx="5775386" cy="4050791"/>
          </a:xfrm>
          <a:prstGeom prst="rect">
            <a:avLst/>
          </a:prstGeom>
        </p:spPr>
      </p:pic>
      <p:sp xmlns:a="http://schemas.openxmlformats.org/drawingml/2006/main">
        <p:nvSpPr>
          <p:cNvPr id="26" name="TextBox 25"/>
          <p:cNvSpPr txBox="1"/>
          <p:nvPr/>
        </p:nvSpPr>
        <p:spPr>
          <a:xfrm>
            <a:off x="841248" y="5916168"/>
            <a:ext cx="5907024" cy="347472"/>
          </a:xfrm>
          <a:prstGeom prst="rect">
            <a:avLst/>
          </a:prstGeom>
          <a:noFill/>
        </p:spPr>
        <p:txBody>
          <a:bodyPr wrap="square" lIns="0" rIns="0" tIns="0" bIns="0">
            <a:spAutoFit/>
          </a:bodyPr>
          <a:lstStyle/>
          <a:p>
            <a:pPr algn="ctr">
              <a:defRPr sz="950" i="1">
                <a:solidFill>
                  <a:srgbClr val="64748B"/>
                </a:solidFill>
                <a:latin typeface="Segoe UI"/>
              </a:defRPr>
            </a:pPr>
            <a:r>
              <a:t>Sơ đồ quan hệ thực thể SmartCart (ERD Diagram)</a:t>
            </a:r>
          </a:p>
        </p:txBody>
      </p:sp>
      <p:sp xmlns:a="http://schemas.openxmlformats.org/drawingml/2006/main">
        <p:nvSpPr>
          <p:cNvPr id="27" name="Rounded Rectangle 26"/>
          <p:cNvSpPr/>
          <p:nvPr/>
        </p:nvSpPr>
        <p:spPr>
          <a:xfrm>
            <a:off x="7040880" y="1691640"/>
            <a:ext cx="4416552"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7205472" y="1810512"/>
            <a:ext cx="4087368" cy="2880360"/>
          </a:xfrm>
          <a:prstGeom prst="rect">
            <a:avLst/>
          </a:prstGeom>
          <a:noFill/>
        </p:spPr>
        <p:txBody>
          <a:bodyPr wrap="square" lIns="0" rIns="0" tIns="0" bIns="0">
            <a:spAutoFit/>
          </a:bodyPr>
          <a:lstStyle/>
          <a:p>
            <a:pPr>
              <a:spcAft>
                <a:spcPts val="600"/>
              </a:spcAft>
              <a:defRPr sz="1150" b="1">
                <a:solidFill>
                  <a:srgbClr val="0F2C59"/>
                </a:solidFill>
                <a:latin typeface="Segoe UI"/>
              </a:defRPr>
            </a:pPr>
            <a:r>
              <a:t>🗄️  5 THỰC THỂ NGHIỆP VỤ CỐT LÕI</a:t>
            </a:r>
          </a:p>
          <a:p>
            <a:pPr>
              <a:spcAft>
                <a:spcPts val="350"/>
              </a:spcAft>
            </a:pPr>
            <a:r>
              <a:rPr sz="950" b="1">
                <a:solidFill>
                  <a:srgbClr val="C2410C"/>
                </a:solidFill>
                <a:latin typeface="Consolas"/>
              </a:rPr>
              <a:t>• users: </a:t>
            </a:r>
            <a:r>
              <a:rPr sz="950">
                <a:solidFill>
                  <a:srgbClr val="1E293B"/>
                </a:solidFill>
                <a:latin typeface="Segoe UI"/>
              </a:rPr>
              <a:t>Tài khoản khách &amp; quản trị; lưu mật khẩu Bcrypt, email duy nhất và vai trò (role).</a:t>
            </a:r>
          </a:p>
          <a:p>
            <a:pPr>
              <a:spcAft>
                <a:spcPts val="350"/>
              </a:spcAft>
            </a:pPr>
            <a:r>
              <a:rPr sz="950" b="1">
                <a:solidFill>
                  <a:srgbClr val="C2410C"/>
                </a:solidFill>
                <a:latin typeface="Consolas"/>
              </a:rPr>
              <a:t>• categories: </a:t>
            </a:r>
            <a:r>
              <a:rPr sz="950">
                <a:solidFill>
                  <a:srgbClr val="1E293B"/>
                </a:solidFill>
                <a:latin typeface="Segoe UI"/>
              </a:rPr>
              <a:t>Phân loại sản phẩm; định danh slug thân thiện SEO. Quan hệ 1 : N với products.</a:t>
            </a:r>
          </a:p>
          <a:p>
            <a:pPr>
              <a:spcAft>
                <a:spcPts val="350"/>
              </a:spcAft>
            </a:pPr>
            <a:r>
              <a:rPr sz="950" b="1">
                <a:solidFill>
                  <a:srgbClr val="C2410C"/>
                </a:solidFill>
                <a:latin typeface="Consolas"/>
              </a:rPr>
              <a:t>• products: </a:t>
            </a:r>
            <a:r>
              <a:rPr sz="950">
                <a:solidFill>
                  <a:srgbClr val="1E293B"/>
                </a:solidFill>
                <a:latin typeface="Segoe UI"/>
              </a:rPr>
              <a:t>Tên, mô tả, giá niêm yết, số lượng tồn kho, ảnh đại diện và khóa ngoại category_id.</a:t>
            </a:r>
          </a:p>
          <a:p>
            <a:pPr>
              <a:spcAft>
                <a:spcPts val="350"/>
              </a:spcAft>
            </a:pPr>
            <a:r>
              <a:rPr sz="950" b="1">
                <a:solidFill>
                  <a:srgbClr val="C2410C"/>
                </a:solidFill>
                <a:latin typeface="Consolas"/>
              </a:rPr>
              <a:t>• orders: </a:t>
            </a:r>
            <a:r>
              <a:rPr sz="950">
                <a:solidFill>
                  <a:srgbClr val="1E293B"/>
                </a:solidFill>
                <a:latin typeface="Segoe UI"/>
              </a:rPr>
              <a:t>Khóa ngoại user_id, tổng tiền, địa chỉ nhận hàng, số điện thoại, ghi chú và trạng thái đơn.</a:t>
            </a:r>
          </a:p>
          <a:p>
            <a:pPr>
              <a:spcAft>
                <a:spcPts val="350"/>
              </a:spcAft>
            </a:pPr>
            <a:r>
              <a:rPr sz="950" b="1">
                <a:solidFill>
                  <a:srgbClr val="C2410C"/>
                </a:solidFill>
                <a:latin typeface="Consolas"/>
              </a:rPr>
              <a:t>• order_items: </a:t>
            </a:r>
            <a:r>
              <a:rPr sz="950">
                <a:solidFill>
                  <a:srgbClr val="1E293B"/>
                </a:solidFill>
                <a:latin typeface="Segoe UI"/>
              </a:rPr>
              <a:t>Bảng chi tiết trung gian lưu snapshot tên, đơn giá tại thời điểm mua và số lượng mặt hàng.</a:t>
            </a:r>
          </a:p>
        </p:txBody>
      </p:sp>
      <p:sp xmlns:a="http://schemas.openxmlformats.org/drawingml/2006/main">
        <p:nvSpPr>
          <p:cNvPr id="29" name="Rounded Rectangle 28"/>
          <p:cNvSpPr/>
          <p:nvPr/>
        </p:nvSpPr>
        <p:spPr>
          <a:xfrm>
            <a:off x="7040880" y="4937760"/>
            <a:ext cx="4416552" cy="1371600"/>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7205472" y="5010912"/>
            <a:ext cx="4087368" cy="1188720"/>
          </a:xfrm>
          <a:prstGeom prst="rect">
            <a:avLst/>
          </a:prstGeom>
          <a:noFill/>
        </p:spPr>
        <p:txBody>
          <a:bodyPr wrap="square" lIns="0" rIns="0" tIns="0" bIns="0">
            <a:spAutoFit/>
          </a:bodyPr>
          <a:lstStyle/>
          <a:p>
            <a:pPr>
              <a:spcAft>
                <a:spcPts val="300"/>
              </a:spcAft>
              <a:defRPr sz="1050" b="1">
                <a:solidFill>
                  <a:srgbClr val="C2410C"/>
                </a:solidFill>
                <a:latin typeface="Segoe UI"/>
              </a:defRPr>
            </a:pPr>
            <a:r>
              <a:t>🔒  RÀNG BUỘC THAM CHIẾU (FOREIGN KEYS)</a:t>
            </a:r>
          </a:p>
          <a:p>
            <a:pPr>
              <a:defRPr sz="950">
                <a:solidFill>
                  <a:srgbClr val="1E293B"/>
                </a:solidFill>
                <a:latin typeface="Segoe UI"/>
              </a:defRPr>
            </a:pPr>
            <a:r>
              <a:t>Áp dụng cơ chế ON DELETE RESTRICT tại các khóa ngoại, ngăn chặn xóa danh mục hoặc sản phẩm khi đang được liên kết trong đơn hàng hiện hữu.</a:t>
            </a:r>
          </a:p>
        </p:txBody>
      </p:sp>
    </p:spTree>
    <p:extLst>
      <p:ext uri="{BB962C8B-B14F-4D97-AF65-F5344CB8AC3E}">
        <p14:creationId xmlns:p14="http://schemas.microsoft.com/office/powerpoint/2010/main" val="15483733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a944deeeb4e4ba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5" name="TextBox 14"/>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Ràng Buộc Nghiệp Vụ &amp; Toàn Vẹn Dữ Liệu</a:t>
            </a:r>
          </a:p>
        </p:txBody>
      </p:sp>
      <p:sp xmlns:a="http://schemas.openxmlformats.org/drawingml/2006/main">
        <p:nvSpPr>
          <p:cNvPr id="16" name="TextBox 15"/>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Các nguyên tắc kỹ thuật đảm bảo tính chính xác tuyệt đối của dữ liệu giao dịch tài chính và kho hàng</a:t>
            </a:r>
          </a:p>
        </p:txBody>
      </p:sp>
      <p:sp xmlns:a="http://schemas.openxmlformats.org/drawingml/2006/main">
        <p:nvSpPr>
          <p:cNvPr id="17" name="Rounded Rectangle 16"/>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08 / 18</a:t>
            </a:r>
          </a:p>
        </p:txBody>
      </p:sp>
      <p:sp xmlns:a="http://schemas.openxmlformats.org/drawingml/2006/main">
        <p:nvSpPr>
          <p:cNvPr id="18" name="Rounded Rectangle 17"/>
          <p:cNvSpPr/>
          <p:nvPr/>
        </p:nvSpPr>
        <p:spPr>
          <a:xfrm>
            <a:off x="731520" y="1691640"/>
            <a:ext cx="5230368"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914400" y="1828800"/>
            <a:ext cx="4864607" cy="1920240"/>
          </a:xfrm>
          <a:prstGeom prst="rect">
            <a:avLst/>
          </a:prstGeom>
          <a:noFill/>
        </p:spPr>
        <p:txBody>
          <a:bodyPr wrap="square" lIns="0" rIns="0" tIns="0" bIns="0">
            <a:spAutoFit/>
          </a:bodyPr>
          <a:lstStyle/>
          <a:p>
            <a:pPr>
              <a:defRPr sz="1150" b="1">
                <a:solidFill>
                  <a:srgbClr val="0F2C59"/>
                </a:solidFill>
                <a:latin typeface="Segoe UI"/>
              </a:defRPr>
            </a:pPr>
            <a:r>
              <a:t>🔗  Ràng Buộc Khóa Ngoại (Foreign Key Constraints)</a:t>
            </a:r>
          </a:p>
          <a:p>
            <a:pPr>
              <a:spcAft>
                <a:spcPts val="600"/>
              </a:spcAft>
              <a:defRPr sz="950" i="1">
                <a:solidFill>
                  <a:srgbClr val="64748B"/>
                </a:solidFill>
                <a:latin typeface="Segoe UI"/>
              </a:defRPr>
            </a:pPr>
            <a:r>
              <a:t>Bảo vệ liên kết thực thể dữ liệu</a:t>
            </a:r>
          </a:p>
          <a:p>
            <a:pPr>
              <a:spcAft>
                <a:spcPts val="300"/>
              </a:spcAft>
              <a:defRPr sz="950">
                <a:solidFill>
                  <a:srgbClr val="1E293B"/>
                </a:solidFill>
                <a:latin typeface="Segoe UI"/>
              </a:defRPr>
            </a:pPr>
            <a:r>
              <a:t>• Cấu hình foreignId('category_id')-&gt;constrained() trên bảng products.</a:t>
            </a:r>
          </a:p>
          <a:p>
            <a:pPr>
              <a:spcAft>
                <a:spcPts val="300"/>
              </a:spcAft>
              <a:defRPr sz="950">
                <a:solidFill>
                  <a:srgbClr val="1E293B"/>
                </a:solidFill>
                <a:latin typeface="Segoe UI"/>
              </a:defRPr>
            </a:pPr>
            <a:r>
              <a:t>• Cấu hình foreignId('user_id')-&gt;constrained() trên bảng orders.</a:t>
            </a:r>
          </a:p>
          <a:p>
            <a:pPr>
              <a:spcAft>
                <a:spcPts val="300"/>
              </a:spcAft>
              <a:defRPr sz="950">
                <a:solidFill>
                  <a:srgbClr val="1E293B"/>
                </a:solidFill>
                <a:latin typeface="Segoe UI"/>
              </a:defRPr>
            </a:pPr>
            <a:r>
              <a:t>• Cơ chế ON DELETE RESTRICT chặn đứng thao tác xóa danh mục hoặc sản phẩm đang phát sinh trong các đơn hàng hiện hữu.</a:t>
            </a:r>
          </a:p>
        </p:txBody>
      </p:sp>
      <p:sp xmlns:a="http://schemas.openxmlformats.org/drawingml/2006/main">
        <p:nvSpPr>
          <p:cNvPr id="20" name="Rounded Rectangle 19"/>
          <p:cNvSpPr/>
          <p:nvPr/>
        </p:nvSpPr>
        <p:spPr>
          <a:xfrm>
            <a:off x="6227064" y="1691640"/>
            <a:ext cx="5230368"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6409944" y="1828800"/>
            <a:ext cx="4864607" cy="1920240"/>
          </a:xfrm>
          <a:prstGeom prst="rect">
            <a:avLst/>
          </a:prstGeom>
          <a:noFill/>
        </p:spPr>
        <p:txBody>
          <a:bodyPr wrap="square" lIns="0" rIns="0" tIns="0" bIns="0">
            <a:spAutoFit/>
          </a:bodyPr>
          <a:lstStyle/>
          <a:p>
            <a:pPr>
              <a:defRPr sz="1150" b="1">
                <a:solidFill>
                  <a:srgbClr val="0F2C59"/>
                </a:solidFill>
                <a:latin typeface="Segoe UI"/>
              </a:defRPr>
            </a:pPr>
            <a:r>
              <a:t>📸  Snapshot Dữ Liệu Đơn Hàng (Order Item Snapshot)</a:t>
            </a:r>
          </a:p>
          <a:p>
            <a:pPr>
              <a:spcAft>
                <a:spcPts val="600"/>
              </a:spcAft>
              <a:defRPr sz="950" i="1">
                <a:solidFill>
                  <a:srgbClr val="64748B"/>
                </a:solidFill>
                <a:latin typeface="Segoe UI"/>
              </a:defRPr>
            </a:pPr>
            <a:r>
              <a:t>Độc lập dữ liệu lịch sử mua sắm</a:t>
            </a:r>
          </a:p>
          <a:p>
            <a:pPr>
              <a:spcAft>
                <a:spcPts val="300"/>
              </a:spcAft>
              <a:defRPr sz="950">
                <a:solidFill>
                  <a:srgbClr val="1E293B"/>
                </a:solidFill>
                <a:latin typeface="Segoe UI"/>
              </a:defRPr>
            </a:pPr>
            <a:r>
              <a:t>• Bảng order_items lưu trữ trực tiếp price và tên sản phẩm tại thời điểm nhấn nút đặt hàng.</a:t>
            </a:r>
          </a:p>
          <a:p>
            <a:pPr>
              <a:spcAft>
                <a:spcPts val="300"/>
              </a:spcAft>
              <a:defRPr sz="950">
                <a:solidFill>
                  <a:srgbClr val="1E293B"/>
                </a:solidFill>
                <a:latin typeface="Segoe UI"/>
              </a:defRPr>
            </a:pPr>
            <a:r>
              <a:t>• Nếu Quản trị viên thay đổi giá bán hoặc tên sản phẩm trong tương lai, số liệu đơn cũ hoàn toàn không bị ảnh hưởng.</a:t>
            </a:r>
          </a:p>
          <a:p>
            <a:pPr>
              <a:spcAft>
                <a:spcPts val="300"/>
              </a:spcAft>
              <a:defRPr sz="950">
                <a:solidFill>
                  <a:srgbClr val="1E293B"/>
                </a:solidFill>
                <a:latin typeface="Segoe UI"/>
              </a:defRPr>
            </a:pPr>
            <a:r>
              <a:t>• Bảo đảm tính pháp lý và báo cáo tài chính minh bạch cho cả khách hàng và doanh nghiệp.</a:t>
            </a:r>
          </a:p>
        </p:txBody>
      </p:sp>
      <p:sp xmlns:a="http://schemas.openxmlformats.org/drawingml/2006/main">
        <p:nvSpPr>
          <p:cNvPr id="22" name="Rounded Rectangle 21"/>
          <p:cNvSpPr/>
          <p:nvPr/>
        </p:nvSpPr>
        <p:spPr>
          <a:xfrm>
            <a:off x="731520" y="4087368"/>
            <a:ext cx="5230368"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914400" y="4224528"/>
            <a:ext cx="4864607" cy="1920240"/>
          </a:xfrm>
          <a:prstGeom prst="rect">
            <a:avLst/>
          </a:prstGeom>
          <a:noFill/>
        </p:spPr>
        <p:txBody>
          <a:bodyPr wrap="square" lIns="0" rIns="0" tIns="0" bIns="0">
            <a:spAutoFit/>
          </a:bodyPr>
          <a:lstStyle/>
          <a:p>
            <a:pPr>
              <a:defRPr sz="1150" b="1">
                <a:solidFill>
                  <a:srgbClr val="0F2C59"/>
                </a:solidFill>
                <a:latin typeface="Segoe UI"/>
              </a:defRPr>
            </a:pPr>
            <a:r>
              <a:t>🔒  Khóa Duy Nhất Dòng Hàng (Unique Composite Constraint)</a:t>
            </a:r>
          </a:p>
          <a:p>
            <a:pPr>
              <a:spcAft>
                <a:spcPts val="600"/>
              </a:spcAft>
              <a:defRPr sz="950" i="1">
                <a:solidFill>
                  <a:srgbClr val="64748B"/>
                </a:solidFill>
                <a:latin typeface="Segoe UI"/>
              </a:defRPr>
            </a:pPr>
            <a:r>
              <a:t>Chống trùng lặp dữ liệu mặt hàng</a:t>
            </a:r>
          </a:p>
          <a:p>
            <a:pPr>
              <a:spcAft>
                <a:spcPts val="300"/>
              </a:spcAft>
              <a:defRPr sz="950">
                <a:solidFill>
                  <a:srgbClr val="1E293B"/>
                </a:solidFill>
                <a:latin typeface="Segoe UI"/>
              </a:defRPr>
            </a:pPr>
            <a:r>
              <a:t>• Cặp khóa (order_id, product_id) được cấu hình duy nhất trên mỗi dòng order_items.</a:t>
            </a:r>
          </a:p>
          <a:p>
            <a:pPr>
              <a:spcAft>
                <a:spcPts val="300"/>
              </a:spcAft>
              <a:defRPr sz="950">
                <a:solidFill>
                  <a:srgbClr val="1E293B"/>
                </a:solidFill>
                <a:latin typeface="Segoe UI"/>
              </a:defRPr>
            </a:pPr>
            <a:r>
              <a:t>• Ngăn chặn triệt để hành vi chèn trùng lặp một mặt hàng nhiều lần trong cùng một đơn hàng.</a:t>
            </a:r>
          </a:p>
          <a:p>
            <a:pPr>
              <a:spcAft>
                <a:spcPts val="300"/>
              </a:spcAft>
              <a:defRPr sz="950">
                <a:solidFill>
                  <a:srgbClr val="1E293B"/>
                </a:solidFill>
                <a:latin typeface="Segoe UI"/>
              </a:defRPr>
            </a:pPr>
            <a:r>
              <a:t>• Toàn bộ số lượng của cùng một sản phẩm luôn được gộp thành một dòng hàng duy nhất với số lượng tương ứng.</a:t>
            </a:r>
          </a:p>
        </p:txBody>
      </p:sp>
      <p:sp xmlns:a="http://schemas.openxmlformats.org/drawingml/2006/main">
        <p:nvSpPr>
          <p:cNvPr id="24" name="Rounded Rectangle 23"/>
          <p:cNvSpPr/>
          <p:nvPr/>
        </p:nvSpPr>
        <p:spPr>
          <a:xfrm>
            <a:off x="6227064" y="4087368"/>
            <a:ext cx="5230368"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6409944" y="4224528"/>
            <a:ext cx="4864607" cy="1920240"/>
          </a:xfrm>
          <a:prstGeom prst="rect">
            <a:avLst/>
          </a:prstGeom>
          <a:noFill/>
        </p:spPr>
        <p:txBody>
          <a:bodyPr wrap="square" lIns="0" rIns="0" tIns="0" bIns="0">
            <a:spAutoFit/>
          </a:bodyPr>
          <a:lstStyle/>
          <a:p>
            <a:pPr>
              <a:defRPr sz="1150" b="1">
                <a:solidFill>
                  <a:srgbClr val="0F2C59"/>
                </a:solidFill>
                <a:latin typeface="Segoe UI"/>
              </a:defRPr>
            </a:pPr>
            <a:r>
              <a:t>💰  Quy Chuẩn Tính Toán Tiền Tệ (Decimal &amp; Integer Math)</a:t>
            </a:r>
          </a:p>
          <a:p>
            <a:pPr>
              <a:spcAft>
                <a:spcPts val="600"/>
              </a:spcAft>
              <a:defRPr sz="950" i="1">
                <a:solidFill>
                  <a:srgbClr val="64748B"/>
                </a:solidFill>
                <a:latin typeface="Segoe UI"/>
              </a:defRPr>
            </a:pPr>
            <a:r>
              <a:t>Loại trừ sai số làm tròn số thực</a:t>
            </a:r>
          </a:p>
          <a:p>
            <a:pPr>
              <a:spcAft>
                <a:spcPts val="300"/>
              </a:spcAft>
              <a:defRPr sz="950">
                <a:solidFill>
                  <a:srgbClr val="1E293B"/>
                </a:solidFill>
                <a:latin typeface="Segoe UI"/>
              </a:defRPr>
            </a:pPr>
            <a:r>
              <a:t>• Giá tiền và tổng thanh toán lưu trữ kiểu DECIMAL(12,2) trên MySQL.</a:t>
            </a:r>
          </a:p>
          <a:p>
            <a:pPr>
              <a:spcAft>
                <a:spcPts val="300"/>
              </a:spcAft>
              <a:defRPr sz="950">
                <a:solidFill>
                  <a:srgbClr val="1E293B"/>
                </a:solidFill>
                <a:latin typeface="Segoe UI"/>
              </a:defRPr>
            </a:pPr>
            <a:r>
              <a:t>• Tầng xử lý Backend nhân 100 để tính toán trên tập số nguyên (Integer cents arithmetic).</a:t>
            </a:r>
          </a:p>
          <a:p>
            <a:pPr>
              <a:spcAft>
                <a:spcPts val="300"/>
              </a:spcAft>
              <a:defRPr sz="950">
                <a:solidFill>
                  <a:srgbClr val="1E293B"/>
                </a:solidFill>
                <a:latin typeface="Segoe UI"/>
              </a:defRPr>
            </a:pPr>
            <a:r>
              <a:t>• Loại trừ 100% sai số làm tròn số thực (Floating-point error), đảm bảo khớp từng đồng doanh thu.</a:t>
            </a:r>
          </a:p>
        </p:txBody>
      </p:sp>
    </p:spTree>
    <p:extLst>
      <p:ext uri="{BB962C8B-B14F-4D97-AF65-F5344CB8AC3E}">
        <p14:creationId xmlns:p14="http://schemas.microsoft.com/office/powerpoint/2010/main" val="8496112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a7e4539f050411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6" name="TextBox 15"/>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Xác Thực, Phân Quyền &amp; Bảo Vệ Truy Cập</a:t>
            </a:r>
          </a:p>
        </p:txBody>
      </p:sp>
      <p:sp xmlns:a="http://schemas.openxmlformats.org/drawingml/2006/main">
        <p:nvSpPr>
          <p:cNvPr id="17" name="TextBox 16"/>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Kiến trúc an toàn ứng dụng đa lớp phòng thủ chống lại các nguy cơ tấn công mạng phổ biến</a:t>
            </a:r>
          </a:p>
        </p:txBody>
      </p:sp>
      <p:sp xmlns:a="http://schemas.openxmlformats.org/drawingml/2006/main">
        <p:nvSpPr>
          <p:cNvPr id="18" name="Rounded Rectangle 17"/>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09 / 18</a:t>
            </a:r>
          </a:p>
        </p:txBody>
      </p:sp>
      <p:sp xmlns:a="http://schemas.openxmlformats.org/drawingml/2006/main">
        <p:nvSpPr>
          <p:cNvPr id="19" name="Rounded Rectangle 18"/>
          <p:cNvSpPr/>
          <p:nvPr/>
        </p:nvSpPr>
        <p:spPr>
          <a:xfrm>
            <a:off x="731520" y="1691640"/>
            <a:ext cx="1072591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914400" y="1801368"/>
            <a:ext cx="10360152" cy="1197864"/>
          </a:xfrm>
          <a:prstGeom prst="rect">
            <a:avLst/>
          </a:prstGeom>
          <a:noFill/>
        </p:spPr>
        <p:txBody>
          <a:bodyPr wrap="square" lIns="0" rIns="0" tIns="0" bIns="0">
            <a:spAutoFit/>
          </a:bodyPr>
          <a:lstStyle/>
          <a:p>
            <a:pPr>
              <a:spcAft>
                <a:spcPts val="400"/>
              </a:spcAft>
            </a:pPr>
            <a:r>
              <a:rPr sz="1200" b="1">
                <a:solidFill>
                  <a:srgbClr val="E65100"/>
                </a:solidFill>
                <a:latin typeface="Segoe UI"/>
              </a:rPr>
              <a:t>01. </a:t>
            </a:r>
            <a:r>
              <a:rPr sz="1200" b="1">
                <a:solidFill>
                  <a:srgbClr val="0F2C59"/>
                </a:solidFill>
                <a:latin typeface="Segoe UI"/>
              </a:rPr>
              <a:t>Xác Thực Tài Khoản &amp; Quản Lý Phiên Làm Việc (Authentication &amp; Session)</a:t>
            </a:r>
          </a:p>
          <a:p>
            <a:pPr>
              <a:spcAft>
                <a:spcPts val="250"/>
              </a:spcAft>
              <a:defRPr sz="950">
                <a:solidFill>
                  <a:srgbClr val="1E293B"/>
                </a:solidFill>
                <a:latin typeface="Segoe UI"/>
              </a:defRPr>
            </a:pPr>
            <a:r>
              <a:t>• Mật khẩu người dùng được băm một chiều an toàn bằng thuật toán Bcrypt có Salt ngẫu nhiên.</a:t>
            </a:r>
          </a:p>
          <a:p>
            <a:pPr>
              <a:spcAft>
                <a:spcPts val="250"/>
              </a:spcAft>
              <a:defRPr sz="950">
                <a:solidFill>
                  <a:srgbClr val="1E293B"/>
                </a:solidFill>
                <a:latin typeface="Segoe UI"/>
              </a:defRPr>
            </a:pPr>
            <a:r>
              <a:t>• Vai trò tài khoản đăng ký mới luôn mặc định là 'customer'; tuyệt đối không cho phép tự đăng ký role 'admin'.</a:t>
            </a:r>
          </a:p>
          <a:p>
            <a:pPr>
              <a:spcAft>
                <a:spcPts val="250"/>
              </a:spcAft>
              <a:defRPr sz="950">
                <a:solidFill>
                  <a:srgbClr val="1E293B"/>
                </a:solidFill>
                <a:latin typeface="Segoe UI"/>
              </a:defRPr>
            </a:pPr>
            <a:r>
              <a:t>• Tích hợp Rate Limiting giới hạn thử sai tối đa 5 lần/phút chống tấn công Brute-force mật khẩu.</a:t>
            </a:r>
          </a:p>
          <a:p>
            <a:pPr>
              <a:spcAft>
                <a:spcPts val="250"/>
              </a:spcAft>
              <a:defRPr sz="950">
                <a:solidFill>
                  <a:srgbClr val="1E293B"/>
                </a:solidFill>
                <a:latin typeface="Segoe UI"/>
              </a:defRPr>
            </a:pPr>
            <a:r>
              <a:t>• Tự động tái tạo Session ID (session()-&gt;regenerate()) ngay sau khi đăng nhập thành công chống tấn công Session Fixation.</a:t>
            </a:r>
          </a:p>
        </p:txBody>
      </p:sp>
      <p:sp xmlns:a="http://schemas.openxmlformats.org/drawingml/2006/main">
        <p:nvSpPr>
          <p:cNvPr id="21" name="Rounded Rectangle 20"/>
          <p:cNvSpPr/>
          <p:nvPr/>
        </p:nvSpPr>
        <p:spPr>
          <a:xfrm>
            <a:off x="731520" y="3291840"/>
            <a:ext cx="1072591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extBox 21"/>
          <p:cNvSpPr txBox="1"/>
          <p:nvPr/>
        </p:nvSpPr>
        <p:spPr>
          <a:xfrm>
            <a:off x="914400" y="3401568"/>
            <a:ext cx="10360152" cy="1197864"/>
          </a:xfrm>
          <a:prstGeom prst="rect">
            <a:avLst/>
          </a:prstGeom>
          <a:noFill/>
        </p:spPr>
        <p:txBody>
          <a:bodyPr wrap="square" lIns="0" rIns="0" tIns="0" bIns="0">
            <a:spAutoFit/>
          </a:bodyPr>
          <a:lstStyle/>
          <a:p>
            <a:pPr>
              <a:spcAft>
                <a:spcPts val="400"/>
              </a:spcAft>
            </a:pPr>
            <a:r>
              <a:rPr sz="1200" b="1">
                <a:solidFill>
                  <a:srgbClr val="E65100"/>
                </a:solidFill>
                <a:latin typeface="Segoe UI"/>
              </a:rPr>
              <a:t>02. </a:t>
            </a:r>
            <a:r>
              <a:rPr sz="1200" b="1">
                <a:solidFill>
                  <a:srgbClr val="0F2C59"/>
                </a:solidFill>
                <a:latin typeface="Segoe UI"/>
              </a:rPr>
              <a:t>Bảo Vệ Định Tuyến &amp; Toàn Vẹn Yêu Cầu (Route Protection &amp; CSRF Prevention)</a:t>
            </a:r>
          </a:p>
          <a:p>
            <a:pPr>
              <a:spcAft>
                <a:spcPts val="250"/>
              </a:spcAft>
              <a:defRPr sz="950">
                <a:solidFill>
                  <a:srgbClr val="1E293B"/>
                </a:solidFill>
                <a:latin typeface="Segoe UI"/>
              </a:defRPr>
            </a:pPr>
            <a:r>
              <a:t>• Middleware CheckRole chặn đứng mọi nỗ lực truy cập trái phép vào không gian quản trị Admin (Trả về HTTP 403 Forbidden).</a:t>
            </a:r>
          </a:p>
          <a:p>
            <a:pPr>
              <a:spcAft>
                <a:spcPts val="250"/>
              </a:spcAft>
              <a:defRPr sz="950">
                <a:solidFill>
                  <a:srgbClr val="1E293B"/>
                </a:solidFill>
                <a:latin typeface="Segoe UI"/>
              </a:defRPr>
            </a:pPr>
            <a:r>
              <a:t>• Mã thông báo CSRF Token bắt buộc trên 100% các yêu cầu thay đổi dữ liệu (POST, PUT, DELETE) ngăn chặn Cross-Site Request Forgery.</a:t>
            </a:r>
          </a:p>
          <a:p>
            <a:pPr>
              <a:spcAft>
                <a:spcPts val="250"/>
              </a:spcAft>
              <a:defRPr sz="950">
                <a:solidFill>
                  <a:srgbClr val="1E293B"/>
                </a:solidFill>
                <a:latin typeface="Segoe UI"/>
              </a:defRPr>
            </a:pPr>
            <a:r>
              <a:t>• Form Request Validation sàng lọc kiểu dữ liệu, bắt buộc các trường hợp lệ trước khi dữ liệu chạm tới Controller.</a:t>
            </a:r>
          </a:p>
        </p:txBody>
      </p:sp>
      <p:sp xmlns:a="http://schemas.openxmlformats.org/drawingml/2006/main">
        <p:nvSpPr>
          <p:cNvPr id="23" name="Rounded Rectangle 22"/>
          <p:cNvSpPr/>
          <p:nvPr/>
        </p:nvSpPr>
        <p:spPr>
          <a:xfrm>
            <a:off x="731520" y="4892040"/>
            <a:ext cx="1072591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TextBox 23"/>
          <p:cNvSpPr txBox="1"/>
          <p:nvPr/>
        </p:nvSpPr>
        <p:spPr>
          <a:xfrm>
            <a:off x="914400" y="5001768"/>
            <a:ext cx="10360152" cy="1197864"/>
          </a:xfrm>
          <a:prstGeom prst="rect">
            <a:avLst/>
          </a:prstGeom>
          <a:noFill/>
        </p:spPr>
        <p:txBody>
          <a:bodyPr wrap="square" lIns="0" rIns="0" tIns="0" bIns="0">
            <a:spAutoFit/>
          </a:bodyPr>
          <a:lstStyle/>
          <a:p>
            <a:pPr>
              <a:spcAft>
                <a:spcPts val="400"/>
              </a:spcAft>
            </a:pPr>
            <a:r>
              <a:rPr sz="1200" b="1">
                <a:solidFill>
                  <a:srgbClr val="E65100"/>
                </a:solidFill>
                <a:latin typeface="Segoe UI"/>
              </a:rPr>
              <a:t>03. </a:t>
            </a:r>
            <a:r>
              <a:rPr sz="1200" b="1">
                <a:solidFill>
                  <a:srgbClr val="0F2C59"/>
                </a:solidFill>
                <a:latin typeface="Segoe UI"/>
              </a:rPr>
              <a:t>Cô Lập Dữ Liệu Khách Hàng (Data Isolation &amp; Anti-IDOR Protection)</a:t>
            </a:r>
          </a:p>
          <a:p>
            <a:pPr>
              <a:spcAft>
                <a:spcPts val="250"/>
              </a:spcAft>
              <a:defRPr sz="950">
                <a:solidFill>
                  <a:srgbClr val="1E293B"/>
                </a:solidFill>
                <a:latin typeface="Segoe UI"/>
              </a:defRPr>
            </a:pPr>
            <a:r>
              <a:t>• Danh sách đơn hàng và chi tiết đơn luôn được truy vấn thông qua quan hệ sở hữu auth()-&gt;user()-&gt;orders().</a:t>
            </a:r>
          </a:p>
          <a:p>
            <a:pPr>
              <a:spcAft>
                <a:spcPts val="250"/>
              </a:spcAft>
              <a:defRPr sz="950">
                <a:solidFill>
                  <a:srgbClr val="1E293B"/>
                </a:solidFill>
                <a:latin typeface="Segoe UI"/>
              </a:defRPr>
            </a:pPr>
            <a:r>
              <a:t>• Ngăn chặn triệt để lỗ hổng Insecure Direct Object Reference (IDOR): Khách hàng không thể xem đơn của người khác bằng cách đổi ID trên URL.</a:t>
            </a:r>
          </a:p>
          <a:p>
            <a:pPr>
              <a:spcAft>
                <a:spcPts val="250"/>
              </a:spcAft>
              <a:defRPr sz="950">
                <a:solidFill>
                  <a:srgbClr val="1E293B"/>
                </a:solidFill>
                <a:latin typeface="Segoe UI"/>
              </a:defRPr>
            </a:pPr>
            <a:r>
              <a:t>• Thao tác hủy đơn kiểm tra đồng thời quyền sở hữu của người dùng hiện tại và trạng thái hợp lệ của đơn hàng.</a:t>
            </a:r>
          </a:p>
        </p:txBody>
      </p:sp>
    </p:spTree>
    <p:extLst>
      <p:ext uri="{BB962C8B-B14F-4D97-AF65-F5344CB8AC3E}">
        <p14:creationId xmlns:p14="http://schemas.microsoft.com/office/powerpoint/2010/main" val="209947933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a169a17b4b844e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4" name="TextBox 13"/>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Phân Hệ Catalog Phía Khách Hàng</a:t>
            </a:r>
          </a:p>
        </p:txBody>
      </p:sp>
      <p:sp xmlns:a="http://schemas.openxmlformats.org/drawingml/2006/main">
        <p:nvSpPr>
          <p:cNvPr id="15" name="TextBox 14"/>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Trải nghiệm duyệt sản phẩm mượt mà, phân trang thông minh và lọc tìm kiếm đa tiêu chí</a:t>
            </a:r>
          </a:p>
        </p:txBody>
      </p:sp>
      <p:sp xmlns:a="http://schemas.openxmlformats.org/drawingml/2006/main">
        <p:nvSpPr>
          <p:cNvPr id="16" name="Rounded Rectangle 15"/>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10 / 18</a:t>
            </a:r>
          </a:p>
        </p:txBody>
      </p:sp>
      <p:sp xmlns:a="http://schemas.openxmlformats.org/drawingml/2006/main">
        <p:nvSpPr>
          <p:cNvPr id="17" name="Rounded Rectangle 16"/>
          <p:cNvSpPr/>
          <p:nvPr/>
        </p:nvSpPr>
        <p:spPr>
          <a:xfrm>
            <a:off x="731520" y="1691640"/>
            <a:ext cx="3931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TextBox 17"/>
          <p:cNvSpPr txBox="1"/>
          <p:nvPr/>
        </p:nvSpPr>
        <p:spPr>
          <a:xfrm>
            <a:off x="868680" y="1801368"/>
            <a:ext cx="3657600" cy="1197864"/>
          </a:xfrm>
          <a:prstGeom prst="rect">
            <a:avLst/>
          </a:prstGeom>
          <a:noFill/>
        </p:spPr>
        <p:txBody>
          <a:bodyPr wrap="square" lIns="0" rIns="0" tIns="0" bIns="0">
            <a:spAutoFit/>
          </a:bodyPr>
          <a:lstStyle/>
          <a:p>
            <a:pPr>
              <a:spcAft>
                <a:spcPts val="400"/>
              </a:spcAft>
              <a:defRPr sz="1100" b="1">
                <a:solidFill>
                  <a:srgbClr val="0F2C59"/>
                </a:solidFill>
                <a:latin typeface="Segoe UI"/>
              </a:defRPr>
            </a:pPr>
            <a:r>
              <a:t>📄  Phân Trang &amp; Duy Trì Bộ Lọc</a:t>
            </a:r>
          </a:p>
          <a:p>
            <a:pPr>
              <a:spcAft>
                <a:spcPts val="300"/>
              </a:spcAft>
              <a:defRPr sz="950">
                <a:solidFill>
                  <a:srgbClr val="1E293B"/>
                </a:solidFill>
                <a:latin typeface="Segoe UI"/>
              </a:defRPr>
            </a:pPr>
            <a:r>
              <a:t>• Tối ưu tải trang với 8 sản phẩm mỗi trang (Pagination).</a:t>
            </a:r>
          </a:p>
          <a:p>
            <a:pPr>
              <a:spcAft>
                <a:spcPts val="300"/>
              </a:spcAft>
              <a:defRPr sz="950">
                <a:solidFill>
                  <a:srgbClr val="1E293B"/>
                </a:solidFill>
                <a:latin typeface="Segoe UI"/>
              </a:defRPr>
            </a:pPr>
            <a:r>
              <a:t>• Sử dụng appends(request()-&gt;query()) duy trì chính xác từ khóa và bộ lọc khi người dùng chuyển trang.</a:t>
            </a:r>
          </a:p>
        </p:txBody>
      </p:sp>
      <p:sp xmlns:a="http://schemas.openxmlformats.org/drawingml/2006/main">
        <p:nvSpPr>
          <p:cNvPr id="19" name="Rounded Rectangle 18"/>
          <p:cNvSpPr/>
          <p:nvPr/>
        </p:nvSpPr>
        <p:spPr>
          <a:xfrm>
            <a:off x="731520" y="3291840"/>
            <a:ext cx="3931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868680" y="3401568"/>
            <a:ext cx="3657600" cy="1197864"/>
          </a:xfrm>
          <a:prstGeom prst="rect">
            <a:avLst/>
          </a:prstGeom>
          <a:noFill/>
        </p:spPr>
        <p:txBody>
          <a:bodyPr wrap="square" lIns="0" rIns="0" tIns="0" bIns="0">
            <a:spAutoFit/>
          </a:bodyPr>
          <a:lstStyle/>
          <a:p>
            <a:pPr>
              <a:spcAft>
                <a:spcPts val="400"/>
              </a:spcAft>
              <a:defRPr sz="1100" b="1">
                <a:solidFill>
                  <a:srgbClr val="0F2C59"/>
                </a:solidFill>
                <a:latin typeface="Segoe UI"/>
              </a:defRPr>
            </a:pPr>
            <a:r>
              <a:t>🔍  Tìm Kiếm &amp; Lọc Đa Tiêu Chí</a:t>
            </a:r>
          </a:p>
          <a:p>
            <a:pPr>
              <a:spcAft>
                <a:spcPts val="300"/>
              </a:spcAft>
              <a:defRPr sz="950">
                <a:solidFill>
                  <a:srgbClr val="1E293B"/>
                </a:solidFill>
                <a:latin typeface="Segoe UI"/>
              </a:defRPr>
            </a:pPr>
            <a:r>
              <a:t>• Tìm kiếm tức thì theo tên sản phẩm, lọc theo danh mục hàng.</a:t>
            </a:r>
          </a:p>
          <a:p>
            <a:pPr>
              <a:spcAft>
                <a:spcPts val="300"/>
              </a:spcAft>
              <a:defRPr sz="950">
                <a:solidFill>
                  <a:srgbClr val="1E293B"/>
                </a:solidFill>
                <a:latin typeface="Segoe UI"/>
              </a:defRPr>
            </a:pPr>
            <a:r>
              <a:t>• Sắp xếp giá linh hoạt: Mới nhất, Giá tăng dần, Giá giảm dần.</a:t>
            </a:r>
          </a:p>
          <a:p>
            <a:pPr>
              <a:spcAft>
                <a:spcPts val="300"/>
              </a:spcAft>
              <a:defRPr sz="950">
                <a:solidFill>
                  <a:srgbClr val="1E293B"/>
                </a:solidFill>
                <a:latin typeface="Segoe UI"/>
              </a:defRPr>
            </a:pPr>
            <a:r>
              <a:t>• Modal chi tiết hiển thị ảnh lớn, giá niêm yết và tồn kho thực tế.</a:t>
            </a:r>
          </a:p>
        </p:txBody>
      </p:sp>
      <p:sp xmlns:a="http://schemas.openxmlformats.org/drawingml/2006/main">
        <p:nvSpPr>
          <p:cNvPr id="21" name="Rounded Rectangle 20"/>
          <p:cNvSpPr/>
          <p:nvPr/>
        </p:nvSpPr>
        <p:spPr>
          <a:xfrm>
            <a:off x="731520" y="4892040"/>
            <a:ext cx="3931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extBox 21"/>
          <p:cNvSpPr txBox="1"/>
          <p:nvPr/>
        </p:nvSpPr>
        <p:spPr>
          <a:xfrm>
            <a:off x="868680" y="5001768"/>
            <a:ext cx="3657600" cy="1197864"/>
          </a:xfrm>
          <a:prstGeom prst="rect">
            <a:avLst/>
          </a:prstGeom>
          <a:noFill/>
        </p:spPr>
        <p:txBody>
          <a:bodyPr wrap="square" lIns="0" rIns="0" tIns="0" bIns="0">
            <a:spAutoFit/>
          </a:bodyPr>
          <a:lstStyle/>
          <a:p>
            <a:pPr>
              <a:spcAft>
                <a:spcPts val="400"/>
              </a:spcAft>
              <a:defRPr sz="1100" b="1">
                <a:solidFill>
                  <a:srgbClr val="0F2C59"/>
                </a:solidFill>
                <a:latin typeface="Segoe UI"/>
              </a:defRPr>
            </a:pPr>
            <a:r>
              <a:t>📱  Giao Diện Responsive Thân Thiện</a:t>
            </a:r>
          </a:p>
          <a:p>
            <a:pPr>
              <a:spcAft>
                <a:spcPts val="300"/>
              </a:spcAft>
              <a:defRPr sz="950">
                <a:solidFill>
                  <a:srgbClr val="1E293B"/>
                </a:solidFill>
                <a:latin typeface="Segoe UI"/>
              </a:defRPr>
            </a:pPr>
            <a:r>
              <a:t>• Tương thích đa kích thước từ Mobile, Tablet đến Desktop.</a:t>
            </a:r>
          </a:p>
          <a:p>
            <a:pPr>
              <a:spcAft>
                <a:spcPts val="300"/>
              </a:spcAft>
              <a:defRPr sz="950">
                <a:solidFill>
                  <a:srgbClr val="1E293B"/>
                </a:solidFill>
                <a:latin typeface="Segoe UI"/>
              </a:defRPr>
            </a:pPr>
            <a:r>
              <a:t>• Tích hợp nút Mua Ngay và Thêm Giỏ Hàng phản hồi tức thời.</a:t>
            </a:r>
          </a:p>
          <a:p>
            <a:pPr>
              <a:spcAft>
                <a:spcPts val="300"/>
              </a:spcAft>
              <a:defRPr sz="950">
                <a:solidFill>
                  <a:srgbClr val="1E293B"/>
                </a:solidFill>
                <a:latin typeface="Segoe UI"/>
              </a:defRPr>
            </a:pPr>
            <a:r>
              <a:t>• Tông màu cam đào (Soft Apricot) hiện đại, ấm áp và thân thiện.</a:t>
            </a:r>
          </a:p>
        </p:txBody>
      </p:sp>
      <p:sp xmlns:a="http://schemas.openxmlformats.org/drawingml/2006/main">
        <p:nvSpPr>
          <p:cNvPr id="23" name="Rounded Rectangle 22"/>
          <p:cNvSpPr/>
          <p:nvPr/>
        </p:nvSpPr>
        <p:spPr>
          <a:xfrm>
            <a:off x="4846320" y="1691640"/>
            <a:ext cx="661111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24" name="Picture 23" descr="image.png"/>
          <p:cNvPicPr>
            <a:picLocks noChangeAspect="1"/>
          </p:cNvPicPr>
          <p:nvPr/>
        </p:nvPicPr>
        <p:blipFill>
          <a:blip r:embed="rId5"/>
          <a:stretch>
            <a:fillRect/>
          </a:stretch>
        </p:blipFill>
        <p:spPr>
          <a:xfrm>
            <a:off x="4956048" y="2145695"/>
            <a:ext cx="6391656" cy="3362136"/>
          </a:xfrm>
          <a:prstGeom prst="rect">
            <a:avLst/>
          </a:prstGeom>
        </p:spPr>
      </p:pic>
      <p:sp xmlns:a="http://schemas.openxmlformats.org/drawingml/2006/main">
        <p:nvSpPr>
          <p:cNvPr id="25" name="TextBox 24"/>
          <p:cNvSpPr txBox="1"/>
          <p:nvPr/>
        </p:nvSpPr>
        <p:spPr>
          <a:xfrm>
            <a:off x="4956048" y="5916168"/>
            <a:ext cx="6391656" cy="347472"/>
          </a:xfrm>
          <a:prstGeom prst="rect">
            <a:avLst/>
          </a:prstGeom>
          <a:noFill/>
        </p:spPr>
        <p:txBody>
          <a:bodyPr wrap="square" lIns="0" rIns="0" tIns="0" bIns="0">
            <a:spAutoFit/>
          </a:bodyPr>
          <a:lstStyle/>
          <a:p>
            <a:pPr algn="ctr">
              <a:defRPr sz="950" i="1">
                <a:solidFill>
                  <a:srgbClr val="64748B"/>
                </a:solidFill>
                <a:latin typeface="Segoe UI"/>
              </a:defRPr>
            </a:pPr>
            <a:r>
              <a:t>Giao diện Trang chủ &amp; Danh mục sản phẩm SmartCart (Desktop)</a:t>
            </a:r>
          </a:p>
        </p:txBody>
      </p:sp>
    </p:spTree>
    <p:extLst>
      <p:ext uri="{BB962C8B-B14F-4D97-AF65-F5344CB8AC3E}">
        <p14:creationId xmlns:p14="http://schemas.microsoft.com/office/powerpoint/2010/main" val="5545504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8cd2b7a743a47b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4" name="TextBox 13"/>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Phân Hệ Quản Trị Danh Mục &amp; Sản Phẩm</a:t>
            </a:r>
          </a:p>
        </p:txBody>
      </p:sp>
      <p:sp xmlns:a="http://schemas.openxmlformats.org/drawingml/2006/main">
        <p:nvSpPr>
          <p:cNvPr id="15" name="TextBox 14"/>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Công cụ quản lý toàn diện dành cho Quản trị viên với cơ chế bảo toàn dữ liệu thực tế</a:t>
            </a:r>
          </a:p>
        </p:txBody>
      </p:sp>
      <p:sp xmlns:a="http://schemas.openxmlformats.org/drawingml/2006/main">
        <p:nvSpPr>
          <p:cNvPr id="16" name="Rounded Rectangle 15"/>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11 / 18</a:t>
            </a:r>
          </a:p>
        </p:txBody>
      </p:sp>
      <p:sp xmlns:a="http://schemas.openxmlformats.org/drawingml/2006/main">
        <p:nvSpPr>
          <p:cNvPr id="17" name="Rounded Rectangle 16"/>
          <p:cNvSpPr/>
          <p:nvPr/>
        </p:nvSpPr>
        <p:spPr>
          <a:xfrm>
            <a:off x="731520" y="1691640"/>
            <a:ext cx="661111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18" name="Picture 17" descr="image.jpeg"/>
          <p:cNvPicPr>
            <a:picLocks noChangeAspect="1"/>
          </p:cNvPicPr>
          <p:nvPr/>
        </p:nvPicPr>
        <p:blipFill>
          <a:blip r:embed="R8d11cab777ac4c6c"/>
          <a:stretch>
            <a:fillRect/>
          </a:stretch>
        </p:blipFill>
        <p:spPr>
          <a:xfrm>
            <a:off x="841248" y="2029110"/>
            <a:ext cx="6391656" cy="3595306"/>
          </a:xfrm>
          <a:prstGeom prst="rect">
            <a:avLst/>
          </a:prstGeom>
        </p:spPr>
      </p:pic>
      <p:sp xmlns:a="http://schemas.openxmlformats.org/drawingml/2006/main">
        <p:nvSpPr>
          <p:cNvPr id="19" name="TextBox 18"/>
          <p:cNvSpPr txBox="1"/>
          <p:nvPr/>
        </p:nvSpPr>
        <p:spPr>
          <a:xfrm>
            <a:off x="841248" y="5916168"/>
            <a:ext cx="6391656" cy="347472"/>
          </a:xfrm>
          <a:prstGeom prst="rect">
            <a:avLst/>
          </a:prstGeom>
          <a:noFill/>
        </p:spPr>
        <p:txBody>
          <a:bodyPr wrap="square" lIns="0" rIns="0" tIns="0" bIns="0">
            <a:spAutoFit/>
          </a:bodyPr>
          <a:lstStyle/>
          <a:p>
            <a:pPr algn="ctr">
              <a:defRPr sz="950" i="1">
                <a:solidFill>
                  <a:srgbClr val="64748B"/>
                </a:solidFill>
                <a:latin typeface="Segoe UI"/>
              </a:defRPr>
            </a:pPr>
            <a:r>
              <a:t>Giao diện Tổng quan Quản trị viên - Thống kê đơn hàng &amp; Doanh thu hoàn thành 190.000 đ</a:t>
            </a:r>
          </a:p>
        </p:txBody>
      </p:sp>
      <p:sp xmlns:a="http://schemas.openxmlformats.org/drawingml/2006/main">
        <p:nvSpPr>
          <p:cNvPr id="20" name="Rounded Rectangle 19"/>
          <p:cNvSpPr/>
          <p:nvPr/>
        </p:nvSpPr>
        <p:spPr>
          <a:xfrm>
            <a:off x="7525512" y="1691640"/>
            <a:ext cx="3931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7662672" y="1801368"/>
            <a:ext cx="3657600" cy="1197864"/>
          </a:xfrm>
          <a:prstGeom prst="rect">
            <a:avLst/>
          </a:prstGeom>
          <a:noFill/>
        </p:spPr>
        <p:txBody>
          <a:bodyPr wrap="square" lIns="0" rIns="0" tIns="0" bIns="0">
            <a:spAutoFit/>
          </a:bodyPr>
          <a:lstStyle/>
          <a:p>
            <a:pPr>
              <a:spcAft>
                <a:spcPts val="400"/>
              </a:spcAft>
              <a:defRPr sz="1100" b="1">
                <a:solidFill>
                  <a:srgbClr val="0F2C59"/>
                </a:solidFill>
                <a:latin typeface="Segoe UI"/>
              </a:defRPr>
            </a:pPr>
            <a:r>
              <a:t>⚡  CRUD Hoàn Chỉnh &amp; Liên Kết Quan Hệ</a:t>
            </a:r>
          </a:p>
          <a:p>
            <a:pPr>
              <a:spcAft>
                <a:spcPts val="300"/>
              </a:spcAft>
              <a:defRPr sz="950">
                <a:solidFill>
                  <a:srgbClr val="1E293B"/>
                </a:solidFill>
                <a:latin typeface="Segoe UI"/>
              </a:defRPr>
            </a:pPr>
            <a:r>
              <a:t>• Toàn quyền Thêm, Sửa, Xóa Danh mục và Sản phẩm.</a:t>
            </a:r>
          </a:p>
          <a:p>
            <a:pPr>
              <a:spcAft>
                <a:spcPts val="300"/>
              </a:spcAft>
              <a:defRPr sz="950">
                <a:solidFill>
                  <a:srgbClr val="1E293B"/>
                </a:solidFill>
                <a:latin typeface="Segoe UI"/>
              </a:defRPr>
            </a:pPr>
            <a:r>
              <a:t>• Tự động sinh slug thân thiện SEO từ tên tiếng Việt có dấu.</a:t>
            </a:r>
          </a:p>
          <a:p>
            <a:pPr>
              <a:spcAft>
                <a:spcPts val="300"/>
              </a:spcAft>
              <a:defRPr sz="950">
                <a:solidFill>
                  <a:srgbClr val="1E293B"/>
                </a:solidFill>
                <a:latin typeface="Segoe UI"/>
              </a:defRPr>
            </a:pPr>
            <a:r>
              <a:t>• Dropdown chọn danh mục cha liên kết khóa ngoại category_id chính xác.</a:t>
            </a:r>
          </a:p>
        </p:txBody>
      </p:sp>
      <p:sp xmlns:a="http://schemas.openxmlformats.org/drawingml/2006/main">
        <p:nvSpPr>
          <p:cNvPr id="22" name="Rounded Rectangle 21"/>
          <p:cNvSpPr/>
          <p:nvPr/>
        </p:nvSpPr>
        <p:spPr>
          <a:xfrm>
            <a:off x="7525512" y="3291840"/>
            <a:ext cx="3931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7662672" y="3401568"/>
            <a:ext cx="3657600" cy="1197864"/>
          </a:xfrm>
          <a:prstGeom prst="rect">
            <a:avLst/>
          </a:prstGeom>
          <a:noFill/>
        </p:spPr>
        <p:txBody>
          <a:bodyPr wrap="square" lIns="0" rIns="0" tIns="0" bIns="0">
            <a:spAutoFit/>
          </a:bodyPr>
          <a:lstStyle/>
          <a:p>
            <a:pPr>
              <a:spcAft>
                <a:spcPts val="400"/>
              </a:spcAft>
              <a:defRPr sz="1100" b="1">
                <a:solidFill>
                  <a:srgbClr val="0F2C59"/>
                </a:solidFill>
                <a:latin typeface="Segoe UI"/>
              </a:defRPr>
            </a:pPr>
            <a:r>
              <a:t>🛡️  Validation Nghiêm Ngặt &amp; Upload An Toàn</a:t>
            </a:r>
          </a:p>
          <a:p>
            <a:pPr>
              <a:spcAft>
                <a:spcPts val="300"/>
              </a:spcAft>
              <a:defRPr sz="950">
                <a:solidFill>
                  <a:srgbClr val="1E293B"/>
                </a:solidFill>
                <a:latin typeface="Segoe UI"/>
              </a:defRPr>
            </a:pPr>
            <a:r>
              <a:t>• Bắt buộc: Tên không rỗng, giá bán &gt; 0, số lượng tồn kho ≥ 0.</a:t>
            </a:r>
          </a:p>
          <a:p>
            <a:pPr>
              <a:spcAft>
                <a:spcPts val="300"/>
              </a:spcAft>
              <a:defRPr sz="950">
                <a:solidFill>
                  <a:srgbClr val="1E293B"/>
                </a:solidFill>
                <a:latin typeface="Segoe UI"/>
              </a:defRPr>
            </a:pPr>
            <a:r>
              <a:t>• Kiểm duyệt file ảnh upload định dạng JPEG, PNG, WebP.</a:t>
            </a:r>
          </a:p>
          <a:p>
            <a:pPr>
              <a:spcAft>
                <a:spcPts val="300"/>
              </a:spcAft>
              <a:defRPr sz="950">
                <a:solidFill>
                  <a:srgbClr val="1E293B"/>
                </a:solidFill>
                <a:latin typeface="Segoe UI"/>
              </a:defRPr>
            </a:pPr>
            <a:r>
              <a:t>• Lưu trữ file an toàn trên public disk, tự động dọn ảnh mồ côi.</a:t>
            </a:r>
          </a:p>
        </p:txBody>
      </p:sp>
      <p:sp xmlns:a="http://schemas.openxmlformats.org/drawingml/2006/main">
        <p:nvSpPr>
          <p:cNvPr id="24" name="Rounded Rectangle 23"/>
          <p:cNvSpPr/>
          <p:nvPr/>
        </p:nvSpPr>
        <p:spPr>
          <a:xfrm>
            <a:off x="7525512" y="4892040"/>
            <a:ext cx="3931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7662672" y="5001768"/>
            <a:ext cx="3657600" cy="1197864"/>
          </a:xfrm>
          <a:prstGeom prst="rect">
            <a:avLst/>
          </a:prstGeom>
          <a:noFill/>
        </p:spPr>
        <p:txBody>
          <a:bodyPr wrap="square" lIns="0" rIns="0" tIns="0" bIns="0">
            <a:spAutoFit/>
          </a:bodyPr>
          <a:lstStyle/>
          <a:p>
            <a:pPr>
              <a:spcAft>
                <a:spcPts val="400"/>
              </a:spcAft>
              <a:defRPr sz="1100" b="1">
                <a:solidFill>
                  <a:srgbClr val="0F2C59"/>
                </a:solidFill>
                <a:latin typeface="Segoe UI"/>
              </a:defRPr>
            </a:pPr>
            <a:r>
              <a:t>💾  Bảo Toàn Dữ Liệu Đang Sử Dụng</a:t>
            </a:r>
          </a:p>
          <a:p>
            <a:pPr>
              <a:spcAft>
                <a:spcPts val="300"/>
              </a:spcAft>
              <a:defRPr sz="950">
                <a:solidFill>
                  <a:srgbClr val="1E293B"/>
                </a:solidFill>
                <a:latin typeface="Segoe UI"/>
              </a:defRPr>
            </a:pPr>
            <a:r>
              <a:t>• Chặn xóa danh mục hoặc sản phẩm khi đang phát sinh trong đơn hàng.</a:t>
            </a:r>
          </a:p>
          <a:p>
            <a:pPr>
              <a:spcAft>
                <a:spcPts val="300"/>
              </a:spcAft>
              <a:defRPr sz="950">
                <a:solidFill>
                  <a:srgbClr val="1E293B"/>
                </a:solidFill>
                <a:latin typeface="Segoe UI"/>
              </a:defRPr>
            </a:pPr>
            <a:r>
              <a:t>• Seeder thông minh bảo toàn toàn bộ giá, tồn kho và ảnh đã được Admin chỉnh sửa thực tế.</a:t>
            </a:r>
          </a:p>
        </p:txBody>
      </p:sp>
    </p:spTree>
    <p:extLst>
      <p:ext uri="{BB962C8B-B14F-4D97-AF65-F5344CB8AC3E}">
        <p14:creationId xmlns:p14="http://schemas.microsoft.com/office/powerpoint/2010/main" val="12493990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aec9681536948c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7" name="TextBox 16"/>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Giỏ Hàng &amp; Tương Tác Bất Đồng Bộ (Fetch API)</a:t>
            </a:r>
          </a:p>
        </p:txBody>
      </p:sp>
      <p:sp xmlns:a="http://schemas.openxmlformats.org/drawingml/2006/main">
        <p:nvSpPr>
          <p:cNvPr id="18" name="TextBox 17"/>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Cập nhật số lượng, tổng tiền và huy hiệu giỏ hàng tức thời mà không cần tải lại toàn bộ trang</a:t>
            </a:r>
          </a:p>
        </p:txBody>
      </p:sp>
      <p:sp xmlns:a="http://schemas.openxmlformats.org/drawingml/2006/main">
        <p:nvSpPr>
          <p:cNvPr id="19" name="Rounded Rectangle 18"/>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12 / 18</a:t>
            </a:r>
          </a:p>
        </p:txBody>
      </p:sp>
      <p:sp xmlns:a="http://schemas.openxmlformats.org/drawingml/2006/main">
        <p:nvSpPr>
          <p:cNvPr id="20" name="Rounded Rectangle 19"/>
          <p:cNvSpPr/>
          <p:nvPr/>
        </p:nvSpPr>
        <p:spPr>
          <a:xfrm>
            <a:off x="731520" y="1691640"/>
            <a:ext cx="342900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868680" y="1801368"/>
            <a:ext cx="3154680" cy="1243584"/>
          </a:xfrm>
          <a:prstGeom prst="rect">
            <a:avLst/>
          </a:prstGeom>
          <a:noFill/>
        </p:spPr>
        <p:txBody>
          <a:bodyPr wrap="square" lIns="0" rIns="0" tIns="0" bIns="0">
            <a:spAutoFit/>
          </a:bodyPr>
          <a:lstStyle/>
          <a:p>
            <a:pPr>
              <a:spcAft>
                <a:spcPts val="400"/>
              </a:spcAft>
              <a:defRPr sz="1100" b="1">
                <a:solidFill>
                  <a:srgbClr val="0F2C59"/>
                </a:solidFill>
                <a:latin typeface="Segoe UI"/>
              </a:defRPr>
            </a:pPr>
            <a:r>
              <a:t>Bước 1: Khách Hàng Thao Tác</a:t>
            </a:r>
          </a:p>
          <a:p>
            <a:pPr>
              <a:defRPr sz="950">
                <a:solidFill>
                  <a:srgbClr val="1E293B"/>
                </a:solidFill>
                <a:latin typeface="Segoe UI"/>
              </a:defRPr>
            </a:pPr>
            <a:r>
              <a:t>Người dùng nhấn Thêm vào giỏ, tăng/giảm số lượng hoặc xóa món hàng trên giao diện Blade.</a:t>
            </a:r>
          </a:p>
        </p:txBody>
      </p:sp>
      <p:sp xmlns:a="http://schemas.openxmlformats.org/drawingml/2006/main">
        <p:nvSpPr>
          <p:cNvPr id="22" name="Rounded Rectangle 21"/>
          <p:cNvSpPr/>
          <p:nvPr/>
        </p:nvSpPr>
        <p:spPr>
          <a:xfrm>
            <a:off x="4379976" y="1691640"/>
            <a:ext cx="3429000" cy="1463040"/>
          </a:xfrm>
          <a:prstGeom prst="roundRect">
            <a:avLst/>
          </a:prstGeom>
          <a:solidFill>
            <a:srgbClr val="FFFFFF"/>
          </a:solidFill>
          <a:ln w="1905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4517136" y="1801368"/>
            <a:ext cx="3154680" cy="1243584"/>
          </a:xfrm>
          <a:prstGeom prst="rect">
            <a:avLst/>
          </a:prstGeom>
          <a:noFill/>
        </p:spPr>
        <p:txBody>
          <a:bodyPr wrap="square" lIns="0" rIns="0" tIns="0" bIns="0">
            <a:spAutoFit/>
          </a:bodyPr>
          <a:lstStyle/>
          <a:p>
            <a:pPr>
              <a:spcAft>
                <a:spcPts val="400"/>
              </a:spcAft>
              <a:defRPr sz="1100" b="1">
                <a:solidFill>
                  <a:srgbClr val="E65100"/>
                </a:solidFill>
                <a:latin typeface="Segoe UI"/>
              </a:defRPr>
            </a:pPr>
            <a:r>
              <a:t>Bước 2: Laravel Xử Lý Tại Server</a:t>
            </a:r>
          </a:p>
          <a:p>
            <a:pPr>
              <a:defRPr sz="950">
                <a:solidFill>
                  <a:srgbClr val="1E293B"/>
                </a:solidFill>
                <a:latin typeface="Segoe UI"/>
              </a:defRPr>
            </a:pPr>
            <a:r>
              <a:t>Server nhận request bất đồng bộ qua Fetch API; kiểm tra tồn kho DB; cập nhật Session Cart an toàn.</a:t>
            </a:r>
          </a:p>
        </p:txBody>
      </p:sp>
      <p:sp xmlns:a="http://schemas.openxmlformats.org/drawingml/2006/main">
        <p:nvSpPr>
          <p:cNvPr id="24" name="Rounded Rectangle 23"/>
          <p:cNvSpPr/>
          <p:nvPr/>
        </p:nvSpPr>
        <p:spPr>
          <a:xfrm>
            <a:off x="8028432" y="1691640"/>
            <a:ext cx="342900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8165592" y="1801368"/>
            <a:ext cx="3154680" cy="1243584"/>
          </a:xfrm>
          <a:prstGeom prst="rect">
            <a:avLst/>
          </a:prstGeom>
          <a:noFill/>
        </p:spPr>
        <p:txBody>
          <a:bodyPr wrap="square" lIns="0" rIns="0" tIns="0" bIns="0">
            <a:spAutoFit/>
          </a:bodyPr>
          <a:lstStyle/>
          <a:p>
            <a:pPr>
              <a:spcAft>
                <a:spcPts val="400"/>
              </a:spcAft>
              <a:defRPr sz="1100" b="1">
                <a:solidFill>
                  <a:srgbClr val="0F2C59"/>
                </a:solidFill>
                <a:latin typeface="Segoe UI"/>
              </a:defRPr>
            </a:pPr>
            <a:r>
              <a:t>Bước 3: JSON Response &amp; DOM Update</a:t>
            </a:r>
          </a:p>
          <a:p>
            <a:pPr>
              <a:defRPr sz="950">
                <a:solidFill>
                  <a:srgbClr val="1E293B"/>
                </a:solidFill>
                <a:latin typeface="Segoe UI"/>
              </a:defRPr>
            </a:pPr>
            <a:r>
              <a:t>Server trả về JSON; JavaScript cập nhật tức thì badge giỏ hàng, tổng tiền và hiện SweetAlert2.</a:t>
            </a:r>
          </a:p>
        </p:txBody>
      </p:sp>
      <p:sp xmlns:a="http://schemas.openxmlformats.org/drawingml/2006/main">
        <p:nvSpPr>
          <p:cNvPr id="26" name="Rounded Rectangle 25"/>
          <p:cNvSpPr/>
          <p:nvPr/>
        </p:nvSpPr>
        <p:spPr>
          <a:xfrm>
            <a:off x="731520" y="3337560"/>
            <a:ext cx="5230368"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TextBox 26"/>
          <p:cNvSpPr txBox="1"/>
          <p:nvPr/>
        </p:nvSpPr>
        <p:spPr>
          <a:xfrm>
            <a:off x="914400" y="3502152"/>
            <a:ext cx="4864607" cy="2642616"/>
          </a:xfrm>
          <a:prstGeom prst="rect">
            <a:avLst/>
          </a:prstGeom>
          <a:noFill/>
        </p:spPr>
        <p:txBody>
          <a:bodyPr wrap="square" lIns="0" rIns="0" tIns="0" bIns="0">
            <a:spAutoFit/>
          </a:bodyPr>
          <a:lstStyle/>
          <a:p>
            <a:pPr>
              <a:spcAft>
                <a:spcPts val="600"/>
              </a:spcAft>
              <a:defRPr sz="1200" b="1">
                <a:solidFill>
                  <a:srgbClr val="0F2C59"/>
                </a:solidFill>
                <a:latin typeface="Segoe UI"/>
              </a:defRPr>
            </a:pPr>
            <a:r>
              <a:t>🛒  CƠ CHẾ QUẢN LÝ SESSION CART</a:t>
            </a:r>
          </a:p>
          <a:p>
            <a:pPr>
              <a:spcAft>
                <a:spcPts val="400"/>
              </a:spcAft>
            </a:pPr>
            <a:r>
              <a:rPr sz="950" b="1">
                <a:solidFill>
                  <a:srgbClr val="1E293B"/>
                </a:solidFill>
                <a:latin typeface="Segoe UI"/>
              </a:rPr>
              <a:t>• Lưu trữ linh hoạt: </a:t>
            </a:r>
            <a:r>
              <a:rPr sz="950">
                <a:solidFill>
                  <a:srgbClr val="1E293B"/>
                </a:solidFill>
                <a:latin typeface="Segoe UI"/>
              </a:rPr>
              <a:t>Danh sách món hàng được quản lý trong Session phiên làm việc, chỉ lưu product_id và quantity.</a:t>
            </a:r>
          </a:p>
          <a:p>
            <a:pPr>
              <a:spcAft>
                <a:spcPts val="400"/>
              </a:spcAft>
            </a:pPr>
            <a:r>
              <a:rPr sz="950" b="1">
                <a:solidFill>
                  <a:srgbClr val="1E293B"/>
                </a:solidFill>
                <a:latin typeface="Segoe UI"/>
              </a:rPr>
              <a:t>• Trải nghiệm khách vãng lai: </a:t>
            </a:r>
            <a:r>
              <a:rPr sz="950">
                <a:solidFill>
                  <a:srgbClr val="1E293B"/>
                </a:solidFill>
                <a:latin typeface="Segoe UI"/>
              </a:rPr>
              <a:t>Người dùng tự do thêm sản phẩm vào giỏ ngay cả trước khi đăng nhập tài khoản.</a:t>
            </a:r>
          </a:p>
          <a:p>
            <a:pPr>
              <a:spcAft>
                <a:spcPts val="400"/>
              </a:spcAft>
            </a:pPr>
            <a:r>
              <a:rPr sz="950" b="1">
                <a:solidFill>
                  <a:srgbClr val="1E293B"/>
                </a:solidFill>
                <a:latin typeface="Segoe UI"/>
              </a:rPr>
              <a:t>• Kiểm soát tồn kho: </a:t>
            </a:r>
            <a:r>
              <a:rPr sz="950">
                <a:solidFill>
                  <a:srgbClr val="1E293B"/>
                </a:solidFill>
                <a:latin typeface="Segoe UI"/>
              </a:rPr>
              <a:t>Mỗi lần cập nhật số lượng, Server đối chiếu trực tiếp với tồn kho hiện hành trong cơ sở dữ liệu.</a:t>
            </a:r>
          </a:p>
          <a:p>
            <a:pPr>
              <a:spcAft>
                <a:spcPts val="400"/>
              </a:spcAft>
            </a:pPr>
            <a:r>
              <a:rPr sz="950" b="1">
                <a:solidFill>
                  <a:srgbClr val="1E293B"/>
                </a:solidFill>
                <a:latin typeface="Segoe UI"/>
              </a:rPr>
              <a:t>• Dọn sạch an toàn: </a:t>
            </a:r>
            <a:r>
              <a:rPr sz="950">
                <a:solidFill>
                  <a:srgbClr val="1E293B"/>
                </a:solidFill>
                <a:latin typeface="Segoe UI"/>
              </a:rPr>
              <a:t>Khi người dùng đăng xuất (Logout), Session giỏ hàng được làm mới an toàn, tránh lẫn lộn dữ liệu giữa các tài khoản.</a:t>
            </a:r>
          </a:p>
        </p:txBody>
      </p:sp>
      <p:sp xmlns:a="http://schemas.openxmlformats.org/drawingml/2006/main">
        <p:nvSpPr>
          <p:cNvPr id="28" name="Rounded Rectangle 27"/>
          <p:cNvSpPr/>
          <p:nvPr/>
        </p:nvSpPr>
        <p:spPr>
          <a:xfrm>
            <a:off x="6227064" y="3337560"/>
            <a:ext cx="5230368"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TextBox 28"/>
          <p:cNvSpPr txBox="1"/>
          <p:nvPr/>
        </p:nvSpPr>
        <p:spPr>
          <a:xfrm>
            <a:off x="6409944" y="3502152"/>
            <a:ext cx="4864607" cy="2642616"/>
          </a:xfrm>
          <a:prstGeom prst="rect">
            <a:avLst/>
          </a:prstGeom>
          <a:noFill/>
        </p:spPr>
        <p:txBody>
          <a:bodyPr wrap="square" lIns="0" rIns="0" tIns="0" bIns="0">
            <a:spAutoFit/>
          </a:bodyPr>
          <a:lstStyle/>
          <a:p>
            <a:pPr>
              <a:spcAft>
                <a:spcPts val="600"/>
              </a:spcAft>
              <a:defRPr sz="1200" b="1">
                <a:solidFill>
                  <a:srgbClr val="0F2C59"/>
                </a:solidFill>
                <a:latin typeface="Segoe UI"/>
              </a:defRPr>
            </a:pPr>
            <a:r>
              <a:t>✨  TỐI ƯU TRẢI NGHIỆM TƯƠNG TÁC (UX)</a:t>
            </a:r>
          </a:p>
          <a:p>
            <a:pPr>
              <a:spcAft>
                <a:spcPts val="400"/>
              </a:spcAft>
            </a:pPr>
            <a:r>
              <a:rPr sz="950" b="1">
                <a:solidFill>
                  <a:srgbClr val="1E293B"/>
                </a:solidFill>
                <a:latin typeface="Segoe UI"/>
              </a:rPr>
              <a:t>• Live Search AJAX: </a:t>
            </a:r>
            <a:r>
              <a:rPr sz="950">
                <a:solidFill>
                  <a:srgbClr val="1E293B"/>
                </a:solidFill>
                <a:latin typeface="Segoe UI"/>
              </a:rPr>
              <a:t>Tự động hiển thị gợi ý sản phẩm ngay khi người dùng gõ từ khóa, không cần nhấn Enter.</a:t>
            </a:r>
          </a:p>
          <a:p>
            <a:pPr>
              <a:spcAft>
                <a:spcPts val="400"/>
              </a:spcAft>
            </a:pPr>
            <a:r>
              <a:rPr sz="950" b="1">
                <a:solidFill>
                  <a:srgbClr val="1E293B"/>
                </a:solidFill>
                <a:latin typeface="Segoe UI"/>
              </a:rPr>
              <a:t>• SweetAlert2 hiện đại: </a:t>
            </a:r>
            <a:r>
              <a:rPr sz="950">
                <a:solidFill>
                  <a:srgbClr val="1E293B"/>
                </a:solidFill>
                <a:latin typeface="Segoe UI"/>
              </a:rPr>
              <a:t>Hiển thị thông báo trạng thái đẹp mắt, có hiệu ứng mượt mà thay thế alert() mặc định thô sơ.</a:t>
            </a:r>
          </a:p>
          <a:p>
            <a:pPr>
              <a:spcAft>
                <a:spcPts val="400"/>
              </a:spcAft>
            </a:pPr>
            <a:r>
              <a:rPr sz="950" b="1">
                <a:solidFill>
                  <a:srgbClr val="1E293B"/>
                </a:solidFill>
                <a:latin typeface="Segoe UI"/>
              </a:rPr>
              <a:t>• Badge giỏ hàng động: </a:t>
            </a:r>
            <a:r>
              <a:rPr sz="950">
                <a:solidFill>
                  <a:srgbClr val="1E293B"/>
                </a:solidFill>
                <a:latin typeface="Segoe UI"/>
              </a:rPr>
              <a:t>Số lượng hiển thị trên icon giỏ hàng ở thanh điều hướng tự động tăng/giảm theo từng thao tác.</a:t>
            </a:r>
          </a:p>
          <a:p>
            <a:pPr>
              <a:spcAft>
                <a:spcPts val="400"/>
              </a:spcAft>
            </a:pPr>
            <a:r>
              <a:rPr sz="950" b="1">
                <a:solidFill>
                  <a:srgbClr val="1E293B"/>
                </a:solidFill>
                <a:latin typeface="Segoe UI"/>
              </a:rPr>
              <a:t>• Thời tiết Open-Meteo: </a:t>
            </a:r>
            <a:r>
              <a:rPr sz="950">
                <a:solidFill>
                  <a:srgbClr val="1E293B"/>
                </a:solidFill>
                <a:latin typeface="Segoe UI"/>
              </a:rPr>
              <a:t>Widget dự báo thời tiết tại Footer được gọi bất đồng bộ, không làm chậm tốc độ tải trang chính.</a:t>
            </a:r>
          </a:p>
        </p:txBody>
      </p:sp>
    </p:spTree>
    <p:extLst>
      <p:ext uri="{BB962C8B-B14F-4D97-AF65-F5344CB8AC3E}">
        <p14:creationId xmlns:p14="http://schemas.microsoft.com/office/powerpoint/2010/main" val="164837300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6a2a0366639406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7" name="TextBox 16"/>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Quy Trình Đặt Hàng COD &amp; Tính Nhất Quán Giao Dịch</a:t>
            </a:r>
          </a:p>
        </p:txBody>
      </p:sp>
      <p:sp xmlns:a="http://schemas.openxmlformats.org/drawingml/2006/main">
        <p:nvSpPr>
          <p:cNvPr id="18" name="TextBox 17"/>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Kiểm soát giao dịch đa bước đảm bảo tính nguyên tử, toàn vẹn tồn kho và chống gửi lặp đơn hàng</a:t>
            </a:r>
          </a:p>
        </p:txBody>
      </p:sp>
      <p:sp xmlns:a="http://schemas.openxmlformats.org/drawingml/2006/main">
        <p:nvSpPr>
          <p:cNvPr id="19" name="Rounded Rectangle 18"/>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13 / 18</a:t>
            </a:r>
          </a:p>
        </p:txBody>
      </p:sp>
      <p:sp xmlns:a="http://schemas.openxmlformats.org/drawingml/2006/main">
        <p:nvSpPr>
          <p:cNvPr id="20" name="Rounded Rectangle 19"/>
          <p:cNvSpPr/>
          <p:nvPr/>
        </p:nvSpPr>
        <p:spPr>
          <a:xfrm>
            <a:off x="731520" y="1691640"/>
            <a:ext cx="342900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896112" y="1828800"/>
            <a:ext cx="3099816" cy="3657600"/>
          </a:xfrm>
          <a:prstGeom prst="rect">
            <a:avLst/>
          </a:prstGeom>
          <a:noFill/>
        </p:spPr>
        <p:txBody>
          <a:bodyPr wrap="square" lIns="0" rIns="0" tIns="0" bIns="0">
            <a:spAutoFit/>
          </a:bodyPr>
          <a:lstStyle/>
          <a:p>
            <a:pPr>
              <a:spcAft>
                <a:spcPts val="200"/>
              </a:spcAft>
            </a:pPr>
            <a:r>
              <a:rPr sz="1300" b="1">
                <a:solidFill>
                  <a:srgbClr val="E65100"/>
                </a:solidFill>
                <a:latin typeface="Segoe UI"/>
              </a:rPr>
              <a:t>01. </a:t>
            </a:r>
            <a:r>
              <a:rPr sz="1200" b="1">
                <a:solidFill>
                  <a:srgbClr val="0F2C59"/>
                </a:solidFill>
                <a:latin typeface="Segoe UI"/>
              </a:rPr>
              <a:t>Xác Thực Người Dùng &amp; Dữ Liệu Giao Hàng</a:t>
            </a:r>
          </a:p>
          <a:p>
            <a:pPr>
              <a:spcAft>
                <a:spcPts val="800"/>
              </a:spcAft>
              <a:defRPr sz="950" i="1">
                <a:solidFill>
                  <a:srgbClr val="64748B"/>
                </a:solidFill>
                <a:latin typeface="Segoe UI"/>
              </a:defRPr>
            </a:pPr>
            <a:r>
              <a:t>Kiểm soát hợp lệ đầu vào tại Server</a:t>
            </a:r>
          </a:p>
          <a:p>
            <a:pPr>
              <a:spcAft>
                <a:spcPts val="400"/>
              </a:spcAft>
              <a:defRPr sz="950">
                <a:solidFill>
                  <a:srgbClr val="1E293B"/>
                </a:solidFill>
                <a:latin typeface="Segoe UI"/>
              </a:defRPr>
            </a:pPr>
            <a:r>
              <a:t>• Bắt buộc người dùng đăng nhập tài khoản trước khi truy cập quy trình Checkout.</a:t>
            </a:r>
          </a:p>
          <a:p>
            <a:pPr>
              <a:spcAft>
                <a:spcPts val="400"/>
              </a:spcAft>
              <a:defRPr sz="950">
                <a:solidFill>
                  <a:srgbClr val="1E293B"/>
                </a:solidFill>
                <a:latin typeface="Segoe UI"/>
              </a:defRPr>
            </a:pPr>
            <a:r>
              <a:t>• Form Request kiểm tra tính hợp lệ: Họ tên, địa chỉ nhận hàng, số điện thoại người nhận.</a:t>
            </a:r>
          </a:p>
          <a:p>
            <a:pPr>
              <a:spcAft>
                <a:spcPts val="400"/>
              </a:spcAft>
              <a:defRPr sz="950">
                <a:solidFill>
                  <a:srgbClr val="1E293B"/>
                </a:solidFill>
                <a:latin typeface="Segoe UI"/>
              </a:defRPr>
            </a:pPr>
            <a:r>
              <a:t>• Tầng Server đọc lại trực tiếp giá niêm yết và tồn kho thực tế từ DB (ngăn chặn can thiệp giá từ Client).</a:t>
            </a:r>
          </a:p>
          <a:p>
            <a:pPr>
              <a:spcAft>
                <a:spcPts val="400"/>
              </a:spcAft>
              <a:defRPr sz="950">
                <a:solidFill>
                  <a:srgbClr val="1E293B"/>
                </a:solidFill>
                <a:latin typeface="Segoe UI"/>
              </a:defRPr>
            </a:pPr>
            <a:r>
              <a:t>• Hệ thống từ chối tạo đơn nếu bất kỳ mặt hàng nào hết hàng hoặc không đủ số lượng yêu cầu.</a:t>
            </a:r>
          </a:p>
        </p:txBody>
      </p:sp>
      <p:sp xmlns:a="http://schemas.openxmlformats.org/drawingml/2006/main">
        <p:nvSpPr>
          <p:cNvPr id="22" name="Rounded Rectangle 21"/>
          <p:cNvSpPr/>
          <p:nvPr/>
        </p:nvSpPr>
        <p:spPr>
          <a:xfrm>
            <a:off x="4379976" y="1691640"/>
            <a:ext cx="3429000" cy="3931920"/>
          </a:xfrm>
          <a:prstGeom prst="roundRect">
            <a:avLst/>
          </a:prstGeom>
          <a:solidFill>
            <a:srgbClr val="FFFFFF"/>
          </a:solidFill>
          <a:ln w="1905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4544568" y="1828800"/>
            <a:ext cx="3099816" cy="3657600"/>
          </a:xfrm>
          <a:prstGeom prst="rect">
            <a:avLst/>
          </a:prstGeom>
          <a:noFill/>
        </p:spPr>
        <p:txBody>
          <a:bodyPr wrap="square" lIns="0" rIns="0" tIns="0" bIns="0">
            <a:spAutoFit/>
          </a:bodyPr>
          <a:lstStyle/>
          <a:p>
            <a:pPr>
              <a:spcAft>
                <a:spcPts val="200"/>
              </a:spcAft>
            </a:pPr>
            <a:r>
              <a:rPr sz="1300" b="1">
                <a:solidFill>
                  <a:srgbClr val="E65100"/>
                </a:solidFill>
                <a:latin typeface="Segoe UI"/>
              </a:rPr>
              <a:t>02. </a:t>
            </a:r>
            <a:r>
              <a:rPr sz="1200" b="1">
                <a:solidFill>
                  <a:srgbClr val="0F2C59"/>
                </a:solidFill>
                <a:latin typeface="Segoe UI"/>
              </a:rPr>
              <a:t>Giao Dịch Cơ Sở Dữ Liệu &amp; Khóa Bi Quan</a:t>
            </a:r>
          </a:p>
          <a:p>
            <a:pPr>
              <a:spcAft>
                <a:spcPts val="800"/>
              </a:spcAft>
              <a:defRPr sz="950" i="1">
                <a:solidFill>
                  <a:srgbClr val="64748B"/>
                </a:solidFill>
                <a:latin typeface="Segoe UI"/>
              </a:defRPr>
            </a:pPr>
            <a:r>
              <a:t>Bảo toàn tính nguyên tử (ACID Transaction)</a:t>
            </a:r>
          </a:p>
          <a:p>
            <a:pPr>
              <a:spcAft>
                <a:spcPts val="400"/>
              </a:spcAft>
              <a:defRPr sz="950">
                <a:solidFill>
                  <a:srgbClr val="1E293B"/>
                </a:solidFill>
                <a:latin typeface="Segoe UI"/>
              </a:defRPr>
            </a:pPr>
            <a:r>
              <a:t>• Khóa bản ghi sản phẩm bằng lockForUpdate() ngăn ngừa tranh chấp tài nguyên khi nhiều người mua cùng lúc.</a:t>
            </a:r>
          </a:p>
          <a:p>
            <a:pPr>
              <a:spcAft>
                <a:spcPts val="400"/>
              </a:spcAft>
              <a:defRPr sz="950">
                <a:solidFill>
                  <a:srgbClr val="1E293B"/>
                </a:solidFill>
                <a:latin typeface="Segoe UI"/>
              </a:defRPr>
            </a:pPr>
            <a:r>
              <a:t>• Trừ tồn kho (decrement) và tạo đồng thời bản ghi trong orders &amp; order_items trong cùng một DB::transaction().</a:t>
            </a:r>
          </a:p>
          <a:p>
            <a:pPr>
              <a:spcAft>
                <a:spcPts val="400"/>
              </a:spcAft>
              <a:defRPr sz="950">
                <a:solidFill>
                  <a:srgbClr val="1E293B"/>
                </a:solidFill>
                <a:latin typeface="Segoe UI"/>
              </a:defRPr>
            </a:pPr>
            <a:r>
              <a:t>• Nếu xảy ra bất kỳ lỗi ngoại lệ nào giữa chừng, toàn bộ giao dịch lập tức Rollback về trạng thái ban đầu.</a:t>
            </a:r>
          </a:p>
          <a:p>
            <a:pPr>
              <a:spcAft>
                <a:spcPts val="400"/>
              </a:spcAft>
              <a:defRPr sz="950">
                <a:solidFill>
                  <a:srgbClr val="1E293B"/>
                </a:solidFill>
                <a:latin typeface="Segoe UI"/>
              </a:defRPr>
            </a:pPr>
            <a:r>
              <a:t>• Đảm bảo không bao giờ xuất hiện đơn hàng 'mồ côi' hay kho hàng bị trừ ảo.</a:t>
            </a:r>
          </a:p>
        </p:txBody>
      </p:sp>
      <p:sp xmlns:a="http://schemas.openxmlformats.org/drawingml/2006/main">
        <p:nvSpPr>
          <p:cNvPr id="24" name="Rounded Rectangle 23"/>
          <p:cNvSpPr/>
          <p:nvPr/>
        </p:nvSpPr>
        <p:spPr>
          <a:xfrm>
            <a:off x="8028432" y="1691640"/>
            <a:ext cx="342900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8193024" y="1828800"/>
            <a:ext cx="3099816" cy="3657600"/>
          </a:xfrm>
          <a:prstGeom prst="rect">
            <a:avLst/>
          </a:prstGeom>
          <a:noFill/>
        </p:spPr>
        <p:txBody>
          <a:bodyPr wrap="square" lIns="0" rIns="0" tIns="0" bIns="0">
            <a:spAutoFit/>
          </a:bodyPr>
          <a:lstStyle/>
          <a:p>
            <a:pPr>
              <a:spcAft>
                <a:spcPts val="200"/>
              </a:spcAft>
            </a:pPr>
            <a:r>
              <a:rPr sz="1300" b="1">
                <a:solidFill>
                  <a:srgbClr val="E65100"/>
                </a:solidFill>
                <a:latin typeface="Segoe UI"/>
              </a:rPr>
              <a:t>03. </a:t>
            </a:r>
            <a:r>
              <a:rPr sz="1200" b="1">
                <a:solidFill>
                  <a:srgbClr val="0F2C59"/>
                </a:solidFill>
                <a:latin typeface="Segoe UI"/>
              </a:rPr>
              <a:t>Cơ Chế Chống Gửi Lặp Đơn Hàng</a:t>
            </a:r>
          </a:p>
          <a:p>
            <a:pPr>
              <a:spcAft>
                <a:spcPts val="800"/>
              </a:spcAft>
              <a:defRPr sz="950" i="1">
                <a:solidFill>
                  <a:srgbClr val="64748B"/>
                </a:solidFill>
                <a:latin typeface="Segoe UI"/>
              </a:defRPr>
            </a:pPr>
            <a:r>
              <a:t>Bảo vệ Idempotency Token</a:t>
            </a:r>
          </a:p>
          <a:p>
            <a:pPr>
              <a:spcAft>
                <a:spcPts val="400"/>
              </a:spcAft>
              <a:defRPr sz="950">
                <a:solidFill>
                  <a:srgbClr val="1E293B"/>
                </a:solidFill>
                <a:latin typeface="Segoe UI"/>
              </a:defRPr>
            </a:pPr>
            <a:r>
              <a:t>• Tạo checkout_token duy nhất gắn liền với mỗi phiên thanh toán của người dùng.</a:t>
            </a:r>
          </a:p>
          <a:p>
            <a:pPr>
              <a:spcAft>
                <a:spcPts val="400"/>
              </a:spcAft>
              <a:defRPr sz="950">
                <a:solidFill>
                  <a:srgbClr val="1E293B"/>
                </a:solidFill>
                <a:latin typeface="Segoe UI"/>
              </a:defRPr>
            </a:pPr>
            <a:r>
              <a:t>• Nếu người mua nhấn nút thanh toán nhiều lần do mạng chậm, hệ thống nhận diện token đã xử lý.</a:t>
            </a:r>
          </a:p>
          <a:p>
            <a:pPr>
              <a:spcAft>
                <a:spcPts val="400"/>
              </a:spcAft>
              <a:defRPr sz="950">
                <a:solidFill>
                  <a:srgbClr val="1E293B"/>
                </a:solidFill>
                <a:latin typeface="Segoe UI"/>
              </a:defRPr>
            </a:pPr>
            <a:r>
              <a:t>• Tự động điều hướng an toàn về đơn hàng hiện hữu, tuyệt đối không trừ kho hai lần.</a:t>
            </a:r>
          </a:p>
          <a:p>
            <a:pPr>
              <a:spcAft>
                <a:spcPts val="400"/>
              </a:spcAft>
              <a:defRPr sz="950">
                <a:solidFill>
                  <a:srgbClr val="1E293B"/>
                </a:solidFill>
                <a:latin typeface="Segoe UI"/>
              </a:defRPr>
            </a:pPr>
            <a:r>
              <a:t>• Chỉ khi tạo đơn thành công hoàn toàn mới thực hiện dọn sạch giỏ hàng Session.</a:t>
            </a:r>
          </a:p>
        </p:txBody>
      </p:sp>
      <p:sp xmlns:a="http://schemas.openxmlformats.org/drawingml/2006/main">
        <p:nvSpPr>
          <p:cNvPr id="26" name="Rounded Rectangle 25"/>
          <p:cNvSpPr/>
          <p:nvPr/>
        </p:nvSpPr>
        <p:spPr>
          <a:xfrm>
            <a:off x="731520" y="5760720"/>
            <a:ext cx="10725912" cy="59436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TextBox 26"/>
          <p:cNvSpPr txBox="1"/>
          <p:nvPr/>
        </p:nvSpPr>
        <p:spPr>
          <a:xfrm>
            <a:off x="868680" y="5833872"/>
            <a:ext cx="10451592" cy="457200"/>
          </a:xfrm>
          <a:prstGeom prst="rect">
            <a:avLst/>
          </a:prstGeom>
          <a:noFill/>
        </p:spPr>
        <p:txBody>
          <a:bodyPr wrap="square" lIns="0" rIns="0" tIns="0" bIns="0">
            <a:spAutoFit/>
          </a:bodyPr>
          <a:lstStyle/>
          <a:p>
            <a:r>
              <a:rPr sz="1000" b="1">
                <a:solidFill>
                  <a:srgbClr val="312E81"/>
                </a:solidFill>
                <a:latin typeface="Segoe UI"/>
              </a:rPr>
              <a:t>Kiểm soát tranh chấp &amp; Khôi phục giao dịch (Concurrency &amp; Rollback Control): </a:t>
            </a:r>
            <a:r>
              <a:rPr sz="950">
                <a:solidFill>
                  <a:srgbClr val="1E293B"/>
                </a:solidFill>
                <a:latin typeface="Segoe UI"/>
              </a:rPr>
              <a:t>Áp dụng triệt để khóa bi quan lockForUpdate() trong DB::transaction(). Khi hai khách hàng cùng đặt món hàng có tồn kho cuối cùng, giao dịch đến sau sẽ bị từ chối an toàn. Bất kỳ sự cố nào giữa chừng đều Rollback toàn bộ dữ liệu.</a:t>
            </a:r>
          </a:p>
        </p:txBody>
      </p:sp>
    </p:spTree>
    <p:extLst>
      <p:ext uri="{BB962C8B-B14F-4D97-AF65-F5344CB8AC3E}">
        <p14:creationId xmlns:p14="http://schemas.microsoft.com/office/powerpoint/2010/main" val="176399731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9cd1122ed0741a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1" name="TextBox 10"/>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Vòng Đời Trạng Thái Đơn Hàng &amp; Quy Trình Hủy Đơn</a:t>
            </a:r>
          </a:p>
        </p:txBody>
      </p:sp>
      <p:sp xmlns:a="http://schemas.openxmlformats.org/drawingml/2006/main">
        <p:nvSpPr>
          <p:cNvPr id="12" name="TextBox 11"/>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Mô hình máy trạng thái hữu hạn (State Machine) quản lý chặt chẽ quyền hạn thay đổi và hoàn trả tồn kho</a:t>
            </a:r>
          </a:p>
        </p:txBody>
      </p:sp>
      <p:sp xmlns:a="http://schemas.openxmlformats.org/drawingml/2006/main">
        <p:nvSpPr>
          <p:cNvPr id="13" name="Rounded Rectangle 12"/>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14 / 18</a:t>
            </a:r>
          </a:p>
        </p:txBody>
      </p:sp>
      <p:graphicFrame xmlns:a="http://schemas.openxmlformats.org/drawingml/2006/main">
        <p:nvGraphicFramePr>
          <p:cNvPr id="14" name="Table 13"/>
          <p:cNvGraphicFramePr>
            <a:graphicFrameLocks noGrp="1"/>
          </p:cNvGraphicFramePr>
          <p:nvPr/>
        </p:nvGraphicFramePr>
        <p:xfrm>
          <a:off x="731520" y="1691640"/>
          <a:ext cx="10725912" cy="2926080"/>
        </p:xfrm>
        <a:graphic>
          <a:graphicData uri="http://schemas.openxmlformats.org/drawingml/2006/table">
            <a:tbl>
              <a:tblPr firstRow="1" bandRow="1">
                <a:tableStyleId>{5C22544A-7EE6-4342-B048-85BDC9FD1C3A}</a:tableStyleId>
              </a:tblPr>
              <a:tblGrid>
                <a:gridCol w="1645920"/>
                <a:gridCol w="2011680"/>
                <a:gridCol w="3931920"/>
                <a:gridCol w="3136392"/>
              </a:tblGrid>
              <a:tr h="585216">
                <a:tc>
                  <a:txBody>
                    <a:bodyPr/>
                    <a:lstStyle/>
                    <a:p>
                      <a:pPr algn="ctr">
                        <a:defRPr sz="1050" b="1">
                          <a:solidFill>
                            <a:srgbClr val="FFFFFF"/>
                          </a:solidFill>
                          <a:latin typeface="Segoe UI"/>
                        </a:defRPr>
                      </a:pPr>
                      <a:r>
                        <a:t>Mã Trạng Thái</a:t>
                      </a:r>
                    </a:p>
                  </a:txBody>
                  <a:tcPr anchor="ctr">
                    <a:solidFill>
                      <a:srgbClr val="0F2C59"/>
                    </a:solidFill>
                  </a:tcPr>
                </a:tc>
                <a:tc>
                  <a:txBody>
                    <a:bodyPr/>
                    <a:lstStyle/>
                    <a:p>
                      <a:pPr algn="l">
                        <a:defRPr sz="1050" b="1">
                          <a:solidFill>
                            <a:srgbClr val="FFFFFF"/>
                          </a:solidFill>
                          <a:latin typeface="Segoe UI"/>
                        </a:defRPr>
                      </a:pPr>
                      <a:r>
                        <a:t>Ý Nghĩa Nghiệp Vụ</a:t>
                      </a:r>
                    </a:p>
                  </a:txBody>
                  <a:tcPr anchor="ctr">
                    <a:solidFill>
                      <a:srgbClr val="0F2C59"/>
                    </a:solidFill>
                  </a:tcPr>
                </a:tc>
                <a:tc>
                  <a:txBody>
                    <a:bodyPr/>
                    <a:lstStyle/>
                    <a:p>
                      <a:pPr algn="l">
                        <a:defRPr sz="1050" b="1">
                          <a:solidFill>
                            <a:srgbClr val="FFFFFF"/>
                          </a:solidFill>
                          <a:latin typeface="Segoe UI"/>
                        </a:defRPr>
                      </a:pPr>
                      <a:r>
                        <a:t>Quyền Hạn Thao Tác Hợp Lệ</a:t>
                      </a:r>
                    </a:p>
                  </a:txBody>
                  <a:tcPr anchor="ctr">
                    <a:solidFill>
                      <a:srgbClr val="0F2C59"/>
                    </a:solidFill>
                  </a:tcPr>
                </a:tc>
                <a:tc>
                  <a:txBody>
                    <a:bodyPr/>
                    <a:lstStyle/>
                    <a:p>
                      <a:pPr algn="l">
                        <a:defRPr sz="1050" b="1">
                          <a:solidFill>
                            <a:srgbClr val="FFFFFF"/>
                          </a:solidFill>
                          <a:latin typeface="Segoe UI"/>
                        </a:defRPr>
                      </a:pPr>
                      <a:r>
                        <a:t>Cơ Chế Xử Lý Tồn Kho</a:t>
                      </a:r>
                    </a:p>
                  </a:txBody>
                  <a:tcPr anchor="ctr">
                    <a:solidFill>
                      <a:srgbClr val="0F2C59"/>
                    </a:solidFill>
                  </a:tcPr>
                </a:tc>
              </a:tr>
              <a:tr h="585216">
                <a:tc>
                  <a:txBody>
                    <a:bodyPr/>
                    <a:lstStyle/>
                    <a:p>
                      <a:pPr algn="ctr">
                        <a:defRPr sz="1000" b="1">
                          <a:solidFill>
                            <a:srgbClr val="E65100"/>
                          </a:solidFill>
                          <a:latin typeface="Consolas"/>
                        </a:defRPr>
                      </a:pPr>
                      <a:r>
                        <a:t>pending</a:t>
                      </a:r>
                    </a:p>
                  </a:txBody>
                  <a:tcPr anchor="ctr">
                    <a:solidFill>
                      <a:srgbClr val="FFFFFF"/>
                    </a:solidFill>
                  </a:tcPr>
                </a:tc>
                <a:tc>
                  <a:txBody>
                    <a:bodyPr/>
                    <a:lstStyle/>
                    <a:p>
                      <a:pPr>
                        <a:defRPr sz="1000" b="1">
                          <a:solidFill>
                            <a:srgbClr val="0F2C59"/>
                          </a:solidFill>
                          <a:latin typeface="Segoe UI"/>
                        </a:defRPr>
                      </a:pPr>
                      <a:r>
                        <a:t>Chờ xác nhận</a:t>
                      </a:r>
                    </a:p>
                  </a:txBody>
                  <a:tcPr anchor="ctr">
                    <a:solidFill>
                      <a:srgbClr val="FFFFFF"/>
                    </a:solidFill>
                  </a:tcPr>
                </a:tc>
                <a:tc>
                  <a:txBody>
                    <a:bodyPr/>
                    <a:lstStyle/>
                    <a:p>
                      <a:pPr>
                        <a:defRPr sz="1000">
                          <a:solidFill>
                            <a:srgbClr val="1E293B"/>
                          </a:solidFill>
                          <a:latin typeface="Segoe UI"/>
                        </a:defRPr>
                      </a:pPr>
                      <a:r>
                        <a:t>Admin chuyển sang Đang giao; Khách hàng hoặc Admin được phép hủy</a:t>
                      </a:r>
                    </a:p>
                  </a:txBody>
                  <a:tcPr anchor="ctr">
                    <a:solidFill>
                      <a:srgbClr val="FFFFFF"/>
                    </a:solidFill>
                  </a:tcPr>
                </a:tc>
                <a:tc>
                  <a:txBody>
                    <a:bodyPr/>
                    <a:lstStyle/>
                    <a:p>
                      <a:pPr>
                        <a:defRPr sz="1000">
                          <a:solidFill>
                            <a:srgbClr val="1E293B"/>
                          </a:solidFill>
                          <a:latin typeface="Segoe UI"/>
                        </a:defRPr>
                      </a:pPr>
                      <a:r>
                        <a:t>Tồn kho đã được trừ ngay lúc khách đặt hàng thành công.</a:t>
                      </a:r>
                    </a:p>
                  </a:txBody>
                  <a:tcPr anchor="ctr">
                    <a:solidFill>
                      <a:srgbClr val="FFFFFF"/>
                    </a:solidFill>
                  </a:tcPr>
                </a:tc>
              </a:tr>
              <a:tr h="585216">
                <a:tc>
                  <a:txBody>
                    <a:bodyPr/>
                    <a:lstStyle/>
                    <a:p>
                      <a:pPr algn="ctr">
                        <a:defRPr sz="1000" b="1">
                          <a:solidFill>
                            <a:srgbClr val="E65100"/>
                          </a:solidFill>
                          <a:latin typeface="Consolas"/>
                        </a:defRPr>
                      </a:pPr>
                      <a:r>
                        <a:t>processing</a:t>
                      </a:r>
                    </a:p>
                  </a:txBody>
                  <a:tcPr anchor="ctr">
                    <a:solidFill>
                      <a:srgbClr val="F8FAFC"/>
                    </a:solidFill>
                  </a:tcPr>
                </a:tc>
                <a:tc>
                  <a:txBody>
                    <a:bodyPr/>
                    <a:lstStyle/>
                    <a:p>
                      <a:pPr>
                        <a:defRPr sz="1000" b="1">
                          <a:solidFill>
                            <a:srgbClr val="0F2C59"/>
                          </a:solidFill>
                          <a:latin typeface="Segoe UI"/>
                        </a:defRPr>
                      </a:pPr>
                      <a:r>
                        <a:t>Đang giao hàng</a:t>
                      </a:r>
                    </a:p>
                  </a:txBody>
                  <a:tcPr anchor="ctr">
                    <a:solidFill>
                      <a:srgbClr val="F8FAFC"/>
                    </a:solidFill>
                  </a:tcPr>
                </a:tc>
                <a:tc>
                  <a:txBody>
                    <a:bodyPr/>
                    <a:lstStyle/>
                    <a:p>
                      <a:pPr>
                        <a:defRPr sz="1000">
                          <a:solidFill>
                            <a:srgbClr val="1E293B"/>
                          </a:solidFill>
                          <a:latin typeface="Segoe UI"/>
                        </a:defRPr>
                      </a:pPr>
                      <a:r>
                        <a:t>Admin chuyển sang Hoàn thành hoặc Hủy đơn</a:t>
                      </a:r>
                    </a:p>
                  </a:txBody>
                  <a:tcPr anchor="ctr">
                    <a:solidFill>
                      <a:srgbClr val="F8FAFC"/>
                    </a:solidFill>
                  </a:tcPr>
                </a:tc>
                <a:tc>
                  <a:txBody>
                    <a:bodyPr/>
                    <a:lstStyle/>
                    <a:p>
                      <a:pPr>
                        <a:defRPr sz="1000">
                          <a:solidFill>
                            <a:srgbClr val="1E293B"/>
                          </a:solidFill>
                          <a:latin typeface="Segoe UI"/>
                        </a:defRPr>
                      </a:pPr>
                      <a:r>
                        <a:t>Nếu bị hủy: hệ thống tự động hoàn lại tồn kho cho từng sản phẩm.</a:t>
                      </a:r>
                    </a:p>
                  </a:txBody>
                  <a:tcPr anchor="ctr">
                    <a:solidFill>
                      <a:srgbClr val="F8FAFC"/>
                    </a:solidFill>
                  </a:tcPr>
                </a:tc>
              </a:tr>
              <a:tr h="585216">
                <a:tc>
                  <a:txBody>
                    <a:bodyPr/>
                    <a:lstStyle/>
                    <a:p>
                      <a:pPr algn="ctr">
                        <a:defRPr sz="1000" b="1">
                          <a:solidFill>
                            <a:srgbClr val="E65100"/>
                          </a:solidFill>
                          <a:latin typeface="Consolas"/>
                        </a:defRPr>
                      </a:pPr>
                      <a:r>
                        <a:t>completed</a:t>
                      </a:r>
                    </a:p>
                  </a:txBody>
                  <a:tcPr anchor="ctr">
                    <a:solidFill>
                      <a:srgbClr val="FFFFFF"/>
                    </a:solidFill>
                  </a:tcPr>
                </a:tc>
                <a:tc>
                  <a:txBody>
                    <a:bodyPr/>
                    <a:lstStyle/>
                    <a:p>
                      <a:pPr>
                        <a:defRPr sz="1000" b="1">
                          <a:solidFill>
                            <a:srgbClr val="0F2C59"/>
                          </a:solidFill>
                          <a:latin typeface="Segoe UI"/>
                        </a:defRPr>
                      </a:pPr>
                      <a:r>
                        <a:t>Giao thành công</a:t>
                      </a:r>
                    </a:p>
                  </a:txBody>
                  <a:tcPr anchor="ctr">
                    <a:solidFill>
                      <a:srgbClr val="FFFFFF"/>
                    </a:solidFill>
                  </a:tcPr>
                </a:tc>
                <a:tc>
                  <a:txBody>
                    <a:bodyPr/>
                    <a:lstStyle/>
                    <a:p>
                      <a:pPr>
                        <a:defRPr sz="1000">
                          <a:solidFill>
                            <a:srgbClr val="1E293B"/>
                          </a:solidFill>
                          <a:latin typeface="Segoe UI"/>
                        </a:defRPr>
                      </a:pPr>
                      <a:r>
                        <a:t>Trạng thái kết thúc; hệ thống khóa thao tác không cho phép hủy</a:t>
                      </a:r>
                    </a:p>
                  </a:txBody>
                  <a:tcPr anchor="ctr">
                    <a:solidFill>
                      <a:srgbClr val="FFFFFF"/>
                    </a:solidFill>
                  </a:tcPr>
                </a:tc>
                <a:tc>
                  <a:txBody>
                    <a:bodyPr/>
                    <a:lstStyle/>
                    <a:p>
                      <a:pPr>
                        <a:defRPr sz="1000">
                          <a:solidFill>
                            <a:srgbClr val="1E293B"/>
                          </a:solidFill>
                          <a:latin typeface="Segoe UI"/>
                        </a:defRPr>
                      </a:pPr>
                      <a:r>
                        <a:t>Không hoàn kho; chính thức ghi nhận doanh thu vào báo cáo tài chính.</a:t>
                      </a:r>
                    </a:p>
                  </a:txBody>
                  <a:tcPr anchor="ctr">
                    <a:solidFill>
                      <a:srgbClr val="FFFFFF"/>
                    </a:solidFill>
                  </a:tcPr>
                </a:tc>
              </a:tr>
              <a:tr h="585216">
                <a:tc>
                  <a:txBody>
                    <a:bodyPr/>
                    <a:lstStyle/>
                    <a:p>
                      <a:pPr algn="ctr">
                        <a:defRPr sz="1000" b="1">
                          <a:solidFill>
                            <a:srgbClr val="E65100"/>
                          </a:solidFill>
                          <a:latin typeface="Consolas"/>
                        </a:defRPr>
                      </a:pPr>
                      <a:r>
                        <a:t>cancelled</a:t>
                      </a:r>
                    </a:p>
                  </a:txBody>
                  <a:tcPr anchor="ctr">
                    <a:solidFill>
                      <a:srgbClr val="F8FAFC"/>
                    </a:solidFill>
                  </a:tcPr>
                </a:tc>
                <a:tc>
                  <a:txBody>
                    <a:bodyPr/>
                    <a:lstStyle/>
                    <a:p>
                      <a:pPr>
                        <a:defRPr sz="1000" b="1">
                          <a:solidFill>
                            <a:srgbClr val="0F2C59"/>
                          </a:solidFill>
                          <a:latin typeface="Segoe UI"/>
                        </a:defRPr>
                      </a:pPr>
                      <a:r>
                        <a:t>Đã hủy đơn</a:t>
                      </a:r>
                    </a:p>
                  </a:txBody>
                  <a:tcPr anchor="ctr">
                    <a:solidFill>
                      <a:srgbClr val="F8FAFC"/>
                    </a:solidFill>
                  </a:tcPr>
                </a:tc>
                <a:tc>
                  <a:txBody>
                    <a:bodyPr/>
                    <a:lstStyle/>
                    <a:p>
                      <a:pPr>
                        <a:defRPr sz="1000">
                          <a:solidFill>
                            <a:srgbClr val="1E293B"/>
                          </a:solidFill>
                          <a:latin typeface="Segoe UI"/>
                        </a:defRPr>
                      </a:pPr>
                      <a:r>
                        <a:t>Trạng thái đóng; không thể chuyển tiếp sang trạng thái khác</a:t>
                      </a:r>
                    </a:p>
                  </a:txBody>
                  <a:tcPr anchor="ctr">
                    <a:solidFill>
                      <a:srgbClr val="F8FAFC"/>
                    </a:solidFill>
                  </a:tcPr>
                </a:tc>
                <a:tc>
                  <a:txBody>
                    <a:bodyPr/>
                    <a:lstStyle/>
                    <a:p>
                      <a:pPr>
                        <a:defRPr sz="1000">
                          <a:solidFill>
                            <a:srgbClr val="1E293B"/>
                          </a:solidFill>
                          <a:latin typeface="Segoe UI"/>
                        </a:defRPr>
                      </a:pPr>
                      <a:r>
                        <a:t>Tồn kho được hoàn trả đúng 1 lần; chặn hoàn lặp nếu gửi request trùng.</a:t>
                      </a:r>
                    </a:p>
                  </a:txBody>
                  <a:tcPr anchor="ctr">
                    <a:solidFill>
                      <a:srgbClr val="F8FAFC"/>
                    </a:solidFill>
                  </a:tcPr>
                </a:tc>
              </a:tr>
            </a:tbl>
          </a:graphicData>
        </a:graphic>
      </p:graphicFrame>
      <p:sp xmlns:a="http://schemas.openxmlformats.org/drawingml/2006/main">
        <p:nvSpPr>
          <p:cNvPr id="15" name="Rounded Rectangle 14"/>
          <p:cNvSpPr/>
          <p:nvPr/>
        </p:nvSpPr>
        <p:spPr>
          <a:xfrm>
            <a:off x="731520" y="4800600"/>
            <a:ext cx="10725912" cy="150876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914400" y="4892040"/>
            <a:ext cx="10360152" cy="1325880"/>
          </a:xfrm>
          <a:prstGeom prst="rect">
            <a:avLst/>
          </a:prstGeom>
          <a:noFill/>
        </p:spPr>
        <p:txBody>
          <a:bodyPr wrap="square" lIns="0" rIns="0" tIns="0" bIns="0">
            <a:spAutoFit/>
          </a:bodyPr>
          <a:lstStyle/>
          <a:p>
            <a:pPr>
              <a:spcAft>
                <a:spcPts val="400"/>
              </a:spcAft>
              <a:defRPr sz="1100" b="1">
                <a:solidFill>
                  <a:srgbClr val="312E81"/>
                </a:solidFill>
                <a:latin typeface="Segoe UI"/>
              </a:defRPr>
            </a:pPr>
            <a:r>
              <a:t>🔄  QUY TRÌNH HOÀN TRẢ TỒN KHO NGUYÊN TỬ TRONG GIAO DỊCH (ATOMIC STOCK RESTORATION)</a:t>
            </a:r>
          </a:p>
          <a:p>
            <a:pPr>
              <a:defRPr sz="950">
                <a:solidFill>
                  <a:srgbClr val="1E293B"/>
                </a:solidFill>
                <a:latin typeface="Segoe UI"/>
              </a:defRPr>
            </a:pPr>
            <a:r>
              <a:t>Mọi thao tác hủy đơn đều được bọc trong DB::transaction(). Hệ thống đồng thời chuyển trạng thái đơn sang 'cancelled' và duyệt qua từng order_item để gọi increment('stock', $quantity). Nếu có lỗi gián đoạn mạng giữa chừng, toàn bộ trạng thái và số lượng tồn kho đều được Rollback nguyên vẹn, loại trừ triệt để thất thoát dữ liệu.</a:t>
            </a:r>
          </a:p>
        </p:txBody>
      </p:sp>
    </p:spTree>
    <p:extLst>
      <p:ext uri="{BB962C8B-B14F-4D97-AF65-F5344CB8AC3E}">
        <p14:creationId xmlns:p14="http://schemas.microsoft.com/office/powerpoint/2010/main" val="17646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bc37bcd2bcc453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1" name="TextBox 10"/>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Kiểm Thử Đối Chiếu Doanh Thu &amp; Tồn Kho Thực Nghiệm</a:t>
            </a:r>
          </a:p>
        </p:txBody>
      </p:sp>
      <p:sp xmlns:a="http://schemas.openxmlformats.org/drawingml/2006/main">
        <p:nvSpPr>
          <p:cNvPr id="12" name="TextBox 11"/>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Số liệu kiểm chứng thực tế từ kịch bản kiểm thử: Đơn giá 95.000 đ/sản phẩm, Tồn kho ban đầu 35 sản phẩm</a:t>
            </a:r>
          </a:p>
        </p:txBody>
      </p:sp>
      <p:sp xmlns:a="http://schemas.openxmlformats.org/drawingml/2006/main">
        <p:nvSpPr>
          <p:cNvPr id="13" name="Rounded Rectangle 12"/>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15 / 18</a:t>
            </a:r>
          </a:p>
        </p:txBody>
      </p:sp>
      <p:graphicFrame xmlns:a="http://schemas.openxmlformats.org/drawingml/2006/main">
        <p:nvGraphicFramePr>
          <p:cNvPr id="14" name="Table 13"/>
          <p:cNvGraphicFramePr>
            <a:graphicFrameLocks noGrp="1"/>
          </p:cNvGraphicFramePr>
          <p:nvPr/>
        </p:nvGraphicFramePr>
        <p:xfrm>
          <a:off x="731520" y="1691640"/>
          <a:ext cx="10725912" cy="3063240"/>
        </p:xfrm>
        <a:graphic>
          <a:graphicData uri="http://schemas.openxmlformats.org/drawingml/2006/table">
            <a:tbl>
              <a:tblPr firstRow="1" bandRow="1">
                <a:tableStyleId>{5C22544A-7EE6-4342-B048-85BDC9FD1C3A}</a:tableStyleId>
              </a:tblPr>
              <a:tblGrid>
                <a:gridCol w="1645920"/>
                <a:gridCol w="2926080"/>
                <a:gridCol w="2011680"/>
                <a:gridCol w="2103120"/>
                <a:gridCol w="2039112"/>
              </a:tblGrid>
              <a:tr h="510540">
                <a:tc>
                  <a:txBody>
                    <a:bodyPr/>
                    <a:lstStyle/>
                    <a:p>
                      <a:pPr algn="ctr">
                        <a:defRPr sz="1050" b="1">
                          <a:solidFill>
                            <a:srgbClr val="FFFFFF"/>
                          </a:solidFill>
                          <a:latin typeface="Segoe UI"/>
                        </a:defRPr>
                      </a:pPr>
                      <a:r>
                        <a:t>Bước Thao Tác</a:t>
                      </a:r>
                    </a:p>
                  </a:txBody>
                  <a:tcPr anchor="ctr">
                    <a:solidFill>
                      <a:srgbClr val="0F2C59"/>
                    </a:solidFill>
                  </a:tcPr>
                </a:tc>
                <a:tc>
                  <a:txBody>
                    <a:bodyPr/>
                    <a:lstStyle/>
                    <a:p>
                      <a:pPr algn="l">
                        <a:defRPr sz="1050" b="1">
                          <a:solidFill>
                            <a:srgbClr val="FFFFFF"/>
                          </a:solidFill>
                          <a:latin typeface="Segoe UI"/>
                        </a:defRPr>
                      </a:pPr>
                      <a:r>
                        <a:t>Nghiệp Vụ Diễn Ra</a:t>
                      </a:r>
                    </a:p>
                  </a:txBody>
                  <a:tcPr anchor="ctr">
                    <a:solidFill>
                      <a:srgbClr val="0F2C59"/>
                    </a:solidFill>
                  </a:tcPr>
                </a:tc>
                <a:tc>
                  <a:txBody>
                    <a:bodyPr/>
                    <a:lstStyle/>
                    <a:p>
                      <a:pPr algn="ctr">
                        <a:defRPr sz="1050" b="1">
                          <a:solidFill>
                            <a:srgbClr val="FFFFFF"/>
                          </a:solidFill>
                          <a:latin typeface="Segoe UI"/>
                        </a:defRPr>
                      </a:pPr>
                      <a:r>
                        <a:t>Trạng Thái Đơn Hàng</a:t>
                      </a:r>
                    </a:p>
                  </a:txBody>
                  <a:tcPr anchor="ctr">
                    <a:solidFill>
                      <a:srgbClr val="0F2C59"/>
                    </a:solidFill>
                  </a:tcPr>
                </a:tc>
                <a:tc>
                  <a:txBody>
                    <a:bodyPr/>
                    <a:lstStyle/>
                    <a:p>
                      <a:pPr algn="ctr">
                        <a:defRPr sz="1050" b="1">
                          <a:solidFill>
                            <a:srgbClr val="FFFFFF"/>
                          </a:solidFill>
                          <a:latin typeface="Segoe UI"/>
                        </a:defRPr>
                      </a:pPr>
                      <a:r>
                        <a:t>Doanh Thu Ghi Nhận</a:t>
                      </a:r>
                    </a:p>
                  </a:txBody>
                  <a:tcPr anchor="ctr">
                    <a:solidFill>
                      <a:srgbClr val="0F2C59"/>
                    </a:solidFill>
                  </a:tcPr>
                </a:tc>
                <a:tc>
                  <a:txBody>
                    <a:bodyPr/>
                    <a:lstStyle/>
                    <a:p>
                      <a:pPr algn="ctr">
                        <a:defRPr sz="1050" b="1">
                          <a:solidFill>
                            <a:srgbClr val="FFFFFF"/>
                          </a:solidFill>
                          <a:latin typeface="Segoe UI"/>
                        </a:defRPr>
                      </a:pPr>
                      <a:r>
                        <a:t>Tồn Kho Thực Tế</a:t>
                      </a:r>
                    </a:p>
                  </a:txBody>
                  <a:tcPr anchor="ctr">
                    <a:solidFill>
                      <a:srgbClr val="0F2C59"/>
                    </a:solidFill>
                  </a:tcPr>
                </a:tc>
              </a:tr>
              <a:tr h="510540">
                <a:tc>
                  <a:txBody>
                    <a:bodyPr/>
                    <a:lstStyle/>
                    <a:p>
                      <a:pPr algn="ctr">
                        <a:defRPr sz="1000" b="1">
                          <a:solidFill>
                            <a:srgbClr val="0F2C59"/>
                          </a:solidFill>
                          <a:latin typeface="Segoe UI"/>
                        </a:defRPr>
                      </a:pPr>
                      <a:r>
                        <a:t>Ban đầu</a:t>
                      </a:r>
                    </a:p>
                  </a:txBody>
                  <a:tcPr anchor="ctr">
                    <a:solidFill>
                      <a:srgbClr val="FFFFFF"/>
                    </a:solidFill>
                  </a:tcPr>
                </a:tc>
                <a:tc>
                  <a:txBody>
                    <a:bodyPr/>
                    <a:lstStyle/>
                    <a:p>
                      <a:pPr>
                        <a:defRPr sz="1000">
                          <a:solidFill>
                            <a:srgbClr val="1E293B"/>
                          </a:solidFill>
                          <a:latin typeface="Segoe UI"/>
                        </a:defRPr>
                      </a:pPr>
                      <a:r>
                        <a:t>Khởi tạo dữ liệu mẫu kiểm thử</a:t>
                      </a:r>
                    </a:p>
                  </a:txBody>
                  <a:tcPr anchor="ctr">
                    <a:solidFill>
                      <a:srgbClr val="FFFFFF"/>
                    </a:solidFill>
                  </a:tcPr>
                </a:tc>
                <a:tc>
                  <a:txBody>
                    <a:bodyPr/>
                    <a:lstStyle/>
                    <a:p>
                      <a:pPr algn="ctr">
                        <a:defRPr sz="1000">
                          <a:solidFill>
                            <a:srgbClr val="1E293B"/>
                          </a:solidFill>
                          <a:latin typeface="Segoe UI"/>
                        </a:defRPr>
                      </a:pPr>
                      <a:r>
                        <a:t>Chưa phát sinh đơn</a:t>
                      </a:r>
                    </a:p>
                  </a:txBody>
                  <a:tcPr anchor="ctr">
                    <a:solidFill>
                      <a:srgbClr val="FFFFFF"/>
                    </a:solidFill>
                  </a:tcPr>
                </a:tc>
                <a:tc>
                  <a:txBody>
                    <a:bodyPr/>
                    <a:lstStyle/>
                    <a:p>
                      <a:pPr algn="ctr">
                        <a:defRPr sz="1000">
                          <a:solidFill>
                            <a:srgbClr val="1E293B"/>
                          </a:solidFill>
                          <a:latin typeface="Segoe UI"/>
                        </a:defRPr>
                      </a:pPr>
                      <a:r>
                        <a:t>0 đ</a:t>
                      </a:r>
                    </a:p>
                  </a:txBody>
                  <a:tcPr anchor="ctr">
                    <a:solidFill>
                      <a:srgbClr val="FFFFFF"/>
                    </a:solidFill>
                  </a:tcPr>
                </a:tc>
                <a:tc>
                  <a:txBody>
                    <a:bodyPr/>
                    <a:lstStyle/>
                    <a:p>
                      <a:pPr algn="ctr">
                        <a:defRPr sz="1000">
                          <a:solidFill>
                            <a:srgbClr val="1E293B"/>
                          </a:solidFill>
                          <a:latin typeface="Segoe UI"/>
                        </a:defRPr>
                      </a:pPr>
                      <a:r>
                        <a:t>35 sản phẩm</a:t>
                      </a:r>
                    </a:p>
                  </a:txBody>
                  <a:tcPr anchor="ctr">
                    <a:solidFill>
                      <a:srgbClr val="FFFFFF"/>
                    </a:solidFill>
                  </a:tcPr>
                </a:tc>
              </a:tr>
              <a:tr h="510540">
                <a:tc>
                  <a:txBody>
                    <a:bodyPr/>
                    <a:lstStyle/>
                    <a:p>
                      <a:pPr algn="ctr">
                        <a:defRPr sz="1000" b="1">
                          <a:solidFill>
                            <a:srgbClr val="0F2C59"/>
                          </a:solidFill>
                          <a:latin typeface="Segoe UI"/>
                        </a:defRPr>
                      </a:pPr>
                      <a:r>
                        <a:t>Đặt Đơn #1</a:t>
                      </a:r>
                    </a:p>
                  </a:txBody>
                  <a:tcPr anchor="ctr">
                    <a:solidFill>
                      <a:srgbClr val="F8FAFC"/>
                    </a:solidFill>
                  </a:tcPr>
                </a:tc>
                <a:tc>
                  <a:txBody>
                    <a:bodyPr/>
                    <a:lstStyle/>
                    <a:p>
                      <a:pPr>
                        <a:defRPr sz="1000">
                          <a:solidFill>
                            <a:srgbClr val="1E293B"/>
                          </a:solidFill>
                          <a:latin typeface="Segoe UI"/>
                        </a:defRPr>
                      </a:pPr>
                      <a:r>
                        <a:t>Khách mua 2 sản phẩm</a:t>
                      </a:r>
                    </a:p>
                  </a:txBody>
                  <a:tcPr anchor="ctr">
                    <a:solidFill>
                      <a:srgbClr val="F8FAFC"/>
                    </a:solidFill>
                  </a:tcPr>
                </a:tc>
                <a:tc>
                  <a:txBody>
                    <a:bodyPr/>
                    <a:lstStyle/>
                    <a:p>
                      <a:pPr algn="ctr">
                        <a:defRPr sz="1000">
                          <a:solidFill>
                            <a:srgbClr val="1E293B"/>
                          </a:solidFill>
                          <a:latin typeface="Segoe UI"/>
                        </a:defRPr>
                      </a:pPr>
                      <a:r>
                        <a:t>Chờ xác nhận (pending)</a:t>
                      </a:r>
                    </a:p>
                  </a:txBody>
                  <a:tcPr anchor="ctr">
                    <a:solidFill>
                      <a:srgbClr val="F8FAFC"/>
                    </a:solidFill>
                  </a:tcPr>
                </a:tc>
                <a:tc>
                  <a:txBody>
                    <a:bodyPr/>
                    <a:lstStyle/>
                    <a:p>
                      <a:pPr algn="ctr">
                        <a:defRPr sz="1000">
                          <a:solidFill>
                            <a:srgbClr val="1E293B"/>
                          </a:solidFill>
                          <a:latin typeface="Segoe UI"/>
                        </a:defRPr>
                      </a:pPr>
                      <a:r>
                        <a:t>0 đ (Chưa hoàn thành)</a:t>
                      </a:r>
                    </a:p>
                  </a:txBody>
                  <a:tcPr anchor="ctr">
                    <a:solidFill>
                      <a:srgbClr val="F8FAFC"/>
                    </a:solidFill>
                  </a:tcPr>
                </a:tc>
                <a:tc>
                  <a:txBody>
                    <a:bodyPr/>
                    <a:lstStyle/>
                    <a:p>
                      <a:pPr algn="ctr">
                        <a:defRPr sz="1000" b="1">
                          <a:solidFill>
                            <a:srgbClr val="E65100"/>
                          </a:solidFill>
                          <a:latin typeface="Segoe UI"/>
                        </a:defRPr>
                      </a:pPr>
                      <a:r>
                        <a:t>33 sản phẩm (-2)</a:t>
                      </a:r>
                    </a:p>
                  </a:txBody>
                  <a:tcPr anchor="ctr">
                    <a:solidFill>
                      <a:srgbClr val="F8FAFC"/>
                    </a:solidFill>
                  </a:tcPr>
                </a:tc>
              </a:tr>
              <a:tr h="510540">
                <a:tc>
                  <a:txBody>
                    <a:bodyPr/>
                    <a:lstStyle/>
                    <a:p>
                      <a:pPr algn="ctr">
                        <a:defRPr sz="1000" b="1">
                          <a:solidFill>
                            <a:srgbClr val="0F2C59"/>
                          </a:solidFill>
                          <a:latin typeface="Segoe UI"/>
                        </a:defRPr>
                      </a:pPr>
                      <a:r>
                        <a:t>Đặt Đơn #2</a:t>
                      </a:r>
                    </a:p>
                  </a:txBody>
                  <a:tcPr anchor="ctr">
                    <a:solidFill>
                      <a:srgbClr val="FFFFFF"/>
                    </a:solidFill>
                  </a:tcPr>
                </a:tc>
                <a:tc>
                  <a:txBody>
                    <a:bodyPr/>
                    <a:lstStyle/>
                    <a:p>
                      <a:pPr>
                        <a:defRPr sz="1000">
                          <a:solidFill>
                            <a:srgbClr val="1E293B"/>
                          </a:solidFill>
                          <a:latin typeface="Segoe UI"/>
                        </a:defRPr>
                      </a:pPr>
                      <a:r>
                        <a:t>Khách mua 1 sản phẩm</a:t>
                      </a:r>
                    </a:p>
                  </a:txBody>
                  <a:tcPr anchor="ctr">
                    <a:solidFill>
                      <a:srgbClr val="FFFFFF"/>
                    </a:solidFill>
                  </a:tcPr>
                </a:tc>
                <a:tc>
                  <a:txBody>
                    <a:bodyPr/>
                    <a:lstStyle/>
                    <a:p>
                      <a:pPr algn="ctr">
                        <a:defRPr sz="1000">
                          <a:solidFill>
                            <a:srgbClr val="1E293B"/>
                          </a:solidFill>
                          <a:latin typeface="Segoe UI"/>
                        </a:defRPr>
                      </a:pPr>
                      <a:r>
                        <a:t>Chờ xác nhận (pending)</a:t>
                      </a:r>
                    </a:p>
                  </a:txBody>
                  <a:tcPr anchor="ctr">
                    <a:solidFill>
                      <a:srgbClr val="FFFFFF"/>
                    </a:solidFill>
                  </a:tcPr>
                </a:tc>
                <a:tc>
                  <a:txBody>
                    <a:bodyPr/>
                    <a:lstStyle/>
                    <a:p>
                      <a:pPr algn="ctr">
                        <a:defRPr sz="1000">
                          <a:solidFill>
                            <a:srgbClr val="1E293B"/>
                          </a:solidFill>
                          <a:latin typeface="Segoe UI"/>
                        </a:defRPr>
                      </a:pPr>
                      <a:r>
                        <a:t>0 đ (Chưa hoàn thành)</a:t>
                      </a:r>
                    </a:p>
                  </a:txBody>
                  <a:tcPr anchor="ctr">
                    <a:solidFill>
                      <a:srgbClr val="FFFFFF"/>
                    </a:solidFill>
                  </a:tcPr>
                </a:tc>
                <a:tc>
                  <a:txBody>
                    <a:bodyPr/>
                    <a:lstStyle/>
                    <a:p>
                      <a:pPr algn="ctr">
                        <a:defRPr sz="1000">
                          <a:solidFill>
                            <a:srgbClr val="1E293B"/>
                          </a:solidFill>
                          <a:latin typeface="Segoe UI"/>
                        </a:defRPr>
                      </a:pPr>
                      <a:r>
                        <a:t>32 sản phẩm (-1)</a:t>
                      </a:r>
                    </a:p>
                  </a:txBody>
                  <a:tcPr anchor="ctr">
                    <a:solidFill>
                      <a:srgbClr val="FFFFFF"/>
                    </a:solidFill>
                  </a:tcPr>
                </a:tc>
              </a:tr>
              <a:tr h="510540">
                <a:tc>
                  <a:txBody>
                    <a:bodyPr/>
                    <a:lstStyle/>
                    <a:p>
                      <a:pPr algn="ctr">
                        <a:defRPr sz="1000" b="1">
                          <a:solidFill>
                            <a:srgbClr val="0F2C59"/>
                          </a:solidFill>
                          <a:latin typeface="Segoe UI"/>
                        </a:defRPr>
                      </a:pPr>
                      <a:r>
                        <a:t>Xử lý Đơn #1</a:t>
                      </a:r>
                    </a:p>
                  </a:txBody>
                  <a:tcPr anchor="ctr">
                    <a:solidFill>
                      <a:srgbClr val="F8FAFC"/>
                    </a:solidFill>
                  </a:tcPr>
                </a:tc>
                <a:tc>
                  <a:txBody>
                    <a:bodyPr/>
                    <a:lstStyle/>
                    <a:p>
                      <a:pPr>
                        <a:defRPr sz="1000">
                          <a:solidFill>
                            <a:srgbClr val="1E293B"/>
                          </a:solidFill>
                          <a:latin typeface="Segoe UI"/>
                        </a:defRPr>
                      </a:pPr>
                      <a:r>
                        <a:t>Admin duyệt giao thành công</a:t>
                      </a:r>
                    </a:p>
                  </a:txBody>
                  <a:tcPr anchor="ctr">
                    <a:solidFill>
                      <a:srgbClr val="F8FAFC"/>
                    </a:solidFill>
                  </a:tcPr>
                </a:tc>
                <a:tc>
                  <a:txBody>
                    <a:bodyPr/>
                    <a:lstStyle/>
                    <a:p>
                      <a:pPr algn="ctr">
                        <a:defRPr sz="1000">
                          <a:solidFill>
                            <a:srgbClr val="1E293B"/>
                          </a:solidFill>
                          <a:latin typeface="Segoe UI"/>
                        </a:defRPr>
                      </a:pPr>
                      <a:r>
                        <a:t>Hoàn thành (completed)</a:t>
                      </a:r>
                    </a:p>
                  </a:txBody>
                  <a:tcPr anchor="ctr">
                    <a:solidFill>
                      <a:srgbClr val="F8FAFC"/>
                    </a:solidFill>
                  </a:tcPr>
                </a:tc>
                <a:tc>
                  <a:txBody>
                    <a:bodyPr/>
                    <a:lstStyle/>
                    <a:p>
                      <a:pPr algn="ctr">
                        <a:defRPr sz="1000" b="1">
                          <a:solidFill>
                            <a:srgbClr val="166534"/>
                          </a:solidFill>
                          <a:latin typeface="Segoe UI"/>
                        </a:defRPr>
                      </a:pPr>
                      <a:r>
                        <a:t>+190.000 đ</a:t>
                      </a:r>
                    </a:p>
                  </a:txBody>
                  <a:tcPr anchor="ctr">
                    <a:solidFill>
                      <a:srgbClr val="F8FAFC"/>
                    </a:solidFill>
                  </a:tcPr>
                </a:tc>
                <a:tc>
                  <a:txBody>
                    <a:bodyPr/>
                    <a:lstStyle/>
                    <a:p>
                      <a:pPr algn="ctr">
                        <a:defRPr sz="1000">
                          <a:solidFill>
                            <a:srgbClr val="1E293B"/>
                          </a:solidFill>
                          <a:latin typeface="Segoe UI"/>
                        </a:defRPr>
                      </a:pPr>
                      <a:r>
                        <a:t>32 sản phẩm (Giữ nguyên)</a:t>
                      </a:r>
                    </a:p>
                  </a:txBody>
                  <a:tcPr anchor="ctr">
                    <a:solidFill>
                      <a:srgbClr val="F8FAFC"/>
                    </a:solidFill>
                  </a:tcPr>
                </a:tc>
              </a:tr>
              <a:tr h="510540">
                <a:tc>
                  <a:txBody>
                    <a:bodyPr/>
                    <a:lstStyle/>
                    <a:p>
                      <a:pPr algn="ctr">
                        <a:defRPr sz="1000" b="1">
                          <a:solidFill>
                            <a:srgbClr val="0F2C59"/>
                          </a:solidFill>
                          <a:latin typeface="Segoe UI"/>
                        </a:defRPr>
                      </a:pPr>
                      <a:r>
                        <a:t>Hủy Đơn #2</a:t>
                      </a:r>
                    </a:p>
                  </a:txBody>
                  <a:tcPr anchor="ctr">
                    <a:solidFill>
                      <a:srgbClr val="FFFFFF"/>
                    </a:solidFill>
                  </a:tcPr>
                </a:tc>
                <a:tc>
                  <a:txBody>
                    <a:bodyPr/>
                    <a:lstStyle/>
                    <a:p>
                      <a:pPr>
                        <a:defRPr sz="1000">
                          <a:solidFill>
                            <a:srgbClr val="1E293B"/>
                          </a:solidFill>
                          <a:latin typeface="Segoe UI"/>
                        </a:defRPr>
                      </a:pPr>
                      <a:r>
                        <a:t>Khách gửi yêu cầu hủy đơn</a:t>
                      </a:r>
                    </a:p>
                  </a:txBody>
                  <a:tcPr anchor="ctr">
                    <a:solidFill>
                      <a:srgbClr val="FFFFFF"/>
                    </a:solidFill>
                  </a:tcPr>
                </a:tc>
                <a:tc>
                  <a:txBody>
                    <a:bodyPr/>
                    <a:lstStyle/>
                    <a:p>
                      <a:pPr algn="ctr">
                        <a:defRPr sz="1000">
                          <a:solidFill>
                            <a:srgbClr val="1E293B"/>
                          </a:solidFill>
                          <a:latin typeface="Segoe UI"/>
                        </a:defRPr>
                      </a:pPr>
                      <a:r>
                        <a:t>Đã hủy (cancelled)</a:t>
                      </a:r>
                    </a:p>
                  </a:txBody>
                  <a:tcPr anchor="ctr">
                    <a:solidFill>
                      <a:srgbClr val="FFFFFF"/>
                    </a:solidFill>
                  </a:tcPr>
                </a:tc>
                <a:tc>
                  <a:txBody>
                    <a:bodyPr/>
                    <a:lstStyle/>
                    <a:p>
                      <a:pPr algn="ctr">
                        <a:defRPr sz="1000">
                          <a:solidFill>
                            <a:srgbClr val="1E293B"/>
                          </a:solidFill>
                          <a:latin typeface="Segoe UI"/>
                        </a:defRPr>
                      </a:pPr>
                      <a:r>
                        <a:t>0 đ (Không phát sinh)</a:t>
                      </a:r>
                    </a:p>
                  </a:txBody>
                  <a:tcPr anchor="ctr">
                    <a:solidFill>
                      <a:srgbClr val="FFFFFF"/>
                    </a:solidFill>
                  </a:tcPr>
                </a:tc>
                <a:tc>
                  <a:txBody>
                    <a:bodyPr/>
                    <a:lstStyle/>
                    <a:p>
                      <a:pPr algn="ctr">
                        <a:defRPr sz="1000" b="1">
                          <a:solidFill>
                            <a:srgbClr val="E65100"/>
                          </a:solidFill>
                          <a:latin typeface="Segoe UI"/>
                        </a:defRPr>
                      </a:pPr>
                      <a:r>
                        <a:t>33 sản phẩm (Hoàn lại +1)</a:t>
                      </a:r>
                    </a:p>
                  </a:txBody>
                  <a:tcPr anchor="ctr">
                    <a:solidFill>
                      <a:srgbClr val="FFFFFF"/>
                    </a:solidFill>
                  </a:tcPr>
                </a:tc>
              </a:tr>
            </a:tbl>
          </a:graphicData>
        </a:graphic>
      </p:graphicFrame>
      <p:sp xmlns:a="http://schemas.openxmlformats.org/drawingml/2006/main">
        <p:nvSpPr>
          <p:cNvPr id="15" name="Rounded Rectangle 14"/>
          <p:cNvSpPr/>
          <p:nvPr/>
        </p:nvSpPr>
        <p:spPr>
          <a:xfrm>
            <a:off x="731520" y="4937760"/>
            <a:ext cx="10725912" cy="1371600"/>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914400" y="5010912"/>
            <a:ext cx="10360152" cy="1188720"/>
          </a:xfrm>
          <a:prstGeom prst="rect">
            <a:avLst/>
          </a:prstGeom>
          <a:noFill/>
        </p:spPr>
        <p:txBody>
          <a:bodyPr wrap="square" lIns="0" rIns="0" tIns="0" bIns="0">
            <a:spAutoFit/>
          </a:bodyPr>
          <a:lstStyle/>
          <a:p>
            <a:pPr>
              <a:spcAft>
                <a:spcPts val="400"/>
              </a:spcAft>
              <a:defRPr sz="1100" b="1">
                <a:solidFill>
                  <a:srgbClr val="C2410C"/>
                </a:solidFill>
                <a:latin typeface="Segoe UI"/>
              </a:defRPr>
            </a:pPr>
            <a:r>
              <a:t>📊  KẾT LUẬN KIỂM CHỨNG ĐỐI CHIẾU SỐ LIỆU:</a:t>
            </a:r>
          </a:p>
          <a:p>
            <a:r>
              <a:rPr sz="1000" b="1">
                <a:solidFill>
                  <a:srgbClr val="1E293B"/>
                </a:solidFill>
                <a:latin typeface="Segoe UI"/>
              </a:rPr>
              <a:t>• Doanh thu thực nhận chính thức: </a:t>
            </a:r>
            <a:r>
              <a:rPr sz="1000" b="1">
                <a:solidFill>
                  <a:srgbClr val="166534"/>
                </a:solidFill>
                <a:latin typeface="Segoe UI"/>
              </a:rPr>
              <a:t>190.000 đ (ghi nhận duy nhất từ Đơn #1 đã hoàn thành). </a:t>
            </a:r>
            <a:r>
              <a:rPr sz="1000" b="1">
                <a:solidFill>
                  <a:srgbClr val="1E293B"/>
                </a:solidFill>
                <a:latin typeface="Segoe UI"/>
              </a:rPr>
              <a:t>• Tồn kho cuối cùng: </a:t>
            </a:r>
            <a:r>
              <a:rPr sz="1000" b="1">
                <a:solidFill>
                  <a:srgbClr val="E65100"/>
                </a:solidFill>
                <a:latin typeface="Segoe UI"/>
              </a:rPr>
              <a:t>33 sản phẩm (35 ban đầu - 2 sản phẩm đã bán; 1 sản phẩm hủy đã được hoàn kho chính xác). </a:t>
            </a:r>
            <a:r>
              <a:rPr sz="950" i="1">
                <a:solidFill>
                  <a:srgbClr val="1E293B"/>
                </a:solidFill>
                <a:latin typeface="Segoe UI"/>
              </a:rPr>
              <a:t>
=&gt; Hệ thống đạt 100% tính toàn vẹn số học giữa dòng tiền và số lượng sản phẩm tồn kho.</a:t>
            </a:r>
          </a:p>
        </p:txBody>
      </p:sp>
    </p:spTree>
    <p:extLst>
      <p:ext uri="{BB962C8B-B14F-4D97-AF65-F5344CB8AC3E}">
        <p14:creationId xmlns:p14="http://schemas.microsoft.com/office/powerpoint/2010/main" val="7330146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79ff8d47fcd473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5" name="TextBox 14"/>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Tìm Kiếm Sản Phẩm Bằng Hình Ảnh (AI OpenCLIP)</a:t>
            </a:r>
          </a:p>
        </p:txBody>
      </p:sp>
      <p:sp xmlns:a="http://schemas.openxmlformats.org/drawingml/2006/main">
        <p:nvSpPr>
          <p:cNvPr id="16" name="TextBox 15"/>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Trải nghiệm tìm kiếm trực quan ứng dụng mô hình trí tuệ nhân tạo nhận diện đặc trưng ảnh sản phẩm</a:t>
            </a:r>
          </a:p>
        </p:txBody>
      </p:sp>
      <p:sp xmlns:a="http://schemas.openxmlformats.org/drawingml/2006/main">
        <p:nvSpPr>
          <p:cNvPr id="17" name="Rounded Rectangle 16"/>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16 / 18</a:t>
            </a:r>
          </a:p>
        </p:txBody>
      </p:sp>
      <p:sp xmlns:a="http://schemas.openxmlformats.org/drawingml/2006/main">
        <p:nvSpPr>
          <p:cNvPr id="18" name="Rounded Rectangle 17"/>
          <p:cNvSpPr/>
          <p:nvPr/>
        </p:nvSpPr>
        <p:spPr>
          <a:xfrm>
            <a:off x="731520" y="1691640"/>
            <a:ext cx="3931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868680" y="1801368"/>
            <a:ext cx="3657600" cy="1197864"/>
          </a:xfrm>
          <a:prstGeom prst="rect">
            <a:avLst/>
          </a:prstGeom>
          <a:noFill/>
        </p:spPr>
        <p:txBody>
          <a:bodyPr wrap="square" lIns="0" rIns="0" tIns="0" bIns="0">
            <a:spAutoFit/>
          </a:bodyPr>
          <a:lstStyle/>
          <a:p>
            <a:pPr>
              <a:spcAft>
                <a:spcPts val="400"/>
              </a:spcAft>
              <a:defRPr sz="1100" b="1">
                <a:solidFill>
                  <a:srgbClr val="0F2C59"/>
                </a:solidFill>
                <a:latin typeface="Segoe UI"/>
              </a:defRPr>
            </a:pPr>
            <a:r>
              <a:t>🖼️  Kiểm Soát &amp; Tiền Xử Lý Ảnh Đầu Vào</a:t>
            </a:r>
          </a:p>
          <a:p>
            <a:pPr>
              <a:spcAft>
                <a:spcPts val="300"/>
              </a:spcAft>
              <a:defRPr sz="950">
                <a:solidFill>
                  <a:srgbClr val="1E293B"/>
                </a:solidFill>
                <a:latin typeface="Segoe UI"/>
              </a:defRPr>
            </a:pPr>
            <a:r>
              <a:t>• Hỗ trợ định dạng ảnh tiêu chuẩn: JPEG, PNG, WebP.</a:t>
            </a:r>
          </a:p>
          <a:p>
            <a:pPr>
              <a:spcAft>
                <a:spcPts val="300"/>
              </a:spcAft>
              <a:defRPr sz="950">
                <a:solidFill>
                  <a:srgbClr val="1E293B"/>
                </a:solidFill>
                <a:latin typeface="Segoe UI"/>
              </a:defRPr>
            </a:pPr>
            <a:r>
              <a:t>• Giới hạn dung lượng tối đa 2 MB và kích thước 6000 × 6000 px ngăn ngừa quá tải tài nguyên máy chủ.</a:t>
            </a:r>
          </a:p>
        </p:txBody>
      </p:sp>
      <p:sp xmlns:a="http://schemas.openxmlformats.org/drawingml/2006/main">
        <p:nvSpPr>
          <p:cNvPr id="20" name="Rounded Rectangle 19"/>
          <p:cNvSpPr/>
          <p:nvPr/>
        </p:nvSpPr>
        <p:spPr>
          <a:xfrm>
            <a:off x="731520" y="3291840"/>
            <a:ext cx="3931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TextBox 20"/>
          <p:cNvSpPr txBox="1"/>
          <p:nvPr/>
        </p:nvSpPr>
        <p:spPr>
          <a:xfrm>
            <a:off x="868680" y="3401568"/>
            <a:ext cx="3657600" cy="1197864"/>
          </a:xfrm>
          <a:prstGeom prst="rect">
            <a:avLst/>
          </a:prstGeom>
          <a:noFill/>
        </p:spPr>
        <p:txBody>
          <a:bodyPr wrap="square" lIns="0" rIns="0" tIns="0" bIns="0">
            <a:spAutoFit/>
          </a:bodyPr>
          <a:lstStyle/>
          <a:p>
            <a:pPr>
              <a:spcAft>
                <a:spcPts val="400"/>
              </a:spcAft>
              <a:defRPr sz="1100" b="1">
                <a:solidFill>
                  <a:srgbClr val="0F2C59"/>
                </a:solidFill>
                <a:latin typeface="Segoe UI"/>
              </a:defRPr>
            </a:pPr>
            <a:r>
              <a:t>🧠  Mô Hình AI OpenCLIP ViT-B/32</a:t>
            </a:r>
          </a:p>
          <a:p>
            <a:pPr>
              <a:spcAft>
                <a:spcPts val="300"/>
              </a:spcAft>
              <a:defRPr sz="950">
                <a:solidFill>
                  <a:srgbClr val="1E293B"/>
                </a:solidFill>
                <a:latin typeface="Segoe UI"/>
              </a:defRPr>
            </a:pPr>
            <a:r>
              <a:t>• Microservice Python trích xuất vector đặc trưng ngữ nghĩa 512 chiều (Embedding).</a:t>
            </a:r>
          </a:p>
          <a:p>
            <a:pPr>
              <a:spcAft>
                <a:spcPts val="300"/>
              </a:spcAft>
              <a:defRPr sz="950">
                <a:solidFill>
                  <a:srgbClr val="1E293B"/>
                </a:solidFill>
                <a:latin typeface="Segoe UI"/>
              </a:defRPr>
            </a:pPr>
            <a:r>
              <a:t>• Tính khoảng cách Cosine Similarity giữa ảnh truy vấn và vector các sản phẩm trong cơ sở dữ liệu.</a:t>
            </a:r>
          </a:p>
        </p:txBody>
      </p:sp>
      <p:sp xmlns:a="http://schemas.openxmlformats.org/drawingml/2006/main">
        <p:nvSpPr>
          <p:cNvPr id="22" name="Rounded Rectangle 21"/>
          <p:cNvSpPr/>
          <p:nvPr/>
        </p:nvSpPr>
        <p:spPr>
          <a:xfrm>
            <a:off x="731520" y="4892040"/>
            <a:ext cx="393192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868680" y="5001768"/>
            <a:ext cx="3657600" cy="1197864"/>
          </a:xfrm>
          <a:prstGeom prst="rect">
            <a:avLst/>
          </a:prstGeom>
          <a:noFill/>
        </p:spPr>
        <p:txBody>
          <a:bodyPr wrap="square" lIns="0" rIns="0" tIns="0" bIns="0">
            <a:spAutoFit/>
          </a:bodyPr>
          <a:lstStyle/>
          <a:p>
            <a:pPr>
              <a:spcAft>
                <a:spcPts val="400"/>
              </a:spcAft>
              <a:defRPr sz="1100" b="1">
                <a:solidFill>
                  <a:srgbClr val="0F2C59"/>
                </a:solidFill>
                <a:latin typeface="Segoe UI"/>
              </a:defRPr>
            </a:pPr>
            <a:r>
              <a:t>🛍️  Trải Nghiệm Mua Sắm Trực Tiếp</a:t>
            </a:r>
          </a:p>
          <a:p>
            <a:pPr>
              <a:spcAft>
                <a:spcPts val="300"/>
              </a:spcAft>
              <a:defRPr sz="950">
                <a:solidFill>
                  <a:srgbClr val="1E293B"/>
                </a:solidFill>
                <a:latin typeface="Segoe UI"/>
              </a:defRPr>
            </a:pPr>
            <a:r>
              <a:t>• Cho phép người mua tải ảnh từ máy hoặc chụp trực tiếp từ camera.</a:t>
            </a:r>
          </a:p>
          <a:p>
            <a:pPr>
              <a:spcAft>
                <a:spcPts val="300"/>
              </a:spcAft>
              <a:defRPr sz="950">
                <a:solidFill>
                  <a:srgbClr val="1E293B"/>
                </a:solidFill>
                <a:latin typeface="Segoe UI"/>
              </a:defRPr>
            </a:pPr>
            <a:r>
              <a:t>• Kết quả hiển thị danh sách sản phẩm khớp nhất kèm ảnh, giá niêm yết và nút Thêm vào giỏ tức thì.</a:t>
            </a:r>
          </a:p>
        </p:txBody>
      </p:sp>
      <p:sp xmlns:a="http://schemas.openxmlformats.org/drawingml/2006/main">
        <p:nvSpPr>
          <p:cNvPr id="24" name="Rounded Rectangle 23"/>
          <p:cNvSpPr/>
          <p:nvPr/>
        </p:nvSpPr>
        <p:spPr>
          <a:xfrm>
            <a:off x="4846320" y="1691640"/>
            <a:ext cx="6611112"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25" name="Picture 24" descr="image.png"/>
          <p:cNvPicPr>
            <a:picLocks noChangeAspect="1"/>
          </p:cNvPicPr>
          <p:nvPr/>
        </p:nvPicPr>
        <p:blipFill>
          <a:blip r:embed="R2c0d4aefe7434708"/>
          <a:stretch>
            <a:fillRect/>
          </a:stretch>
        </p:blipFill>
        <p:spPr>
          <a:xfrm>
            <a:off x="4956048" y="2266695"/>
            <a:ext cx="6391656" cy="3120137"/>
          </a:xfrm>
          <a:prstGeom prst="rect">
            <a:avLst/>
          </a:prstGeom>
        </p:spPr>
      </p:pic>
      <p:sp xmlns:a="http://schemas.openxmlformats.org/drawingml/2006/main">
        <p:nvSpPr>
          <p:cNvPr id="26" name="TextBox 25"/>
          <p:cNvSpPr txBox="1"/>
          <p:nvPr/>
        </p:nvSpPr>
        <p:spPr>
          <a:xfrm>
            <a:off x="4956048" y="5916168"/>
            <a:ext cx="6391656" cy="347472"/>
          </a:xfrm>
          <a:prstGeom prst="rect">
            <a:avLst/>
          </a:prstGeom>
          <a:noFill/>
        </p:spPr>
        <p:txBody>
          <a:bodyPr wrap="square" lIns="0" rIns="0" tIns="0" bIns="0">
            <a:spAutoFit/>
          </a:bodyPr>
          <a:lstStyle/>
          <a:p>
            <a:pPr algn="ctr">
              <a:defRPr sz="950" i="1">
                <a:solidFill>
                  <a:srgbClr val="64748B"/>
                </a:solidFill>
                <a:latin typeface="Segoe UI"/>
              </a:defRPr>
            </a:pPr>
            <a:r>
              <a:t>Thực nghiệm tìm kiếm hình ảnh hạt điều: Mô hình OpenCLIP trả về chính xác sản phẩm tương ứng trong catalog</a:t>
            </a:r>
          </a:p>
        </p:txBody>
      </p:sp>
    </p:spTree>
    <p:extLst>
      <p:ext uri="{BB962C8B-B14F-4D97-AF65-F5344CB8AC3E}">
        <p14:creationId xmlns:p14="http://schemas.microsoft.com/office/powerpoint/2010/main" val="112189997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1ce14be2426415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6" name="TextBox 15"/>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Đánh Giá Hiện Trạng &amp; Hướng Phát Triển Tiếp Theo</a:t>
            </a:r>
          </a:p>
        </p:txBody>
      </p:sp>
      <p:sp xmlns:a="http://schemas.openxmlformats.org/drawingml/2006/main">
        <p:nvSpPr>
          <p:cNvPr id="17" name="TextBox 16"/>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Nghiệm thu toàn diện chất lượng phần mềm và lộ trình nâng cấp các tính năng thương mại tương lai</a:t>
            </a:r>
          </a:p>
        </p:txBody>
      </p:sp>
      <p:sp xmlns:a="http://schemas.openxmlformats.org/drawingml/2006/main">
        <p:nvSpPr>
          <p:cNvPr id="18" name="Rounded Rectangle 17"/>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17 / 18</a:t>
            </a:r>
          </a:p>
        </p:txBody>
      </p:sp>
      <p:sp xmlns:a="http://schemas.openxmlformats.org/drawingml/2006/main">
        <p:nvSpPr>
          <p:cNvPr id="19" name="Rounded Rectangle 18"/>
          <p:cNvSpPr/>
          <p:nvPr/>
        </p:nvSpPr>
        <p:spPr>
          <a:xfrm>
            <a:off x="731520" y="1691640"/>
            <a:ext cx="5230368"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extBox 19"/>
          <p:cNvSpPr txBox="1"/>
          <p:nvPr/>
        </p:nvSpPr>
        <p:spPr>
          <a:xfrm>
            <a:off x="914400" y="1828800"/>
            <a:ext cx="4864607" cy="1920240"/>
          </a:xfrm>
          <a:prstGeom prst="rect">
            <a:avLst/>
          </a:prstGeom>
          <a:noFill/>
        </p:spPr>
        <p:txBody>
          <a:bodyPr wrap="square" lIns="0" rIns="0" tIns="0" bIns="0">
            <a:spAutoFit/>
          </a:bodyPr>
          <a:lstStyle/>
          <a:p>
            <a:pPr>
              <a:defRPr sz="1150" b="1">
                <a:solidFill>
                  <a:srgbClr val="0F2C59"/>
                </a:solidFill>
                <a:latin typeface="Segoe UI"/>
              </a:defRPr>
            </a:pPr>
            <a:r>
              <a:t>🧪  Kết Quả Kiểm Thử Tự Động (QA Passed)</a:t>
            </a:r>
          </a:p>
          <a:p>
            <a:pPr>
              <a:spcAft>
                <a:spcPts val="600"/>
              </a:spcAft>
              <a:defRPr sz="950" i="1">
                <a:solidFill>
                  <a:srgbClr val="64748B"/>
                </a:solidFill>
                <a:latin typeface="Segoe UI"/>
              </a:defRPr>
            </a:pPr>
            <a:r>
              <a:t>Độ tin cậy mã nguồn đạt chuẩn bàn giao</a:t>
            </a:r>
          </a:p>
          <a:p>
            <a:pPr>
              <a:spcAft>
                <a:spcPts val="300"/>
              </a:spcAft>
              <a:defRPr sz="950">
                <a:solidFill>
                  <a:srgbClr val="1E293B"/>
                </a:solidFill>
                <a:latin typeface="Segoe UI"/>
              </a:defRPr>
            </a:pPr>
            <a:r>
              <a:t>• 100% Đạt (88/88 Test Cases, 676 Assertions) trên nền tảng PHPUnit 11 &amp; PHP 8.3.</a:t>
            </a:r>
          </a:p>
          <a:p>
            <a:pPr>
              <a:spcAft>
                <a:spcPts val="300"/>
              </a:spcAft>
              <a:defRPr sz="950">
                <a:solidFill>
                  <a:srgbClr val="1E293B"/>
                </a:solidFill>
                <a:latin typeface="Segoe UI"/>
              </a:defRPr>
            </a:pPr>
            <a:r>
              <a:t>• Bao phủ toàn bộ các luồng nghiệp vụ: Xác thực người dùng, giỏ hàng Session, checkout Transaction, hủy đơn và bảo vệ phân quyền Admin.</a:t>
            </a:r>
          </a:p>
          <a:p>
            <a:pPr>
              <a:spcAft>
                <a:spcPts val="300"/>
              </a:spcAft>
              <a:defRPr sz="950">
                <a:solidFill>
                  <a:srgbClr val="1E293B"/>
                </a:solidFill>
                <a:latin typeface="Segoe UI"/>
              </a:defRPr>
            </a:pPr>
            <a:r>
              <a:t>• Mã nguồn sạch sẽ, không ghi nhận bất kỳ cảnh báo lỗi nghiêm trọng nào.</a:t>
            </a:r>
          </a:p>
        </p:txBody>
      </p:sp>
      <p:sp xmlns:a="http://schemas.openxmlformats.org/drawingml/2006/main">
        <p:nvSpPr>
          <p:cNvPr id="21" name="Rounded Rectangle 20"/>
          <p:cNvSpPr/>
          <p:nvPr/>
        </p:nvSpPr>
        <p:spPr>
          <a:xfrm>
            <a:off x="6227064" y="1691640"/>
            <a:ext cx="5230368"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extBox 21"/>
          <p:cNvSpPr txBox="1"/>
          <p:nvPr/>
        </p:nvSpPr>
        <p:spPr>
          <a:xfrm>
            <a:off x="6409944" y="1828800"/>
            <a:ext cx="4864607" cy="1920240"/>
          </a:xfrm>
          <a:prstGeom prst="rect">
            <a:avLst/>
          </a:prstGeom>
          <a:noFill/>
        </p:spPr>
        <p:txBody>
          <a:bodyPr wrap="square" lIns="0" rIns="0" tIns="0" bIns="0">
            <a:spAutoFit/>
          </a:bodyPr>
          <a:lstStyle/>
          <a:p>
            <a:pPr>
              <a:defRPr sz="1150" b="1">
                <a:solidFill>
                  <a:srgbClr val="0F2C59"/>
                </a:solidFill>
                <a:latin typeface="Segoe UI"/>
              </a:defRPr>
            </a:pPr>
            <a:r>
              <a:t>🎯  Tối Ưu Hóa Dịch Vụ Tìm Kiếm Ảnh AI</a:t>
            </a:r>
          </a:p>
          <a:p>
            <a:pPr>
              <a:spcAft>
                <a:spcPts val="600"/>
              </a:spcAft>
              <a:defRPr sz="950" i="1">
                <a:solidFill>
                  <a:srgbClr val="64748B"/>
                </a:solidFill>
                <a:latin typeface="Segoe UI"/>
              </a:defRPr>
            </a:pPr>
            <a:r>
              <a:t>Nâng cao độ chính xác nhận diện hình ảnh</a:t>
            </a:r>
          </a:p>
          <a:p>
            <a:pPr>
              <a:spcAft>
                <a:spcPts val="300"/>
              </a:spcAft>
              <a:defRPr sz="950">
                <a:solidFill>
                  <a:srgbClr val="1E293B"/>
                </a:solidFill>
                <a:latin typeface="Segoe UI"/>
              </a:defRPr>
            </a:pPr>
            <a:r>
              <a:t>• Bổ sung đa dạng ảnh sản phẩm với nhiều góc chụp, điều kiện ánh sáng và bối cảnh thực tế.</a:t>
            </a:r>
          </a:p>
          <a:p>
            <a:pPr>
              <a:spcAft>
                <a:spcPts val="300"/>
              </a:spcAft>
              <a:defRPr sz="950">
                <a:solidFill>
                  <a:srgbClr val="1E293B"/>
                </a:solidFill>
                <a:latin typeface="Segoe UI"/>
              </a:defRPr>
            </a:pPr>
            <a:r>
              <a:t>• Xây dựng tập truy vấn chuẩn (Benchmark Dataset) độc lập để đo lường định lượng các chỉ số Recall@k và MRR.</a:t>
            </a:r>
          </a:p>
          <a:p>
            <a:pPr>
              <a:spcAft>
                <a:spcPts val="300"/>
              </a:spcAft>
              <a:defRPr sz="950">
                <a:solidFill>
                  <a:srgbClr val="1E293B"/>
                </a:solidFill>
                <a:latin typeface="Segoe UI"/>
              </a:defRPr>
            </a:pPr>
            <a:r>
              <a:t>• Nâng cấp bộ trích xuất đặc trưng với các mô hình Vision Transformer tiên tiến hơn.</a:t>
            </a:r>
          </a:p>
        </p:txBody>
      </p:sp>
      <p:sp xmlns:a="http://schemas.openxmlformats.org/drawingml/2006/main">
        <p:nvSpPr>
          <p:cNvPr id="23" name="Rounded Rectangle 22"/>
          <p:cNvSpPr/>
          <p:nvPr/>
        </p:nvSpPr>
        <p:spPr>
          <a:xfrm>
            <a:off x="731520" y="4087368"/>
            <a:ext cx="5230368"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TextBox 23"/>
          <p:cNvSpPr txBox="1"/>
          <p:nvPr/>
        </p:nvSpPr>
        <p:spPr>
          <a:xfrm>
            <a:off x="914400" y="4224528"/>
            <a:ext cx="4864607" cy="1920240"/>
          </a:xfrm>
          <a:prstGeom prst="rect">
            <a:avLst/>
          </a:prstGeom>
          <a:noFill/>
        </p:spPr>
        <p:txBody>
          <a:bodyPr wrap="square" lIns="0" rIns="0" tIns="0" bIns="0">
            <a:spAutoFit/>
          </a:bodyPr>
          <a:lstStyle/>
          <a:p>
            <a:pPr>
              <a:defRPr sz="1150" b="1">
                <a:solidFill>
                  <a:srgbClr val="0F2C59"/>
                </a:solidFill>
                <a:latin typeface="Segoe UI"/>
              </a:defRPr>
            </a:pPr>
            <a:r>
              <a:t>💳  Mở Rộng Nghiệp Vụ Thanh Toán &amp; Vận Chuyển</a:t>
            </a:r>
          </a:p>
          <a:p>
            <a:pPr>
              <a:spcAft>
                <a:spcPts val="600"/>
              </a:spcAft>
              <a:defRPr sz="950" i="1">
                <a:solidFill>
                  <a:srgbClr val="64748B"/>
                </a:solidFill>
                <a:latin typeface="Segoe UI"/>
              </a:defRPr>
            </a:pPr>
            <a:r>
              <a:t>Tiến tới triển khai thương mại thực tế</a:t>
            </a:r>
          </a:p>
          <a:p>
            <a:pPr>
              <a:spcAft>
                <a:spcPts val="300"/>
              </a:spcAft>
              <a:defRPr sz="950">
                <a:solidFill>
                  <a:srgbClr val="1E293B"/>
                </a:solidFill>
                <a:latin typeface="Segoe UI"/>
              </a:defRPr>
            </a:pPr>
            <a:r>
              <a:t>• Tích hợp cổng thanh toán trực tuyến (VNPay, MoMo, ZaloPay) với cơ chế bảo mật chữ ký điện tử và Webhook IPN an toàn.</a:t>
            </a:r>
          </a:p>
          <a:p>
            <a:pPr>
              <a:spcAft>
                <a:spcPts val="300"/>
              </a:spcAft>
              <a:defRPr sz="950">
                <a:solidFill>
                  <a:srgbClr val="1E293B"/>
                </a:solidFill>
                <a:latin typeface="Segoe UI"/>
              </a:defRPr>
            </a:pPr>
            <a:r>
              <a:t>• Kết nối API các đơn vị vận chuyển hàng đầu (GHTK, GHN) để tự động tính phí ship theo trọng lượng và đồng bộ mã vận đơn.</a:t>
            </a:r>
          </a:p>
          <a:p>
            <a:pPr>
              <a:spcAft>
                <a:spcPts val="300"/>
              </a:spcAft>
              <a:defRPr sz="950">
                <a:solidFill>
                  <a:srgbClr val="1E293B"/>
                </a:solidFill>
                <a:latin typeface="Segoe UI"/>
              </a:defRPr>
            </a:pPr>
            <a:r>
              <a:t>• Hỗ trợ xuất hóa đơn điện tử tự động cho đơn hàng completed.</a:t>
            </a:r>
          </a:p>
        </p:txBody>
      </p:sp>
      <p:sp xmlns:a="http://schemas.openxmlformats.org/drawingml/2006/main">
        <p:nvSpPr>
          <p:cNvPr id="25" name="Rounded Rectangle 24"/>
          <p:cNvSpPr/>
          <p:nvPr/>
        </p:nvSpPr>
        <p:spPr>
          <a:xfrm>
            <a:off x="6227064" y="4087368"/>
            <a:ext cx="5230368"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extBox 25"/>
          <p:cNvSpPr txBox="1"/>
          <p:nvPr/>
        </p:nvSpPr>
        <p:spPr>
          <a:xfrm>
            <a:off x="6409944" y="4224528"/>
            <a:ext cx="4864607" cy="1920240"/>
          </a:xfrm>
          <a:prstGeom prst="rect">
            <a:avLst/>
          </a:prstGeom>
          <a:noFill/>
        </p:spPr>
        <p:txBody>
          <a:bodyPr wrap="square" lIns="0" rIns="0" tIns="0" bIns="0">
            <a:spAutoFit/>
          </a:bodyPr>
          <a:lstStyle/>
          <a:p>
            <a:pPr>
              <a:defRPr sz="1150" b="1">
                <a:solidFill>
                  <a:srgbClr val="0F2C59"/>
                </a:solidFill>
                <a:latin typeface="Segoe UI"/>
              </a:defRPr>
            </a:pPr>
            <a:r>
              <a:t>📱  Trải Nghiệm Đa Nền Tảng &amp; Real-time Notification</a:t>
            </a:r>
          </a:p>
          <a:p>
            <a:pPr>
              <a:spcAft>
                <a:spcPts val="600"/>
              </a:spcAft>
              <a:defRPr sz="950" i="1">
                <a:solidFill>
                  <a:srgbClr val="64748B"/>
                </a:solidFill>
                <a:latin typeface="Segoe UI"/>
              </a:defRPr>
            </a:pPr>
            <a:r>
              <a:t>Nâng cao mức độ gắn kết người dùng</a:t>
            </a:r>
          </a:p>
          <a:p>
            <a:pPr>
              <a:spcAft>
                <a:spcPts val="300"/>
              </a:spcAft>
              <a:defRPr sz="950">
                <a:solidFill>
                  <a:srgbClr val="1E293B"/>
                </a:solidFill>
                <a:latin typeface="Segoe UI"/>
              </a:defRPr>
            </a:pPr>
            <a:r>
              <a:t>• Tối ưu hóa giao diện ứng dụng web tiến bộ (Progressive Web App - PWA) cho trải nghiệm cài đặt mượt mà trên di động.</a:t>
            </a:r>
          </a:p>
          <a:p>
            <a:pPr>
              <a:spcAft>
                <a:spcPts val="300"/>
              </a:spcAft>
              <a:defRPr sz="950">
                <a:solidFill>
                  <a:srgbClr val="1E293B"/>
                </a:solidFill>
                <a:latin typeface="Segoe UI"/>
              </a:defRPr>
            </a:pPr>
            <a:r>
              <a:t>• Triển khai WebSockets / Pusher để gửi thông báo biến động đơn hàng thời gian thực cho người mua và quản trị viên.</a:t>
            </a:r>
          </a:p>
          <a:p>
            <a:pPr>
              <a:spcAft>
                <a:spcPts val="300"/>
              </a:spcAft>
              <a:defRPr sz="950">
                <a:solidFill>
                  <a:srgbClr val="1E293B"/>
                </a:solidFill>
                <a:latin typeface="Segoe UI"/>
              </a:defRPr>
            </a:pPr>
            <a:r>
              <a:t>• Hệ thống đánh giá sản phẩm và đề xuất thông minh dựa trên lịch sử mua hàng.</a:t>
            </a:r>
          </a:p>
        </p:txBody>
      </p:sp>
    </p:spTree>
    <p:extLst>
      <p:ext uri="{BB962C8B-B14F-4D97-AF65-F5344CB8AC3E}">
        <p14:creationId xmlns:p14="http://schemas.microsoft.com/office/powerpoint/2010/main" val="4346231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bb7ae4635b5409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xmlns:a="http://schemas.openxmlformats.org/drawingml/2006/main">
        <p:nvSpPr>
          <p:cNvPr id="11" name="TextBox 10"/>
          <p:cNvSpPr txBox="1"/>
          <p:nvPr/>
        </p:nvSpPr>
        <p:spPr>
          <a:xfrm>
            <a:off x="731520" y="804672"/>
            <a:ext cx="9326880" cy="438912"/>
          </a:xfrm>
          <a:prstGeom prst="rect">
            <a:avLst/>
          </a:prstGeom>
          <a:noFill/>
        </p:spPr>
        <p:txBody>
          <a:bodyPr wrap="square" lIns="0" rIns="0" tIns="0" bIns="0">
            <a:spAutoFit/>
          </a:bodyPr>
          <a:lstStyle/>
          <a:p>
            <a:pPr>
              <a:defRPr sz="2100" b="1">
                <a:solidFill>
                  <a:srgbClr val="0F2C59"/>
                </a:solidFill>
                <a:latin typeface="Segoe UI"/>
              </a:defRPr>
            </a:pPr>
            <a:r>
              <a:t>Tổng Kết Dự Án &amp; Phiên Hỏi Đáp (Q&amp;A)</a:t>
            </a:r>
          </a:p>
        </p:txBody>
      </p:sp>
      <p:sp xmlns:a="http://schemas.openxmlformats.org/drawingml/2006/main">
        <p:nvSpPr>
          <p:cNvPr id="12" name="TextBox 11"/>
          <p:cNvSpPr txBox="1"/>
          <p:nvPr/>
        </p:nvSpPr>
        <p:spPr>
          <a:xfrm>
            <a:off x="731520" y="1243584"/>
            <a:ext cx="9326880" cy="347472"/>
          </a:xfrm>
          <a:prstGeom prst="rect">
            <a:avLst/>
          </a:prstGeom>
          <a:noFill/>
        </p:spPr>
        <p:txBody>
          <a:bodyPr wrap="square" lIns="0" rIns="0" tIns="0" bIns="0">
            <a:spAutoFit/>
          </a:bodyPr>
          <a:lstStyle/>
          <a:p>
            <a:pPr>
              <a:defRPr sz="1150">
                <a:solidFill>
                  <a:srgbClr val="64748B"/>
                </a:solidFill>
                <a:latin typeface="Segoe UI"/>
              </a:defRPr>
            </a:pPr>
            <a:r>
              <a:t>Hệ thống SmartCart hoàn thành toàn diện mục tiêu môn học Lập trình Mã nguồn mở</a:t>
            </a:r>
          </a:p>
        </p:txBody>
      </p:sp>
      <p:sp xmlns:a="http://schemas.openxmlformats.org/drawingml/2006/main">
        <p:nvSpPr>
          <p:cNvPr id="13" name="Rounded Rectangle 12"/>
          <p:cNvSpPr/>
          <p:nvPr/>
        </p:nvSpPr>
        <p:spPr>
          <a:xfrm>
            <a:off x="10287000" y="841248"/>
            <a:ext cx="1170432" cy="310896"/>
          </a:xfrm>
          <a:prstGeom prst="roundRect">
            <a:avLst/>
          </a:prstGeom>
          <a:solidFill>
            <a:srgbClr val="FFF3E0"/>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E65100"/>
                </a:solidFill>
                <a:latin typeface="Segoe UI"/>
              </a:defRPr>
            </a:pPr>
            <a:r>
              <a:t>18 / 18</a:t>
            </a:r>
          </a:p>
        </p:txBody>
      </p:sp>
      <p:sp xmlns:a="http://schemas.openxmlformats.org/drawingml/2006/main">
        <p:nvSpPr>
          <p:cNvPr id="14" name="Rounded Rectangle 13"/>
          <p:cNvSpPr/>
          <p:nvPr/>
        </p:nvSpPr>
        <p:spPr>
          <a:xfrm>
            <a:off x="731520" y="1691640"/>
            <a:ext cx="5230368"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TextBox 14"/>
          <p:cNvSpPr txBox="1"/>
          <p:nvPr/>
        </p:nvSpPr>
        <p:spPr>
          <a:xfrm>
            <a:off x="914400" y="1828800"/>
            <a:ext cx="4864607" cy="4343400"/>
          </a:xfrm>
          <a:prstGeom prst="rect">
            <a:avLst/>
          </a:prstGeom>
          <a:noFill/>
        </p:spPr>
        <p:txBody>
          <a:bodyPr wrap="square" lIns="0" rIns="0" tIns="0" bIns="0">
            <a:spAutoFit/>
          </a:bodyPr>
          <a:lstStyle/>
          <a:p>
            <a:pPr>
              <a:spcAft>
                <a:spcPts val="1000"/>
              </a:spcAft>
              <a:defRPr sz="1300" b="1">
                <a:solidFill>
                  <a:srgbClr val="0F2C59"/>
                </a:solidFill>
                <a:latin typeface="Segoe UI"/>
              </a:defRPr>
            </a:pPr>
            <a:r>
              <a:t>🌟  TỔNG KẾT KẾT QUẢ ĐẠT ĐƯỢC</a:t>
            </a:r>
          </a:p>
          <a:p>
            <a:pPr>
              <a:spcAft>
                <a:spcPts val="300"/>
              </a:spcAft>
              <a:defRPr sz="1050" b="1">
                <a:solidFill>
                  <a:srgbClr val="E65100"/>
                </a:solidFill>
                <a:latin typeface="Segoe UI"/>
              </a:defRPr>
            </a:pPr>
            <a:r>
              <a:t>Về Kiến Trúc &amp; Kỹ Thuật:</a:t>
            </a:r>
          </a:p>
          <a:p>
            <a:pPr>
              <a:spcAft>
                <a:spcPts val="300"/>
              </a:spcAft>
              <a:defRPr sz="950">
                <a:solidFill>
                  <a:srgbClr val="1E293B"/>
                </a:solidFill>
                <a:latin typeface="Segoe UI"/>
              </a:defRPr>
            </a:pPr>
            <a:r>
              <a:t>• Xây dựng hoàn chỉnh ứng dụng e-commerce trên Laravel 13, tuân thủ nghiêm ngặt mô hình MVC và chuẩn mã nguồn PSR-12.</a:t>
            </a:r>
          </a:p>
          <a:p>
            <a:pPr>
              <a:spcAft>
                <a:spcPts val="300"/>
              </a:spcAft>
              <a:defRPr sz="950">
                <a:solidFill>
                  <a:srgbClr val="1E293B"/>
                </a:solidFill>
                <a:latin typeface="Segoe UI"/>
              </a:defRPr>
            </a:pPr>
            <a:r>
              <a:t>• Làm chủ cơ chế giao dịch ACID, khóa bi quan, snapshot đơn hàng và cơ chế chống gửi lặp bảo vệ dữ liệu tuyệt đối.</a:t>
            </a:r>
          </a:p>
          <a:p>
            <a:pPr>
              <a:spcAft>
                <a:spcPts val="300"/>
              </a:spcAft>
              <a:defRPr sz="1050" b="1">
                <a:solidFill>
                  <a:srgbClr val="E65100"/>
                </a:solidFill>
                <a:latin typeface="Segoe UI"/>
              </a:defRPr>
            </a:pPr>
            <a:r>
              <a:t>Về Trải Nghiệm &amp; Đổi Mới:</a:t>
            </a:r>
          </a:p>
          <a:p>
            <a:pPr>
              <a:spcAft>
                <a:spcPts val="300"/>
              </a:spcAft>
              <a:defRPr sz="950">
                <a:solidFill>
                  <a:srgbClr val="1E293B"/>
                </a:solidFill>
                <a:latin typeface="Segoe UI"/>
              </a:defRPr>
            </a:pPr>
            <a:r>
              <a:t>• Giỏ hàng thời gian thực mượt mà với Fetch API và Live Search không cần reload trang.</a:t>
            </a:r>
          </a:p>
          <a:p>
            <a:pPr>
              <a:spcAft>
                <a:spcPts val="300"/>
              </a:spcAft>
              <a:defRPr sz="950">
                <a:solidFill>
                  <a:srgbClr val="1E293B"/>
                </a:solidFill>
                <a:latin typeface="Segoe UI"/>
              </a:defRPr>
            </a:pPr>
            <a:r>
              <a:t>• Tích hợp thành công mô hình AI OpenCLIP ViT-B/32 nhận diện hình ảnh sản phẩm trực quan.</a:t>
            </a:r>
          </a:p>
          <a:p>
            <a:pPr>
              <a:spcAft>
                <a:spcPts val="300"/>
              </a:spcAft>
              <a:defRPr sz="1050" b="1">
                <a:solidFill>
                  <a:srgbClr val="E65100"/>
                </a:solidFill>
                <a:latin typeface="Segoe UI"/>
              </a:defRPr>
            </a:pPr>
            <a:r>
              <a:t>Về Chất Lượng &amp; Quy Trình:</a:t>
            </a:r>
          </a:p>
          <a:p>
            <a:pPr>
              <a:spcAft>
                <a:spcPts val="300"/>
              </a:spcAft>
              <a:defRPr sz="950">
                <a:solidFill>
                  <a:srgbClr val="1E293B"/>
                </a:solidFill>
                <a:latin typeface="Segoe UI"/>
              </a:defRPr>
            </a:pPr>
            <a:r>
              <a:t>• Quy trình Git Flow phân nhánh rõ ràng giữa 4 thành viên.</a:t>
            </a:r>
          </a:p>
          <a:p>
            <a:pPr>
              <a:spcAft>
                <a:spcPts val="300"/>
              </a:spcAft>
              <a:defRPr sz="950">
                <a:solidFill>
                  <a:srgbClr val="1E293B"/>
                </a:solidFill>
                <a:latin typeface="Segoe UI"/>
              </a:defRPr>
            </a:pPr>
            <a:r>
              <a:t>• Đạt 88/88 test cases kiểm thử tự động, độ ổn định cao, sẵn sàng triển khai thực tế.</a:t>
            </a:r>
          </a:p>
        </p:txBody>
      </p:sp>
      <p:sp xmlns:a="http://schemas.openxmlformats.org/drawingml/2006/main">
        <p:nvSpPr>
          <p:cNvPr id="16" name="Rounded Rectangle 15"/>
          <p:cNvSpPr/>
          <p:nvPr/>
        </p:nvSpPr>
        <p:spPr>
          <a:xfrm>
            <a:off x="6227064" y="1691640"/>
            <a:ext cx="5230368" cy="4617720"/>
          </a:xfrm>
          <a:prstGeom prst="roundRect">
            <a:avLst/>
          </a:prstGeom>
          <a:solidFill>
            <a:srgbClr val="FFF3E0"/>
          </a:solidFill>
          <a:ln w="1905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extBox 16"/>
          <p:cNvSpPr txBox="1"/>
          <p:nvPr/>
        </p:nvSpPr>
        <p:spPr>
          <a:xfrm>
            <a:off x="6409944" y="1828800"/>
            <a:ext cx="4864607" cy="4343400"/>
          </a:xfrm>
          <a:prstGeom prst="rect">
            <a:avLst/>
          </a:prstGeom>
          <a:noFill/>
        </p:spPr>
        <p:txBody>
          <a:bodyPr wrap="square" lIns="0" rIns="0" tIns="0" bIns="0">
            <a:spAutoFit/>
          </a:bodyPr>
          <a:lstStyle/>
          <a:p>
            <a:pPr>
              <a:spcAft>
                <a:spcPts val="1200"/>
              </a:spcAft>
              <a:defRPr sz="1300" b="1">
                <a:solidFill>
                  <a:srgbClr val="C2410C"/>
                </a:solidFill>
                <a:latin typeface="Segoe UI"/>
              </a:defRPr>
            </a:pPr>
            <a:r>
              <a:t>🙏  LỜI CẢM ƠN &amp; PHIÊN HỎI ĐÁP</a:t>
            </a:r>
          </a:p>
          <a:p>
            <a:pPr>
              <a:spcAft>
                <a:spcPts val="400"/>
              </a:spcAft>
              <a:defRPr sz="1100" b="1">
                <a:solidFill>
                  <a:srgbClr val="0F2C59"/>
                </a:solidFill>
                <a:latin typeface="Segoe UI"/>
              </a:defRPr>
            </a:pPr>
            <a:r>
              <a:t>Lời Cảm Ơn Chân Thành:</a:t>
            </a:r>
          </a:p>
          <a:p>
            <a:pPr>
              <a:spcAft>
                <a:spcPts val="1800"/>
              </a:spcAft>
              <a:defRPr sz="1000">
                <a:solidFill>
                  <a:srgbClr val="1E293B"/>
                </a:solidFill>
                <a:latin typeface="Segoe UI"/>
              </a:defRPr>
            </a:pPr>
            <a:r>
              <a:t>Nhóm 11 xin trân trọng gửi lời cảm ơn sâu sắc đến ThS. Nguyễn Trần Duy Khang đã tận tình hướng dẫn, định hướng kỹ thuật và hỗ trợ nhóm trong suốt quá trình thực hiện đồ án môn học Lập trình Mã nguồn mở.</a:t>
            </a:r>
            <a:br/>
            <a:br/>
            <a:r>
              <a:t>Xin chân thành cảm ơn các bạn sinh viên đã chú ý theo dõi phần trình bày!</a:t>
            </a:r>
          </a:p>
        </p:txBody>
      </p:sp>
      <p:sp xmlns:a="http://schemas.openxmlformats.org/drawingml/2006/main">
        <p:nvSpPr>
          <p:cNvPr id="18" name="Rounded Rectangle 17"/>
          <p:cNvSpPr/>
          <p:nvPr/>
        </p:nvSpPr>
        <p:spPr>
          <a:xfrm>
            <a:off x="6537960" y="4114800"/>
            <a:ext cx="4608576" cy="1920240"/>
          </a:xfrm>
          <a:prstGeom prst="roundRect">
            <a:avLst/>
          </a:prstGeom>
          <a:solidFill>
            <a:srgbClr val="FFFFFF"/>
          </a:solidFill>
          <a:ln w="1905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6629400" y="4206240"/>
            <a:ext cx="4425696" cy="1737360"/>
          </a:xfrm>
          <a:prstGeom prst="rect">
            <a:avLst/>
          </a:prstGeom>
          <a:noFill/>
        </p:spPr>
        <p:txBody>
          <a:bodyPr wrap="square" lIns="0" rIns="0" tIns="0" bIns="0">
            <a:spAutoFit/>
          </a:bodyPr>
          <a:lstStyle/>
          <a:p>
            <a:pPr algn="ctr">
              <a:spcAft>
                <a:spcPts val="600"/>
              </a:spcAft>
              <a:defRPr sz="1800" b="1">
                <a:solidFill>
                  <a:srgbClr val="E65100"/>
                </a:solidFill>
                <a:latin typeface="Segoe UI"/>
              </a:defRPr>
            </a:pPr>
            <a:r>
              <a:t>❓  Q &amp; A  ❓</a:t>
            </a:r>
          </a:p>
          <a:p>
            <a:pPr algn="ctr">
              <a:spcAft>
                <a:spcPts val="400"/>
              </a:spcAft>
              <a:defRPr sz="1150" b="1">
                <a:solidFill>
                  <a:srgbClr val="0F2C59"/>
                </a:solidFill>
                <a:latin typeface="Segoe UI"/>
              </a:defRPr>
            </a:pPr>
            <a:r>
              <a:t>NHÓM 11 SẴN SÀNG LẮNG NGHE &amp; TRẢ LỜI CÂU HỎI</a:t>
            </a:r>
          </a:p>
          <a:p>
            <a:pPr algn="ctr">
              <a:defRPr sz="950" i="1">
                <a:solidFill>
                  <a:srgbClr val="64748B"/>
                </a:solidFill>
                <a:latin typeface="Segoe UI"/>
              </a:defRPr>
            </a:pPr>
            <a:r>
              <a:t>Rất mong nhận được những nhận xét và góp ý quý báu từ Thầy và các bạn để hoàn thiện dự án hơn nữa!</a:t>
            </a:r>
          </a:p>
        </p:txBody>
      </p:sp>
    </p:spTree>
    <p:extLst>
      <p:ext uri="{BB962C8B-B14F-4D97-AF65-F5344CB8AC3E}">
        <p14:creationId xmlns:p14="http://schemas.microsoft.com/office/powerpoint/2010/main" val="2443583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2026-10-19T08:16:35.8670000Z</dcterms:created>
  <dcterms:modified xsi:type="dcterms:W3CDTF">2026-10-19T08:16:35.8670000Z</dcterms:modified>
</coreProperties>
</file>