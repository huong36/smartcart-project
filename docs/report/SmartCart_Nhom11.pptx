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e4647f8b404656" /><Relationship Type="http://schemas.openxmlformats.org/officeDocument/2006/relationships/extended-properties" Target="/docProps/app.xml" Id="R4a3722debe094a2e" /><Relationship Type="http://schemas.openxmlformats.org/officeDocument/2006/relationships/officeDocument" Target="/ppt/presentation.xml" Id="Re8c8e537dae54a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7405342b2a49e3"/>
  </p:sldMasterIdLst>
  <p:notesMasterIdLst>
    <p:notesMasterId xmlns:r="http://schemas.openxmlformats.org/officeDocument/2006/relationships" r:id="R16a894f3ffb24444"/>
  </p:notesMasterIdLst>
  <p:sldIdLst>
    <p:sldId xmlns:r="http://schemas.openxmlformats.org/officeDocument/2006/relationships" id="256" r:id="R1b2917825e2c4b69"/>
    <p:sldId xmlns:r="http://schemas.openxmlformats.org/officeDocument/2006/relationships" id="257" r:id="R600d653712cf4679"/>
    <p:sldId xmlns:r="http://schemas.openxmlformats.org/officeDocument/2006/relationships" id="258" r:id="R3268e013496c49fa"/>
    <p:sldId xmlns:r="http://schemas.openxmlformats.org/officeDocument/2006/relationships" id="259" r:id="R58ab64e1c61649e7"/>
    <p:sldId xmlns:r="http://schemas.openxmlformats.org/officeDocument/2006/relationships" id="260" r:id="R79cf70e14e2f4751"/>
    <p:sldId xmlns:r="http://schemas.openxmlformats.org/officeDocument/2006/relationships" id="261" r:id="R4c92125c57ef41e1"/>
    <p:sldId xmlns:r="http://schemas.openxmlformats.org/officeDocument/2006/relationships" id="262" r:id="R13de16b67e8e434e"/>
    <p:sldId xmlns:r="http://schemas.openxmlformats.org/officeDocument/2006/relationships" id="263" r:id="R4dfc4271b09d4e82"/>
    <p:sldId xmlns:r="http://schemas.openxmlformats.org/officeDocument/2006/relationships" id="264" r:id="Rd001d2a504194acf"/>
    <p:sldId xmlns:r="http://schemas.openxmlformats.org/officeDocument/2006/relationships" id="265" r:id="Rb8e53ff3f1774642"/>
    <p:sldId xmlns:r="http://schemas.openxmlformats.org/officeDocument/2006/relationships" id="266" r:id="R001000a0769c41b4"/>
    <p:sldId xmlns:r="http://schemas.openxmlformats.org/officeDocument/2006/relationships" id="267" r:id="R89f9fc99f85f403c"/>
    <p:sldId xmlns:r="http://schemas.openxmlformats.org/officeDocument/2006/relationships" id="268" r:id="R12d9357440684387"/>
    <p:sldId xmlns:r="http://schemas.openxmlformats.org/officeDocument/2006/relationships" id="269" r:id="Rff18e387648f4eda"/>
    <p:sldId xmlns:r="http://schemas.openxmlformats.org/officeDocument/2006/relationships" id="270" r:id="R8e6d96e1a1034e5b"/>
    <p:sldId xmlns:r="http://schemas.openxmlformats.org/officeDocument/2006/relationships" id="271" r:id="R77296b96d7d5417e"/>
    <p:sldId xmlns:r="http://schemas.openxmlformats.org/officeDocument/2006/relationships" id="272" r:id="Rca05282e75ab474f"/>
    <p:sldId xmlns:r="http://schemas.openxmlformats.org/officeDocument/2006/relationships" id="273" r:id="R6908dacf75a34fb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f723eacca44f30" /><Relationship Type="http://schemas.openxmlformats.org/officeDocument/2006/relationships/slideMaster" Target="/ppt/slideMasters/slideMaster1.xml" Id="Rae7405342b2a49e3" /><Relationship Type="http://schemas.openxmlformats.org/officeDocument/2006/relationships/notesMaster" Target="/ppt/notesMasters/notesMaster1.xml" Id="R16a894f3ffb24444" /><Relationship Type="http://schemas.openxmlformats.org/officeDocument/2006/relationships/presProps" Target="/ppt/presProps.xml" Id="Re174d0c84c104e64" /><Relationship Type="http://schemas.openxmlformats.org/officeDocument/2006/relationships/tableStyles" Target="/ppt/tableStyles.xml" Id="Rb3281d04fcc447a6" /><Relationship Type="http://schemas.openxmlformats.org/officeDocument/2006/relationships/slide" Target="/ppt/slides/slide1.xml" Id="R1b2917825e2c4b69" /><Relationship Type="http://schemas.openxmlformats.org/officeDocument/2006/relationships/slide" Target="/ppt/slides/slide2.xml" Id="R600d653712cf4679" /><Relationship Type="http://schemas.openxmlformats.org/officeDocument/2006/relationships/slide" Target="/ppt/slides/slide3.xml" Id="R3268e013496c49fa" /><Relationship Type="http://schemas.openxmlformats.org/officeDocument/2006/relationships/slide" Target="/ppt/slides/slide4.xml" Id="R58ab64e1c61649e7" /><Relationship Type="http://schemas.openxmlformats.org/officeDocument/2006/relationships/slide" Target="/ppt/slides/slide5.xml" Id="R79cf70e14e2f4751" /><Relationship Type="http://schemas.openxmlformats.org/officeDocument/2006/relationships/slide" Target="/ppt/slides/slide6.xml" Id="R4c92125c57ef41e1" /><Relationship Type="http://schemas.openxmlformats.org/officeDocument/2006/relationships/slide" Target="/ppt/slides/slide7.xml" Id="R13de16b67e8e434e" /><Relationship Type="http://schemas.openxmlformats.org/officeDocument/2006/relationships/slide" Target="/ppt/slides/slide8.xml" Id="R4dfc4271b09d4e82" /><Relationship Type="http://schemas.openxmlformats.org/officeDocument/2006/relationships/slide" Target="/ppt/slides/slide9.xml" Id="Rd001d2a504194acf" /><Relationship Type="http://schemas.openxmlformats.org/officeDocument/2006/relationships/slide" Target="/ppt/slides/slide10.xml" Id="Rb8e53ff3f1774642" /><Relationship Type="http://schemas.openxmlformats.org/officeDocument/2006/relationships/slide" Target="/ppt/slides/slide11.xml" Id="R001000a0769c41b4" /><Relationship Type="http://schemas.openxmlformats.org/officeDocument/2006/relationships/slide" Target="/ppt/slides/slide12.xml" Id="R89f9fc99f85f403c" /><Relationship Type="http://schemas.openxmlformats.org/officeDocument/2006/relationships/slide" Target="/ppt/slides/slide13.xml" Id="R12d9357440684387" /><Relationship Type="http://schemas.openxmlformats.org/officeDocument/2006/relationships/slide" Target="/ppt/slides/slide14.xml" Id="Rff18e387648f4eda" /><Relationship Type="http://schemas.openxmlformats.org/officeDocument/2006/relationships/slide" Target="/ppt/slides/slide15.xml" Id="R8e6d96e1a1034e5b" /><Relationship Type="http://schemas.openxmlformats.org/officeDocument/2006/relationships/slide" Target="/ppt/slides/slide16.xml" Id="R77296b96d7d5417e" /><Relationship Type="http://schemas.openxmlformats.org/officeDocument/2006/relationships/slide" Target="/ppt/slides/slide17.xml" Id="Rca05282e75ab474f" /><Relationship Type="http://schemas.openxmlformats.org/officeDocument/2006/relationships/slide" Target="/ppt/slides/slide18.xml" Id="R6908dacf75a34f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02688f426347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c56f79ec334ff5" /><Relationship Type="http://schemas.openxmlformats.org/officeDocument/2006/relationships/notesMaster" Target="/ppt/notesMasters/notesMaster1.xml" Id="Rd05b873f64c64b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21f63bf6c64ba6" /><Relationship Type="http://schemas.openxmlformats.org/officeDocument/2006/relationships/notesMaster" Target="/ppt/notesMasters/notesMaster1.xml" Id="R424e774b36874b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0500291fda45c8" /><Relationship Type="http://schemas.openxmlformats.org/officeDocument/2006/relationships/notesMaster" Target="/ppt/notesMasters/notesMaster1.xml" Id="R67d8e9d6f51c41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a7c1a84b664b3f" /><Relationship Type="http://schemas.openxmlformats.org/officeDocument/2006/relationships/notesMaster" Target="/ppt/notesMasters/notesMaster1.xml" Id="R37b2c6b2f7b746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609747b1d64a87" /><Relationship Type="http://schemas.openxmlformats.org/officeDocument/2006/relationships/notesMaster" Target="/ppt/notesMasters/notesMaster1.xml" Id="Rc314b499345a47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81e7875a5e4509" /><Relationship Type="http://schemas.openxmlformats.org/officeDocument/2006/relationships/notesMaster" Target="/ppt/notesMasters/notesMaster1.xml" Id="Rd5ccdb80433f45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38f7dc6b3041b9" /><Relationship Type="http://schemas.openxmlformats.org/officeDocument/2006/relationships/notesMaster" Target="/ppt/notesMasters/notesMaster1.xml" Id="R5c215710da214d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2094df881244efd" /><Relationship Type="http://schemas.openxmlformats.org/officeDocument/2006/relationships/notesMaster" Target="/ppt/notesMasters/notesMaster1.xml" Id="Rd8a7caf40ae943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fd6925485c54585" /><Relationship Type="http://schemas.openxmlformats.org/officeDocument/2006/relationships/notesMaster" Target="/ppt/notesMasters/notesMaster1.xml" Id="R70e488164a5848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31472cbd664a49" /><Relationship Type="http://schemas.openxmlformats.org/officeDocument/2006/relationships/notesMaster" Target="/ppt/notesMasters/notesMaster1.xml" Id="R8fc7ee47b41340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2668286159249a5" /><Relationship Type="http://schemas.openxmlformats.org/officeDocument/2006/relationships/notesMaster" Target="/ppt/notesMasters/notesMaster1.xml" Id="R8b0271c8c6a34c6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6b327afa344e1d" /><Relationship Type="http://schemas.openxmlformats.org/officeDocument/2006/relationships/notesMaster" Target="/ppt/notesMasters/notesMaster1.xml" Id="R068496739560445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3aa51cb6f048e3" /><Relationship Type="http://schemas.openxmlformats.org/officeDocument/2006/relationships/notesMaster" Target="/ppt/notesMasters/notesMaster1.xml" Id="Rd52cad4fee5f4f7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507356928684c51" /><Relationship Type="http://schemas.openxmlformats.org/officeDocument/2006/relationships/notesMaster" Target="/ppt/notesMasters/notesMaster1.xml" Id="Rce3c5de82199437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84c40434c904cf5" /><Relationship Type="http://schemas.openxmlformats.org/officeDocument/2006/relationships/notesMaster" Target="/ppt/notesMasters/notesMaster1.xml" Id="R4949ae7a90d7439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964c907dd09454f" /><Relationship Type="http://schemas.openxmlformats.org/officeDocument/2006/relationships/notesMaster" Target="/ppt/notesMasters/notesMaster1.xml" Id="Rcf8e0045bab84ff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e324305b8c4425f" /><Relationship Type="http://schemas.openxmlformats.org/officeDocument/2006/relationships/notesMaster" Target="/ppt/notesMasters/notesMaster1.xml" Id="R4fe88fcf404540a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b0e800bdba84b39" /><Relationship Type="http://schemas.openxmlformats.org/officeDocument/2006/relationships/notesMaster" Target="/ppt/notesMasters/notesMaster1.xml" Id="R92b5f62cc17547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>Đề tài năm 2026. Giới thiệu nhóm và phạm vi trình bày.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Trần Xuân Hướng — 2001230339: nền tảng, Auth, CSDL, tích hợp, tìm ảnh và báo cáo.</a:t>
            </a:r>
          </a:p>
          <a:p xmlns:a="http://schemas.openxmlformats.org/drawingml/2006/main">
            <a:r>
              <a:t>Lê Duy — 2001230117: CRUD Admin, validation, upload và dữ liệu/ảnh mẫu.</a:t>
            </a:r>
          </a:p>
          <a:p xmlns:a="http://schemas.openxmlformats.org/drawingml/2006/main">
            <a:r>
              <a:t>Nguyễn Xuân Phương — 2001230703: catalog, checkout, đơn hàng, hủy đơn và hoàn kho.</a:t>
            </a:r>
          </a:p>
          <a:p xmlns:a="http://schemas.openxmlformats.org/drawingml/2006/main">
            <a:r>
              <a:t>Nông Văn Minh — 2001230515: giỏ Fetch, live search, SweetAlert2 và widget thời tiết.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Kết hợp giao diện, cơ sở dữ liệu và nghiệp vụ trong một ứng dụng Laravel.</a:t>
            </a:r>
          </a:p>
          <a:p xmlns:a="http://schemas.openxmlformats.org/drawingml/2006/main">
            <a:r>
              <a:t>Giá, số lượng, đơn hàng và tồn kho phải nhất quán.</a:t>
            </a:r>
          </a:p>
          <a:p xmlns:a="http://schemas.openxmlformats.org/drawingml/2006/main">
            <a:r>
              <a:t>Thử cả trường hợp thành công và trường hợp lỗi.</a:t>
            </a:r>
          </a:p>
          <a:p xmlns:a="http://schemas.openxmlformats.org/drawingml/2006/main">
            <a:r>
              <a:t>Mở rộng trải nghiệm bằng tìm kiếm sản phẩm từ hình ảnh.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Catalog gồm 8 danh mục và 60 sản phẩm.</a:t>
            </a:r>
          </a:p>
          <a:p xmlns:a="http://schemas.openxmlformats.org/drawingml/2006/main">
            <a:r>
              <a:t>Khách xem/tìm hàng và dùng giỏ trước khi đăng nhập.</a:t>
            </a:r>
          </a:p>
          <a:p xmlns:a="http://schemas.openxmlformats.org/drawingml/2006/main">
            <a:r>
              <a:t>Người có tài khoản đặt hàng COD và theo dõi đơn của mình.</a:t>
            </a:r>
          </a:p>
          <a:p xmlns:a="http://schemas.openxmlformats.org/drawingml/2006/main">
            <a:r>
              <a:t>Miễn phí giao hàng trong mô phỏng. Chưa tích hợp ngân hàng, vận chuyển hay hoàn tiền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Laravel 13.35.0, PHP từ 8.3, Blade và Bootstrap 5.3.3.</a:t>
            </a:r>
          </a:p>
          <a:p xmlns:a="http://schemas.openxmlformats.org/drawingml/2006/main">
            <a:r>
              <a:t>Eloquent, migration, seeder và MySQL.</a:t>
            </a:r>
          </a:p>
          <a:p xmlns:a="http://schemas.openxmlformats.org/drawingml/2006/main">
            <a:r>
              <a:t>Fetch API, Session và SweetAlert2.</a:t>
            </a:r>
          </a:p>
          <a:p xmlns:a="http://schemas.openxmlformats.org/drawingml/2006/main">
            <a:r>
              <a:t>Python 3.12, OpenCLIP ViT-B-32. Dịch vụ nội bộ mặc định cổng 8020.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Khách vãng lai: xem, lọc, tìm kiếm, chi tiết, giỏ hàng và tìm bằng ảnh.</a:t>
            </a:r>
          </a:p>
          <a:p xmlns:a="http://schemas.openxmlformats.org/drawingml/2006/main">
            <a:r>
              <a:t>Customer: đặt hàng COD, xem đơn của mình, hủy đơn chờ xác nhận.</a:t>
            </a:r>
          </a:p>
          <a:p xmlns:a="http://schemas.openxmlformats.org/drawingml/2006/main">
            <a:r>
              <a:t>Admin: CRUD danh mục/sản phẩm, tổng quan, xử lý và hủy đơn theo trạng thái.</a:t>
            </a:r>
          </a:p>
          <a:p xmlns:a="http://schemas.openxmlformats.org/drawingml/2006/main">
            <a:r>
              <a:t>Hai role lưu trong DB: customer và admin. Guest là trạng thái chưa đăng nhập.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>Mục 2.4. users có nhiều orders; orders có nhiều order_items; products có nhiều order_items; categories có nhiều products. Bảng hỗ trợ framework không tính là bảng nghiệp vụ.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Khóa ngoại chặn xóa danh mục/sản phẩm đang được sử dụng.</a:t>
            </a:r>
          </a:p>
          <a:p xmlns:a="http://schemas.openxmlformats.org/drawingml/2006/main">
            <a:r>
              <a:t>OrderItem lưu tên và giá tại thời điểm mua.</a:t>
            </a:r>
          </a:p>
          <a:p xmlns:a="http://schemas.openxmlformats.org/drawingml/2006/main">
            <a:r>
              <a:t>Cặp order_id và product_id duy nhất trong một đơn.</a:t>
            </a:r>
          </a:p>
          <a:p xmlns:a="http://schemas.openxmlformats.org/drawingml/2006/main">
            <a:r>
              <a:t>Giá decimal(12,2). Checkout tính bằng số nguyên theo đơn vị 1/100, tránh cộng float.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Đăng ký luôn tạo Customer và hash mật khẩu.</a:t>
            </a:r>
          </a:p>
          <a:p xmlns:a="http://schemas.openxmlformats.org/drawingml/2006/main">
            <a:r>
              <a:t>Đăng nhập giới hạn thử sai, tái tạo session.</a:t>
            </a:r>
          </a:p>
          <a:p xmlns:a="http://schemas.openxmlformats.org/drawingml/2006/main">
            <a:r>
              <a:t>Middleware auth và role bảo vệ route Admin.</a:t>
            </a:r>
          </a:p>
          <a:p xmlns:a="http://schemas.openxmlformats.org/drawingml/2006/main">
            <a:r>
              <a:t>CSRF cho thao tác ghi dữ liệu. Chi tiết đơn truy vấn theo tài khoản đang đăng nhập.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Danh sách phân trang 8 sản phẩm mỗi trang.</a:t>
            </a:r>
          </a:p>
          <a:p xmlns:a="http://schemas.openxmlformats.org/drawingml/2006/main">
            <a:r>
              <a:t>Tìm tên, lọc danh mục và sắp xếp giá tăng/giảm.</a:t>
            </a:r>
          </a:p>
          <a:p xmlns:a="http://schemas.openxmlformats.org/drawingml/2006/main">
            <a:r>
              <a:t>Giữ bộ lọc khi chuyển trang, xử lý từ khóa “0”.</a:t>
            </a:r>
          </a:p>
          <a:p xmlns:a="http://schemas.openxmlformats.org/drawingml/2006/main">
            <a:r>
              <a:t>Chi tiết có ảnh, mô tả, giá, tồn kho và nút thêm giỏ.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CRUD hai bảng categories và products có quan hệ.</a:t>
            </a:r>
          </a:p>
          <a:p xmlns:a="http://schemas.openxmlformats.org/drawingml/2006/main">
            <a:r>
              <a:t>Form Request kiểm tra tên, danh mục, giá lớn hơn 0 và tồn kho không âm.</a:t>
            </a:r>
          </a:p>
          <a:p xmlns:a="http://schemas.openxmlformats.org/drawingml/2006/main">
            <a:r>
              <a:t>Upload ảnh JPEG, PNG, WebP vào public storage.</a:t>
            </a:r>
          </a:p>
          <a:p xmlns:a="http://schemas.openxmlformats.org/drawingml/2006/main">
            <a:r>
              <a:t>Chặn xóa dữ liệu đang được dùng. Seeder giữ thay đổi giá, kho và ảnh của Admin.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Session lưu mã sản phẩm và số lượng.</a:t>
            </a:r>
          </a:p>
          <a:p xmlns:a="http://schemas.openxmlformats.org/drawingml/2006/main">
            <a:r>
              <a:t>Thêm, tăng/giảm và xóa không tải lại trang.</a:t>
            </a:r>
          </a:p>
          <a:p xmlns:a="http://schemas.openxmlformats.org/drawingml/2006/main">
            <a:r>
              <a:t>Cập nhật badge, số lượng và tổng tiền theo phản hồi server.</a:t>
            </a:r>
          </a:p>
          <a:p xmlns:a="http://schemas.openxmlformats.org/drawingml/2006/main">
            <a:r>
              <a:t>Live search gợi ý sản phẩm. SweetAlert2 thông báo kết quả. Logout kết thúc session giỏ.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Server tính tổng từ giá DB và kiểm tra tồn kho hiện hành.</a:t>
            </a:r>
          </a:p>
          <a:p xmlns:a="http://schemas.openxmlformats.org/drawingml/2006/main">
            <a:r>
              <a:t>Ghi đơn, chi tiết đơn và trừ kho trong cùng transaction.</a:t>
            </a:r>
          </a:p>
          <a:p xmlns:a="http://schemas.openxmlformats.org/drawingml/2006/main">
            <a:r>
              <a:t>Lỗi giữa chừng rollback toàn bộ.</a:t>
            </a:r>
          </a:p>
          <a:p xmlns:a="http://schemas.openxmlformats.org/drawingml/2006/main">
            <a:r>
              <a:t>checkout_token duy nhất trả lại đơn có sẵn khi gửi lặp.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Chờ xác nhận: Admin chuyển Đang giao; chủ đơn hoặc Admin được hủy.</a:t>
            </a:r>
          </a:p>
          <a:p xmlns:a="http://schemas.openxmlformats.org/drawingml/2006/main">
            <a:r>
              <a:t>Đang giao: Admin chuyển Hoàn thành hoặc hủy.</a:t>
            </a:r>
          </a:p>
          <a:p xmlns:a="http://schemas.openxmlformats.org/drawingml/2006/main">
            <a:r>
              <a:t>Hoàn thành: không hủy trong phạm vi hiện tại.</a:t>
            </a:r>
          </a:p>
          <a:p xmlns:a="http://schemas.openxmlformats.org/drawingml/2006/main">
            <a:r>
              <a:t>Hủy đơn: khóa đơn và sản phẩm, hoàn kho đúng một lần. Gửi lại không tăng kho thêm.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Chọn ảnh hoặc chụp camera khi trình duyệt cho phép.</a:t>
            </a:r>
          </a:p>
          <a:p xmlns:a="http://schemas.openxmlformats.org/drawingml/2006/main">
            <a:r>
              <a:t>Laravel kiểm tra JPG/PNG/WebP, tối đa2MB, tối đa6000×6000px.</a:t>
            </a:r>
          </a:p>
          <a:p xmlns:a="http://schemas.openxmlformats.org/drawingml/2006/main">
            <a:r>
              <a:t>Python xử lý ảnh bằng mô hình OpenCLIP đã huấn luyện sẵn.</a:t>
            </a:r>
          </a:p>
          <a:p xmlns:a="http://schemas.openxmlformats.org/drawingml/2006/main">
            <a:r>
              <a:t>Kết quả hiện ảnh, tên, giá và nút thêm giỏ. Giá/tồn kho lấy từ Laravel.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Chưa chạy lại toàn bộ88test của bản tìm ảnh trên MySQL.</a:t>
            </a:r>
          </a:p>
          <a:p xmlns:a="http://schemas.openxmlformats.org/drawingml/2006/main">
            <a:r>
              <a:t>Cài đặt trên máy vật lý thứ hai còn chờ xác nhận tại thời điểm báo cáo.</a:t>
            </a:r>
          </a:p>
          <a:p xmlns:a="http://schemas.openxmlformats.org/drawingml/2006/main">
            <a:r>
              <a:t>Bổ sung nguồn ảnh, nhiều sản phẩm cùng loại và tập truy vấn độc lập.</a:t>
            </a:r>
          </a:p>
          <a:p xmlns:a="http://schemas.openxmlformats.org/drawingml/2006/main">
            <a:r>
              <a:t>Đánh giá Recall@k, thử camera thực tế và tiếp tục kiểm tra responsive.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>Nguồn tham khảo trong báo cáo: Laravel13 https://laravel.com/docs/13.x ; Bootstrap5.3 https://getbootstrap.com/docs/5.3/ ; OpenCLIP https://github.com/mlfoundations/open_clip ; LAION https://huggingface.co/laion/CLIP-ViT-B-32-laion2B-s34B-b79K ; Open-Meteo https://open-meteo.com/en/docs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11b2340c21419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410f40f7fb4ed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6354a2e40240c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c9e6681ad3424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4a8e1914644ba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53a0c2054c4cd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62A7C3-21E3-4FB8-BC09-62787D0FA6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66CBC01-8E51-4A64-88C7-0D13D6D16E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FDF1F9B-1376-44C8-ADC0-30E1A91B64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7D7264D-326B-49DE-8780-3984413570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06E64AF-26AB-4482-9995-DA56277F70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7C940D3-D21C-4942-80A9-95B2AF28E0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91ED2AC-F2FA-41C1-AEF6-FC67F9129F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2317355-8C7F-4FD7-9ACF-CE441B4850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98EF372-F7FC-4A53-BDFA-0069CDC41F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27D6A0C-6587-4D49-BD61-A1FFB72FC5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75dc7b43a04460" /><Relationship Type="http://schemas.openxmlformats.org/officeDocument/2006/relationships/slideLayout" Target="/ppt/slideLayouts/slideLayout1.xml" Id="R5fb32f0a12a5440a" /><Relationship Type="http://schemas.openxmlformats.org/officeDocument/2006/relationships/slideLayout" Target="/ppt/slideLayouts/slideLayout2.xml" Id="Ref8d2df1550a4b4a" /><Relationship Type="http://schemas.openxmlformats.org/officeDocument/2006/relationships/slideLayout" Target="/ppt/slideLayouts/slideLayout3.xml" Id="Rcfdd03a93aa145dd" /><Relationship Type="http://schemas.openxmlformats.org/officeDocument/2006/relationships/slideLayout" Target="/ppt/slideLayouts/slideLayout4.xml" Id="Rd1c369b1edc64cdc" /><Relationship Type="http://schemas.openxmlformats.org/officeDocument/2006/relationships/slideLayout" Target="/ppt/slideLayouts/slideLayout5.xml" Id="R5285ead05b3a4ac7" /><Relationship Type="http://schemas.openxmlformats.org/officeDocument/2006/relationships/slideLayout" Target="/ppt/slideLayouts/slideLayout6.xml" Id="Rb904737ba6a8422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b32f0a12a5440a"/>
    <p:sldLayoutId xmlns:r="http://schemas.openxmlformats.org/officeDocument/2006/relationships" id="2147483650" r:id="Ref8d2df1550a4b4a"/>
    <p:sldLayoutId xmlns:r="http://schemas.openxmlformats.org/officeDocument/2006/relationships" id="2147483651" r:id="Rcfdd03a93aa145dd"/>
    <p:sldLayoutId xmlns:r="http://schemas.openxmlformats.org/officeDocument/2006/relationships" id="2147483652" r:id="Rd1c369b1edc64cdc"/>
    <p:sldLayoutId xmlns:r="http://schemas.openxmlformats.org/officeDocument/2006/relationships" id="2147483653" r:id="R5285ead05b3a4ac7"/>
    <p:sldLayoutId xmlns:r="http://schemas.openxmlformats.org/officeDocument/2006/relationships" id="2147483654" r:id="Rb904737ba6a842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d202ad975347c1" /><Relationship Type="http://schemas.openxmlformats.org/officeDocument/2006/relationships/image" Target="/ppt/media/image.png" Id="R065187462d944f1a" /><Relationship Type="http://schemas.openxmlformats.org/officeDocument/2006/relationships/notesSlide" Target="/ppt/notesSlides/notesSlide1.xml" Id="R8bd75f1a0ad746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09574387c94427" /><Relationship Type="http://schemas.openxmlformats.org/officeDocument/2006/relationships/image" Target="/ppt/media/image2.png" Id="Rc49fd30c0716489e" /><Relationship Type="http://schemas.openxmlformats.org/officeDocument/2006/relationships/notesSlide" Target="/ppt/notesSlides/notesSlide2.xml" Id="Rf68f891dd7d847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48a359733e44d9" /><Relationship Type="http://schemas.openxmlformats.org/officeDocument/2006/relationships/image" Target="/ppt/media/image3.png" Id="R59d22f25f1c24d8e" /><Relationship Type="http://schemas.openxmlformats.org/officeDocument/2006/relationships/notesSlide" Target="/ppt/notesSlides/notesSlide3.xml" Id="R55ef699e055846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7e4bf2ee134519" /><Relationship Type="http://schemas.openxmlformats.org/officeDocument/2006/relationships/image" Target="/ppt/media/image4.png" Id="Ra5901f6ef13f4131" /><Relationship Type="http://schemas.openxmlformats.org/officeDocument/2006/relationships/notesSlide" Target="/ppt/notesSlides/notesSlide4.xml" Id="Rb099bb2f113e44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dea08cea544db5" /><Relationship Type="http://schemas.openxmlformats.org/officeDocument/2006/relationships/image" Target="/ppt/media/image5.png" Id="R67a177a73fa846a7" /><Relationship Type="http://schemas.openxmlformats.org/officeDocument/2006/relationships/notesSlide" Target="/ppt/notesSlides/notesSlide5.xml" Id="R695819f4a34a4a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cdf728857a4cad" /><Relationship Type="http://schemas.openxmlformats.org/officeDocument/2006/relationships/image" Target="/ppt/media/image6.png" Id="R0965ff51b25c44f9" /><Relationship Type="http://schemas.openxmlformats.org/officeDocument/2006/relationships/notesSlide" Target="/ppt/notesSlides/notesSlide6.xml" Id="R4840eb2b758e4a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05d9f6c7cb4c83" /><Relationship Type="http://schemas.openxmlformats.org/officeDocument/2006/relationships/image" Target="/ppt/media/image7.png" Id="R58edcf2126374e5c" /><Relationship Type="http://schemas.openxmlformats.org/officeDocument/2006/relationships/notesSlide" Target="/ppt/notesSlides/notesSlide7.xml" Id="Rdaa36cfe04fc44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5ed5c6b6914023" /><Relationship Type="http://schemas.openxmlformats.org/officeDocument/2006/relationships/image" Target="/ppt/media/image8.png" Id="Rda944deeeb4e4ba4" /><Relationship Type="http://schemas.openxmlformats.org/officeDocument/2006/relationships/notesSlide" Target="/ppt/notesSlides/notesSlide8.xml" Id="Rd3f609debe5649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76ab50b5f04fe9" /><Relationship Type="http://schemas.openxmlformats.org/officeDocument/2006/relationships/image" Target="/ppt/media/image9.png" Id="R3a7e4539f050411a" /><Relationship Type="http://schemas.openxmlformats.org/officeDocument/2006/relationships/notesSlide" Target="/ppt/notesSlides/notesSlide9.xml" Id="Rcb3d93d8a3384a5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9d3e0ed84a43b4" /><Relationship Type="http://schemas.openxmlformats.org/officeDocument/2006/relationships/image" Target="/ppt/media/image10.png" Id="R9a169a17b4b844e1" /><Relationship Type="http://schemas.openxmlformats.org/officeDocument/2006/relationships/image" Target="/ppt/media/image.jpeg" Id="R70663d36744e42ef" /><Relationship Type="http://schemas.openxmlformats.org/officeDocument/2006/relationships/notesSlide" Target="/ppt/notesSlides/notesSlide10.xml" Id="R6e2c78da64c4497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654c0a1d6f44ec" /><Relationship Type="http://schemas.openxmlformats.org/officeDocument/2006/relationships/image" Target="/ppt/media/image11.png" Id="R98cd2b7a743a47ba" /><Relationship Type="http://schemas.openxmlformats.org/officeDocument/2006/relationships/image" Target="/ppt/media/image2.jpeg" Id="R8d11cab777ac4c6c" /><Relationship Type="http://schemas.openxmlformats.org/officeDocument/2006/relationships/notesSlide" Target="/ppt/notesSlides/notesSlide11.xml" Id="R0ca966f3be514bf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d38abd750b4093" /><Relationship Type="http://schemas.openxmlformats.org/officeDocument/2006/relationships/image" Target="/ppt/media/image12.png" Id="R5aec9681536948ce" /><Relationship Type="http://schemas.openxmlformats.org/officeDocument/2006/relationships/notesSlide" Target="/ppt/notesSlides/notesSlide12.xml" Id="R4903315351664fb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3af661e5c54eb5" /><Relationship Type="http://schemas.openxmlformats.org/officeDocument/2006/relationships/image" Target="/ppt/media/image13.png" Id="R96a2a03666394060" /><Relationship Type="http://schemas.openxmlformats.org/officeDocument/2006/relationships/notesSlide" Target="/ppt/notesSlides/notesSlide13.xml" Id="R34f8a5e32a1f432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cbf4da9fd54404" /><Relationship Type="http://schemas.openxmlformats.org/officeDocument/2006/relationships/image" Target="/ppt/media/image14.png" Id="R29cd1122ed0741ad" /><Relationship Type="http://schemas.openxmlformats.org/officeDocument/2006/relationships/notesSlide" Target="/ppt/notesSlides/notesSlide14.xml" Id="Rfda28b54bdc4455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624565dee24ab5" /><Relationship Type="http://schemas.openxmlformats.org/officeDocument/2006/relationships/image" Target="/ppt/media/image15.png" Id="R1bc37bcd2bcc4530" /><Relationship Type="http://schemas.openxmlformats.org/officeDocument/2006/relationships/notesSlide" Target="/ppt/notesSlides/notesSlide15.xml" Id="Rc7939997c70c4a6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81cbced6d74580" /><Relationship Type="http://schemas.openxmlformats.org/officeDocument/2006/relationships/image" Target="/ppt/media/image16.png" Id="R179ff8d47fcd473c" /><Relationship Type="http://schemas.openxmlformats.org/officeDocument/2006/relationships/image" Target="/ppt/media/image17.png" Id="R2c0d4aefe7434708" /><Relationship Type="http://schemas.openxmlformats.org/officeDocument/2006/relationships/notesSlide" Target="/ppt/notesSlides/notesSlide16.xml" Id="Rc9aa2af9acbe4bf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43dd7a6e7147e1" /><Relationship Type="http://schemas.openxmlformats.org/officeDocument/2006/relationships/image" Target="/ppt/media/image18.png" Id="R81ce14be2426415b" /><Relationship Type="http://schemas.openxmlformats.org/officeDocument/2006/relationships/notesSlide" Target="/ppt/notesSlides/notesSlide17.xml" Id="R230b763e516c496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fbcc6ed483411d" /><Relationship Type="http://schemas.openxmlformats.org/officeDocument/2006/relationships/image" Target="/ppt/media/image19.png" Id="Rabb7ae4635b54091" /><Relationship Type="http://schemas.openxmlformats.org/officeDocument/2006/relationships/notesSlide" Target="/ppt/notesSlides/notesSlide18.xml" Id="Rb528468d46ca493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5187462d944f1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1263109-9958-4503-AC0C-ECEC1644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1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725" b="1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27287"/>
                </a:solidFill>
                <a:latin typeface="Arial"/>
                <a:ea typeface="Arial"/>
                <a:cs typeface="Arial"/>
              </a:rPr>
              <a:t>BÁO CÁO MÔN LẬP TRÌNH MÃ NGUỒN MỞ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B61B73A-937B-4A44-911C-F359A960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7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7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7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7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7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7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7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7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7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7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SMARTCART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C83706A-BA20-4BFE-B83C-8D44A3B9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97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97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97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97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97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97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97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97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97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397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Hệ thống bán hàng</a:t>
            </a:r>
          </a:p>
          <a:p xmlns:a="http://schemas.openxmlformats.org/drawingml/2006/main">
            <a:pPr algn="ctr">
              <a:buNone/>
              <a:defRPr sz="397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và giỏ hàng tương tác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E90707C-5669-46BA-B75A-743FCD12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523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4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Nhóm 11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4003490-7030-4934-A487-3C243B5E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Giảng viên hướng dẫn: Nguyễn Trần Duy Khang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4952A0B-AD37-4367-A0E0-F6B818BB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5486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Khoa Công nghệ thông tin</a:t>
            </a:r>
          </a:p>
        </p:txBody>
      </p:sp>
    </p:spTree>
    <p:extLst>
      <p:ext uri="{BB962C8B-B14F-4D97-AF65-F5344CB8AC3E}">
        <p14:creationId xmlns:p14="http://schemas.microsoft.com/office/powerpoint/2010/main" val="13437642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fd30c0716489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17" name="title">
            <a:extLst xmlns:a="http://schemas.openxmlformats.org/drawingml/2006/main">
              <a:ext uri="{FF2B5EF4-FFF2-40B4-BE49-F238E27FC236}">
                <a16:creationId xmlns:a16="http://schemas.microsoft.com/office/drawing/2014/main" id="{00838986-F60D-4462-A76A-AB403C1A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Nhóm thực hiện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E3089D9-DD07-4161-9BF2-C461E496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Bốn thành viên phát triển trên các nhánh Git riêng và tích hợp vào một bản demo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44B246A-CD35-4A74-89C3-A3216511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02 / 18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DA330F5-746A-48FA-A2FF-7400CDFF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Trần Xuân Hướng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D226F48-647E-43C7-8185-D02BCCE9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2001230339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75B3326-7D84-4D35-B29A-936816F5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085975"/>
            <a:ext cx="6429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Nền tảng, Auth, CSDL, tích hợp, tìm ảnh và báo cáo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3F5843E-F8DF-47BD-BBD2-1E2323C3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Lê Duy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B9BD6E7-8AB1-47FB-B4A9-B0F7E0D9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2001230117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D7A6B6E-7DC1-44AC-A8E6-5CADBDE3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095625"/>
            <a:ext cx="6429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CRUD Admin, validation, upload và ảnh sản phẩm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49F6D155-004F-4B33-B323-5E6C7A5B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Nguyễn Xuân Phương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A28AF15-1214-4A18-A0D9-C4EA927D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2001230703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29068C9-E251-432F-8F0E-972031774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05275"/>
            <a:ext cx="6429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Catalog, checkout, đơn hàng, hủy đơn và hoàn kho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1F46301-8301-4D77-B2A7-5D7BE39F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Nông Văn Minh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BC552EFA-FC87-46BA-9790-04A5F23D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2001230515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CB9E3828-4489-42FC-909E-055D5F48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114925"/>
            <a:ext cx="6429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Giỏ Fetch, live search, SweetAlert2 và API thời tiết</a:t>
            </a:r>
          </a:p>
        </p:txBody>
      </p:sp>
    </p:spTree>
    <p:extLst>
      <p:ext uri="{BB962C8B-B14F-4D97-AF65-F5344CB8AC3E}">
        <p14:creationId xmlns:p14="http://schemas.microsoft.com/office/powerpoint/2010/main" val="15107429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22f25f1c24d8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14" name="title">
            <a:extLst xmlns:a="http://schemas.openxmlformats.org/drawingml/2006/main">
              <a:ext uri="{FF2B5EF4-FFF2-40B4-BE49-F238E27FC236}">
                <a16:creationId xmlns:a16="http://schemas.microsoft.com/office/drawing/2014/main" id="{7EED898D-E8EC-4743-82D3-6F4F53C6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Bài toán và mục tiêu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12114F7-CB22-4E3F-81A5-08A28253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Một thao tác mua hàng phải khớp với dữ liệu mà hệ thống lưu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AF5892C-A24E-47E5-A0A6-9A983540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03 / 18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66D1233-8658-4CE3-A506-1BA3DB70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38350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4787BA3-C3D1-490D-93F6-D465E39C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3835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Kết nối các phần của website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1552E19-DA04-4C49-906B-59F59C2C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495550"/>
            <a:ext cx="990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Giao diện, cơ sở dữ liệu và xử lý nghiệp vụ cùng hoạt động trong Laravel.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16220FC-E844-4AB0-AE80-7FFA4D26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71850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B33A5B6-BC3E-4A34-8711-1E16EEB2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37185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Giữ giá và tồn kho nhất quán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5E9DED6-5EB4-4E09-8B3D-11A3448C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829050"/>
            <a:ext cx="990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Giỏ hàng, checkout và đơn hàng dùng dữ liệu do server kiểm tra.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7A8F8C58-50D0-4E25-A893-08F6B2B5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05350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5190099C-1B1D-4FB4-8D66-522A2E20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0535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Kiểm tra cả tình huống lỗi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13A266B-0620-4ECB-AF12-C8035F16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62550"/>
            <a:ext cx="990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Thử thiếu hàng, gửi lặp, hủy đơn và lỗi giữa giao dịch.</a:t>
            </a:r>
          </a:p>
        </p:txBody>
      </p:sp>
    </p:spTree>
    <p:extLst>
      <p:ext uri="{BB962C8B-B14F-4D97-AF65-F5344CB8AC3E}">
        <p14:creationId xmlns:p14="http://schemas.microsoft.com/office/powerpoint/2010/main" val="20319288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01f6ef13f413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600E544B-5A21-46DF-AF25-960BB237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Phạm vi hệ thống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FA207BE-3D48-489C-9182-CEDD1FB9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Website mô phỏng bán hàng cho môn học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1C4F609-7DED-414F-908D-C6A0BF40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04 / 18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34487B0-C07E-475E-8AC0-922AFBDE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47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7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9A8047D-415A-4F4B-94DE-8C520637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05175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danh mục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47F39A3-F467-4218-AC3B-AA497FBA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955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75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7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9691A3B-4098-4BD7-821A-650B9C65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3051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sản phẩm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734266B-5104-4467-85C3-7503F77C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2171700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Thanh toán COD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F53BC00-79BF-4CDF-BD42-47B6AC04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2676525"/>
            <a:ext cx="3714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Thanh toán khi nhận hàng, phí giao hàng bằng 0.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23871308-80BA-4334-88E6-996E089D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1057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Khách xem và dùng giỏ trước khi đăng nhập.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Người có tài khoản đặt hàng và theo dõi đơn của mình.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12931CC7-51CA-441A-A0FB-B28A0F96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40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Phạm vi hiện tại chưa kết nối ngân hàng, vận chuyển hoặc hoàn tiền thực tế.</a:t>
            </a:r>
          </a:p>
        </p:txBody>
      </p:sp>
    </p:spTree>
    <p:extLst>
      <p:ext uri="{BB962C8B-B14F-4D97-AF65-F5344CB8AC3E}">
        <p14:creationId xmlns:p14="http://schemas.microsoft.com/office/powerpoint/2010/main" val="11419130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a177a73fa846a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cxnSp>
        <p:nvCxnSpPr>
          <p:cNvPr id="16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305675" y="3095625"/>
            <a:ext cx="1219200" cy="1419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072B7"/>
            </a:solidFill>
            <a:tailEnd type="triangle" w="sm" len="sm"/>
          </a:ln>
        </p:spPr>
      </p:cxnSp>
      <p:cxnSp>
        <p:nvCxnSpPr>
          <p:cNvPr id="1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7305675" y="2514600"/>
            <a:ext cx="1219200" cy="581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072B7"/>
            </a:solidFill>
            <a:tailEnd type="triangle" w="sm" len="sm"/>
          </a:ln>
        </p:spPr>
      </p:cxnSp>
      <p:cxnSp>
        <p:nvCxnSpPr>
          <p:cNvPr id="1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324225" y="3095625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072B7"/>
            </a:solidFill>
            <a:tailEnd type="triangle" w="sm" len="sm"/>
          </a:ln>
        </p:spPr>
      </p:cxnSp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47683E96-A232-4E26-A6AF-CCCCEDF0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Công nghệ và kiến trúc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E43B746-5265-43C3-93C3-2759F3EA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Ứng dụng web và dịch vụ tìm ảnh là hai tiến trình riêng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BC580B5-4B53-47A9-A458-25ED172B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05 / 18</a:t>
            </a:r>
          </a:p>
        </p:txBody>
      </p:sp>
      <p:sp>
        <p:nvSpPr>
          <p:cNvPr id="5" name="diagram-node">
            <a:extLst xmlns:a="http://schemas.openxmlformats.org/drawingml/2006/main">
              <a:ext uri="{FF2B5EF4-FFF2-40B4-BE49-F238E27FC236}">
                <a16:creationId xmlns:a16="http://schemas.microsoft.com/office/drawing/2014/main" id="{9714FDF7-DE00-41C0-BB7B-7F497C1B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714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DDF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lvl1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Trình duyệt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Blade, Bootstrap, Fetch</a:t>
            </a:r>
          </a:p>
        </p:txBody>
      </p:sp>
      <p:sp>
        <p:nvSpPr>
          <p:cNvPr id="6" name="diagram-node">
            <a:extLst xmlns:a="http://schemas.openxmlformats.org/drawingml/2006/main">
              <a:ext uri="{FF2B5EF4-FFF2-40B4-BE49-F238E27FC236}">
                <a16:creationId xmlns:a16="http://schemas.microsoft.com/office/drawing/2014/main" id="{A1B22894-5BAB-4066-9CD4-383A1072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476500"/>
            <a:ext cx="2857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DDF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lvl1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Laravel 13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PHP 8.3 trở lên</a:t>
            </a:r>
          </a:p>
        </p:txBody>
      </p:sp>
      <p:sp>
        <p:nvSpPr>
          <p:cNvPr id="7" name="diagram-node">
            <a:extLst xmlns:a="http://schemas.openxmlformats.org/drawingml/2006/main">
              <a:ext uri="{FF2B5EF4-FFF2-40B4-BE49-F238E27FC236}">
                <a16:creationId xmlns:a16="http://schemas.microsoft.com/office/drawing/2014/main" id="{487F3588-7782-4589-A746-A95DB3A1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43100"/>
            <a:ext cx="304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DDF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lvl1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MySQL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Dữ liệu và public storage</a:t>
            </a:r>
          </a:p>
        </p:txBody>
      </p:sp>
      <p:sp>
        <p:nvSpPr>
          <p:cNvPr id="8" name="diagram-node">
            <a:extLst xmlns:a="http://schemas.openxmlformats.org/drawingml/2006/main">
              <a:ext uri="{FF2B5EF4-FFF2-40B4-BE49-F238E27FC236}">
                <a16:creationId xmlns:a16="http://schemas.microsoft.com/office/drawing/2014/main" id="{A6F79C56-E452-415C-9EA5-A2BAEA7B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943350"/>
            <a:ext cx="304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DDF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lvl1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Python 3.12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OpenCLIP, cổng 8020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48117C7-4AA3-44FD-A203-831A60AC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Open-Meteo cung cấp thời tiết ở Footer. API này không tham gia tạo đơn hoặc tính tiền.</a:t>
            </a:r>
          </a:p>
        </p:txBody>
      </p:sp>
    </p:spTree>
    <p:extLst>
      <p:ext uri="{BB962C8B-B14F-4D97-AF65-F5344CB8AC3E}">
        <p14:creationId xmlns:p14="http://schemas.microsoft.com/office/powerpoint/2010/main" val="17396986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65ff51b25c44f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2A924B17-C294-43D9-90A1-D6B57F57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Tác nhân và Use Case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835A7ED-D43C-4D73-B4D8-6CF7C18C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Hai role trong DB: customer và admin. Guest là người chưa đăng nhập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AC3F381-8A3B-4F98-AD3F-94331309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06 / 18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09600" y="2019300"/>
          <a:ext xmlns:a="http://schemas.openxmlformats.org/drawingml/2006/main" cx="109728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8258175"/>
              </a:tblGrid>
              <a:tr h="90487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Tác nhân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T w="9525">
                      <a:solidFill>
                        <a:srgbClr val="C8D9E7"/>
                      </a:solidFill>
                      <a:prstDash val="solid"/>
                    </a:lnT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2072B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Chức năng chính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T w="9525">
                      <a:solidFill>
                        <a:srgbClr val="C8D9E7"/>
                      </a:solidFill>
                      <a:prstDash val="solid"/>
                    </a:lnT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2072B7"/>
                    </a:solidFill>
                  </a:tcPr>
                </a:tc>
              </a:tr>
              <a:tr h="90487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Khách vãng lai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Xem, lọc, tìm sản phẩm, dùng giỏ và tìm bằng ảnh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0487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Customer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Đặt hàng COD, xem đơn của mình, hủy đơn chờ xác nhận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</a:tr>
              <a:tr h="90487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Admin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CRUD danh mục/sản phẩm, tổng quan và xử lý đơn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CA1CDFA-6565-4FBD-A852-219F54D6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0"/>
            <a:ext cx="1081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Server kiểm tra quyền truy cập. Việc ẩn nút trên giao diện không đủ để bảo vệ dữ liệu.</a:t>
            </a:r>
          </a:p>
        </p:txBody>
      </p:sp>
    </p:spTree>
    <p:extLst>
      <p:ext uri="{BB962C8B-B14F-4D97-AF65-F5344CB8AC3E}">
        <p14:creationId xmlns:p14="http://schemas.microsoft.com/office/powerpoint/2010/main" val="2786535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edcf2126374e5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cxnSp>
        <p:nvCxnSpPr>
          <p:cNvPr id="21" name=""/>
          <p:cNvCxnSpPr>
            <a:stCxn xmlns:a="http://schemas.openxmlformats.org/drawingml/2006/main" id="9" idx="3"/>
            <a:endCxn xmlns:a="http://schemas.openxmlformats.org/drawingml/2006/main" id="7" idx="2"/>
          </p:cNvCxnSpPr>
          <p:nvPr/>
        </p:nvCxnSpPr>
        <p:spPr>
          <a:xfrm xmlns:a="http://schemas.openxmlformats.org/drawingml/2006/main" flipV="1">
            <a:off x="7534275" y="3571875"/>
            <a:ext cx="2738438" cy="14525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072B7"/>
            </a:solidFill>
            <a:tailEnd type="triangle" w="sm" len="sm"/>
          </a:ln>
        </p:spPr>
      </p:cxnSp>
      <p:cxnSp>
        <p:nvCxnSpPr>
          <p:cNvPr id="22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200400" y="5024438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072B7"/>
            </a:solidFill>
            <a:tailEnd type="triangle" w="sm" len="sm"/>
          </a:ln>
        </p:spPr>
      </p:cxnSp>
      <p:cxnSp>
        <p:nvCxnSpPr>
          <p:cNvPr id="23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534275" y="2643188"/>
            <a:ext cx="1428750" cy="190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072B7"/>
            </a:solidFill>
            <a:tailEnd type="triangle" w="sm" len="sm"/>
          </a:ln>
        </p:spPr>
      </p:cxn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200400" y="2643188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072B7"/>
            </a:solidFill>
            <a:tailEnd type="triangle" w="sm" len="sm"/>
          </a:ln>
        </p:spPr>
      </p:cxnSp>
      <p:sp>
        <p:nvSpPr>
          <p:cNvPr id="18" name="title">
            <a:extLst xmlns:a="http://schemas.openxmlformats.org/drawingml/2006/main">
              <a:ext uri="{FF2B5EF4-FFF2-40B4-BE49-F238E27FC236}">
                <a16:creationId xmlns:a16="http://schemas.microsoft.com/office/drawing/2014/main" id="{7BBEA330-7C06-4EF8-BF18-2B526FE7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Thiết kế cơ sở dữ liệu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93EE3A5-561C-463A-8E53-A6242F44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Năm bảng nghiệp vụ và các quan hệ một – nhiều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FFB4146-DF96-4C9C-9E90-EDCAC95B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07 / 18</a:t>
            </a:r>
          </a:p>
        </p:txBody>
      </p:sp>
      <p:sp>
        <p:nvSpPr>
          <p:cNvPr id="5" name="diagram-node">
            <a:extLst xmlns:a="http://schemas.openxmlformats.org/drawingml/2006/main">
              <a:ext uri="{FF2B5EF4-FFF2-40B4-BE49-F238E27FC236}">
                <a16:creationId xmlns:a16="http://schemas.microsoft.com/office/drawing/2014/main" id="{24029CAB-8A1A-436E-8577-2FBF7063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571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DDF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lvl1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users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id, email, role</a:t>
            </a:r>
          </a:p>
        </p:txBody>
      </p:sp>
      <p:sp>
        <p:nvSpPr>
          <p:cNvPr id="6" name="diagram-node">
            <a:extLst xmlns:a="http://schemas.openxmlformats.org/drawingml/2006/main">
              <a:ext uri="{FF2B5EF4-FFF2-40B4-BE49-F238E27FC236}">
                <a16:creationId xmlns:a16="http://schemas.microsoft.com/office/drawing/2014/main" id="{83C93DFE-3117-4470-BA25-EFC07267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095500"/>
            <a:ext cx="28575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DDF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lvl1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orders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id, user_id, status</a:t>
            </a:r>
          </a:p>
        </p:txBody>
      </p:sp>
      <p:sp>
        <p:nvSpPr>
          <p:cNvPr id="7" name="diagram-node">
            <a:extLst xmlns:a="http://schemas.openxmlformats.org/drawingml/2006/main">
              <a:ext uri="{FF2B5EF4-FFF2-40B4-BE49-F238E27FC236}">
                <a16:creationId xmlns:a16="http://schemas.microsoft.com/office/drawing/2014/main" id="{87048DB5-1D74-4A8C-A3B4-29BE3630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095500"/>
            <a:ext cx="261937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DDF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lvl1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order_items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order_id, product_id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quantity, price</a:t>
            </a:r>
          </a:p>
        </p:txBody>
      </p:sp>
      <p:sp>
        <p:nvSpPr>
          <p:cNvPr id="8" name="diagram-node">
            <a:extLst xmlns:a="http://schemas.openxmlformats.org/drawingml/2006/main">
              <a:ext uri="{FF2B5EF4-FFF2-40B4-BE49-F238E27FC236}">
                <a16:creationId xmlns:a16="http://schemas.microsoft.com/office/drawing/2014/main" id="{F0C88BA2-6101-444C-8471-C36BE904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2571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DDF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lvl1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categories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id, name, slug</a:t>
            </a:r>
          </a:p>
        </p:txBody>
      </p:sp>
      <p:sp>
        <p:nvSpPr>
          <p:cNvPr id="9" name="diagram-node">
            <a:extLst xmlns:a="http://schemas.openxmlformats.org/drawingml/2006/main">
              <a:ext uri="{FF2B5EF4-FFF2-40B4-BE49-F238E27FC236}">
                <a16:creationId xmlns:a16="http://schemas.microsoft.com/office/drawing/2014/main" id="{28013560-1FD2-4511-AE38-3935864B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286250"/>
            <a:ext cx="2857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DDF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lvl1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products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id, category_id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price, stock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23BD400-9EB1-4DDB-AA1B-2EA586EF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28850"/>
            <a:ext cx="876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1 : N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9A742F68-A75F-4B03-987C-AB1EB55A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228850"/>
            <a:ext cx="876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1 : N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58CD403E-0F62-42EC-B5C3-00E79F2F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619625"/>
            <a:ext cx="876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1 : N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D02D37D6-9DF8-44AE-8463-643ED9FD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91000"/>
            <a:ext cx="876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1 : N</a:t>
            </a:r>
          </a:p>
        </p:txBody>
      </p:sp>
    </p:spTree>
    <p:extLst>
      <p:ext uri="{BB962C8B-B14F-4D97-AF65-F5344CB8AC3E}">
        <p14:creationId xmlns:p14="http://schemas.microsoft.com/office/powerpoint/2010/main" val="15483733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44deeeb4e4ba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72753765-5A62-41EC-88A8-4AF699BA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Ràng buộc và lịch sử mua hàng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2211A07-D367-49F6-9F46-C5B47127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08 / 18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341F66E-58E2-4AEC-9F6C-8E1292A9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Khóa ngoại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A1D1E7C-D7E4-4619-94C5-D24159AA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Chặn xóa danh mục hoặc sản phẩm đang được dùng.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C01762D-9F2F-4419-A42E-FD77793B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00250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Snapshot đơn hàng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E351C51-B9ED-4DAD-8327-5C0429D1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05075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OrderItem giữ tên và giá tại thời điểm mua.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B815FDE-BAE3-4A24-8761-15670BDE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Dòng hàng duy nhất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271DCB1-B802-4F02-94D2-F94AC931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Cặp order_id và product_id chỉ xuất hiện một lần trong một đơn.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586E5B2-6D96-4607-AF03-EBCF77B4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14800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Tiền được tính trên server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958C4D3-6D7C-4C58-BC75-8DA61A8C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19625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Giá decimal(12,2), checkout cộng bằng số nguyên theo đơn vị 1/100.</a:t>
            </a:r>
          </a:p>
        </p:txBody>
      </p:sp>
    </p:spTree>
    <p:extLst>
      <p:ext uri="{BB962C8B-B14F-4D97-AF65-F5344CB8AC3E}">
        <p14:creationId xmlns:p14="http://schemas.microsoft.com/office/powerpoint/2010/main" val="8496112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7e4539f050411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5D8E4519-F8AB-4600-964C-513820D6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Xác thực và bảo vệ truy cập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AB1705A-33DC-46D5-ACBD-5F636F0F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09 / 18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A091BD4-3EE5-47DC-B90F-69862E0C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43100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A2A9B3E-D109-495D-BD66-C28D4400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4310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Đăng ký và đăng nhập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4CF7C2F-8F7D-4CCF-A71A-C546D9B7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400300"/>
            <a:ext cx="990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Role đăng ký mặc định là Customer. Hash mật khẩu, giới hạn thử sai và tái tạo session.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1B82842-D52C-42FC-BD64-5992AB04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3C2C2B6-D162-41E8-9C29-CE532580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33375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Route và thao tác dữ liệu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6A20573-9C39-4F92-B3C5-E295E7B1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90950"/>
            <a:ext cx="990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Middleware auth/role bảo vệ Admin. CSRF kiểm tra các request ghi dữ liệu.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A15437A-A3D0-4513-9ABF-41997C3F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24400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62E479E-7937-4F29-9F7A-FD14B35A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2440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Đơn hàng thuộc đúng tài khoản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FC189BB-8A50-451B-9182-17E3FC05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90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Truy vấn đơn từ quan hệ orders của người đang đăng nhập, chặn xem đơn người khác.</a:t>
            </a:r>
          </a:p>
        </p:txBody>
      </p:sp>
    </p:spTree>
    <p:extLst>
      <p:ext uri="{BB962C8B-B14F-4D97-AF65-F5344CB8AC3E}">
        <p14:creationId xmlns:p14="http://schemas.microsoft.com/office/powerpoint/2010/main" val="20994793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9a17b4b844e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6F511A8A-3C43-4BB5-B9AA-5C6A04DB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Catalog phía khách hàng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8CB4E59-2023-4072-8BC0-4803F180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Tìm kiếm và điều hướng sản phẩm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6F3FFE5-BBA2-4EB9-80CD-D3B63C48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10 / 18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26910BD-2AC8-461F-96FF-0BFF683F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3619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8 sản phẩm mỗi trang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960E833-EEC0-4C84-963A-998A9CEE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619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Giữ bộ lọc khi chuyển trang.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610AEED-DADC-4F7D-AF7C-6525F296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3619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Bộ lọc và chi tiết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8F972BE-2D07-47E3-A974-BFC77D9D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3619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Tìm tên, danh mục, giá tăng/giảm. Chi tiết có ảnh, giá và tồn kho.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663d36744e42ef"/>
          <a:stretch xmlns:a="http://schemas.openxmlformats.org/drawingml/2006/main"/>
        </p:blipFill>
        <p:spPr>
          <a:xfrm xmlns:a="http://schemas.openxmlformats.org/drawingml/2006/main">
            <a:off x="4429125" y="2015979"/>
            <a:ext cx="7153275" cy="402619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5504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cd2b7a743a47b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008F30A6-8B80-40C5-B811-9A9E54A6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Quản trị danh mục và sản phẩm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74241CA-31A0-47AB-9CF0-03FD818D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CRUD hai bảng categories và products có quan hệ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BAC36B5-3D23-4116-AD5F-08F633DE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11 / 18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1cab777ac4c6c"/>
          <a:stretch xmlns:a="http://schemas.openxmlformats.org/drawingml/2006/main"/>
        </p:blipFill>
        <p:spPr>
          <a:xfrm xmlns:a="http://schemas.openxmlformats.org/drawingml/2006/main">
            <a:off x="609600" y="1974056"/>
            <a:ext cx="7239000" cy="4071938"/>
          </a:xfrm>
          <a:prstGeom xmlns:a="http://schemas.openxmlformats.org/drawingml/2006/main" prst="rect">
            <a:avLst/>
          </a:prstGeom>
        </p:spPr>
      </p:pic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C1FE365-CF5E-4840-9BE0-9F54FC80A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193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Validation và upload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F890815-A0C7-4E6C-8D51-5592C149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524125"/>
            <a:ext cx="3238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Tên, danh mục, giá &gt; 0, tồn kho ≥ 0. Ảnh JPEG, PNG, WebP.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1282650-5D66-4FA8-A6B0-82864DB3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386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Giữ dữ liệu hiện hữu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9E8C8AF-E6C0-44E9-8FB6-EB9D549C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543425"/>
            <a:ext cx="3238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Chặn xóa dữ liệu đang dùng. Seed giữ giá, kho và ảnh Admin đã sửa.</a:t>
            </a:r>
          </a:p>
        </p:txBody>
      </p:sp>
    </p:spTree>
    <p:extLst>
      <p:ext uri="{BB962C8B-B14F-4D97-AF65-F5344CB8AC3E}">
        <p14:creationId xmlns:p14="http://schemas.microsoft.com/office/powerpoint/2010/main" val="124939908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ec9681536948c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cxnSp>
        <p:nvCxnSpPr>
          <p:cNvPr id="1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524750" y="2952750"/>
            <a:ext cx="1181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072B7"/>
            </a:solidFill>
            <a:tailEnd type="triangle" w="sm" len="sm"/>
          </a:ln>
        </p:spPr>
      </p:cxnSp>
      <p:cxnSp>
        <p:nvCxnSpPr>
          <p:cNvPr id="1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486150" y="2952750"/>
            <a:ext cx="1181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072B7"/>
            </a:solidFill>
            <a:tailEnd type="triangle" w="sm" len="sm"/>
          </a:ln>
        </p:spPr>
      </p:cxnSp>
      <p:sp>
        <p:nvSpPr>
          <p:cNvPr id="14" name="title">
            <a:extLst xmlns:a="http://schemas.openxmlformats.org/drawingml/2006/main">
              <a:ext uri="{FF2B5EF4-FFF2-40B4-BE49-F238E27FC236}">
                <a16:creationId xmlns:a16="http://schemas.microsoft.com/office/drawing/2014/main" id="{1DD46A83-4DAD-42C9-A314-FEC7AD55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Giỏ hàng và tương tác Fetch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05B78F0-0B2D-452D-A339-29E89CE8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Cập nhật sản phẩm, số lượng, tổng tiền và badge mà không tải lại trang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97ACF27-DA13-4B4C-888B-BFF4F41F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12 / 18</a:t>
            </a:r>
          </a:p>
        </p:txBody>
      </p:sp>
      <p:sp>
        <p:nvSpPr>
          <p:cNvPr id="5" name="diagram-node">
            <a:extLst xmlns:a="http://schemas.openxmlformats.org/drawingml/2006/main">
              <a:ext uri="{FF2B5EF4-FFF2-40B4-BE49-F238E27FC236}">
                <a16:creationId xmlns:a16="http://schemas.microsoft.com/office/drawing/2014/main" id="{0CBC4255-CBE3-429C-8447-3B9ACE01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81250"/>
            <a:ext cx="2857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DDF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lvl1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Người dùng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thay đổi giỏ</a:t>
            </a:r>
          </a:p>
        </p:txBody>
      </p:sp>
      <p:sp>
        <p:nvSpPr>
          <p:cNvPr id="6" name="diagram-node">
            <a:extLst xmlns:a="http://schemas.openxmlformats.org/drawingml/2006/main">
              <a:ext uri="{FF2B5EF4-FFF2-40B4-BE49-F238E27FC236}">
                <a16:creationId xmlns:a16="http://schemas.microsoft.com/office/drawing/2014/main" id="{3FC451E2-305A-4E53-94F9-D33AA0F2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81250"/>
            <a:ext cx="2857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DDF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lvl1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Laravel kiểm tra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Session và DB</a:t>
            </a:r>
          </a:p>
        </p:txBody>
      </p:sp>
      <p:sp>
        <p:nvSpPr>
          <p:cNvPr id="7" name="diagram-node">
            <a:extLst xmlns:a="http://schemas.openxmlformats.org/drawingml/2006/main">
              <a:ext uri="{FF2B5EF4-FFF2-40B4-BE49-F238E27FC236}">
                <a16:creationId xmlns:a16="http://schemas.microsoft.com/office/drawing/2014/main" id="{13A9F941-6D1A-46C0-B422-BCB567DB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81250"/>
            <a:ext cx="2857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DDF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lvl1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JSON trả về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cập nhật giao diện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7F233C7-8437-4456-88B8-56DF7479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0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Session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A3EC5F7D-0415-497B-BD2E-C8B15B65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86325"/>
            <a:ext cx="4857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Lưu mã sản phẩm và số lượng. Logout kết thúc session giỏ.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109DFE54-03E8-49FE-9B16-1D5263F3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Phản hồi tương tác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6C1CBD6-E910-453B-B6C4-DBC0A7FB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86325"/>
            <a:ext cx="4857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Live search gợi ý sản phẩm. SweetAlert2 hiển thị kết quả thao tác.</a:t>
            </a:r>
          </a:p>
        </p:txBody>
      </p:sp>
    </p:spTree>
    <p:extLst>
      <p:ext uri="{BB962C8B-B14F-4D97-AF65-F5344CB8AC3E}">
        <p14:creationId xmlns:p14="http://schemas.microsoft.com/office/powerpoint/2010/main" val="16483730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a2a0366639406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14" name="title">
            <a:extLst xmlns:a="http://schemas.openxmlformats.org/drawingml/2006/main">
              <a:ext uri="{FF2B5EF4-FFF2-40B4-BE49-F238E27FC236}">
                <a16:creationId xmlns:a16="http://schemas.microsoft.com/office/drawing/2014/main" id="{102384F0-A165-426E-B4AF-E0D44F03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Checkout và tính nhất quán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5570B96-2AF5-4102-B4AA-221A9161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Giá, kho và đơn hàng được kiểm tra cùng một luồng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C626FCA-A674-4CCF-910C-5B472A45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13 / 18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7AE32C5-905A-4E80-9C66-D01967BE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52625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28BA13B-ED63-43A2-A73E-F8102A4A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52625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Thông tin giao hàng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0B8C0C3-F41A-45CC-83F3-1CAE73A2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409825"/>
            <a:ext cx="990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Đăng nhập, nhập địa chỉ, điện thoại và ghi chú. Server đọc lại giá và tồn kho.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677BF02-CB1F-42A0-8845-CF50DC33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3156A44-311F-4B5A-83DE-45515742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33375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Transaction tạo đơn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A84449D-8733-4D03-B9C8-F6DA6EED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90950"/>
            <a:ext cx="990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Khóa sản phẩm, tạo orders/items và trừ kho. Có lỗi thì rollback toàn bộ.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2C3023E-C1E6-40E5-A951-7AA9F641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14875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CC490E5-E961-429D-829D-D8F875FF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14875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Chống gửi lặp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232816EC-A2A9-486C-AF07-72F9BBBD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72075"/>
            <a:ext cx="990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checkout_token duy nhất trả lại đơn đã có. Thành công mới xóa giỏ.</a:t>
            </a:r>
          </a:p>
        </p:txBody>
      </p:sp>
    </p:spTree>
    <p:extLst>
      <p:ext uri="{BB962C8B-B14F-4D97-AF65-F5344CB8AC3E}">
        <p14:creationId xmlns:p14="http://schemas.microsoft.com/office/powerpoint/2010/main" val="176399731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cd1122ed0741a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98E1694D-7D96-4572-869E-11B4FAFB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Trạng thái đơn và hủy đơn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2015DB9-8DA9-4854-AE8D-6F0D03A6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Quyền hủy phụ thuộc cả tài khoản và trạng thái hiện tại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50B4BC6-9986-4209-BDF9-66C3152F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14 / 18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10972800" cy="3676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5905500"/>
                <a:gridCol w="2543175"/>
              </a:tblGrid>
              <a:tr h="73533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Trạng thái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T w="9525">
                      <a:solidFill>
                        <a:srgbClr val="C8D9E7"/>
                      </a:solidFill>
                      <a:prstDash val="solid"/>
                    </a:lnT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2072B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Thao tác hợp lệ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T w="9525">
                      <a:solidFill>
                        <a:srgbClr val="C8D9E7"/>
                      </a:solidFill>
                      <a:prstDash val="solid"/>
                    </a:lnT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2072B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Tồn kho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T w="9525">
                      <a:solidFill>
                        <a:srgbClr val="C8D9E7"/>
                      </a:solidFill>
                      <a:prstDash val="solid"/>
                    </a:lnT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2072B7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Chờ xác nhận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Admin chuyển Đang giao, chủ đơn/Admin hủy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Đã trừ lúc đặt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Đang giao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Admin hoàn thành hoặc hủy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Hủy thì hoàn kho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Hoàn thành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Xem lại, không hủy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Không hoàn kho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Đã hủy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Xem lại, gửi hủy lặp không hoàn thêm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Hoàn đúng một lần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</a:tr>
            </a:tbl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41B24F6-6B8A-411B-8012-E9D08099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9775"/>
            <a:ext cx="108013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Hủy khóa đơn và sản phẩm trong transaction. Lỗi giữa chừng rollback cả trạng thái và tồn kho.</a:t>
            </a:r>
          </a:p>
        </p:txBody>
      </p:sp>
    </p:spTree>
    <p:extLst>
      <p:ext uri="{BB962C8B-B14F-4D97-AF65-F5344CB8AC3E}">
        <p14:creationId xmlns:p14="http://schemas.microsoft.com/office/powerpoint/2010/main" val="176463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c37bcd2bcc453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283897C2-E1A5-49F9-AC18-515BFD57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Đối chiếu tiền và tồn kho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D0B974B-0FC2-4114-ADFA-2D90FB4D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Ví dụ trong phiên kiểm thử: đơn giá 95.000 đồng, tồn ban đầu 35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AE1C944-07BA-4103-B650-0FFF174A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15 / 18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695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67250"/>
                <a:gridCol w="4572000"/>
                <a:gridCol w="1733550"/>
              </a:tblGrid>
              <a:tr h="6159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Thao tác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T w="9525">
                      <a:solidFill>
                        <a:srgbClr val="C8D9E7"/>
                      </a:solidFill>
                      <a:prstDash val="solid"/>
                    </a:lnT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2072B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Trạng thái / tiền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T w="9525">
                      <a:solidFill>
                        <a:srgbClr val="C8D9E7"/>
                      </a:solidFill>
                      <a:prstDash val="solid"/>
                    </a:lnT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2072B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Tồn kho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T w="9525">
                      <a:solidFill>
                        <a:srgbClr val="C8D9E7"/>
                      </a:solidFill>
                      <a:prstDash val="solid"/>
                    </a:lnT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2072B7"/>
                    </a:solidFill>
                  </a:tcPr>
                </a:tc>
              </a:tr>
              <a:tr h="6159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Ban đầu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Chưa tạo hai đơn thử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35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59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Đặt đơn 1: 2 sản phẩm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Chờ xác nhận / 190.000 đồng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33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</a:tr>
              <a:tr h="6159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Đặt đơn 2: 1 sản phẩm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Chờ xác nhận / 95.000 đồng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59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Hoàn thành đơn 1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Đang giao, sau đó Hoàn thành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EDF4FA"/>
                    </a:solidFill>
                  </a:tcPr>
                </a:tc>
              </a:tr>
              <a:tr h="6159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Hủy đơn 2</a:t>
                      </a:r>
                    </a:p>
                  </a:txBody>
                  <a:tcPr marL="152400" marR="133350" marT="133350" marB="114300" anchor="ctr">
                    <a:lnL w="9525">
                      <a:solidFill>
                        <a:srgbClr val="C8D9E7"/>
                      </a:solidFill>
                      <a:prstDash val="solid"/>
                    </a:lnL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Đang giao, sau đó Đã hủy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247"/>
                          </a:solidFill>
                          <a:latin typeface="Arial"/>
                          <a:ea typeface="Arial"/>
                          <a:cs typeface="Arial"/>
                        </a:rPr>
                        <a:t>33</a:t>
                      </a:r>
                    </a:p>
                  </a:txBody>
                  <a:tcPr marL="152400" marR="133350" marT="133350" marB="114300" anchor="ctr">
                    <a:lnR w="9525">
                      <a:solidFill>
                        <a:srgbClr val="C8D9E7"/>
                      </a:solidFill>
                      <a:prstDash val="solid"/>
                    </a:lnR>
                    <a:lnB w="9525">
                      <a:solidFill>
                        <a:srgbClr val="C8D9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E4B8E9A-20D3-42E7-BF61-0EC7452C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388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7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Kết quả: doanh thu completed 190.000 đồng. Tồn cuối 33, đơn hủy hoàn lại 1 sản phẩm.</a:t>
            </a:r>
          </a:p>
        </p:txBody>
      </p:sp>
    </p:spTree>
    <p:extLst>
      <p:ext uri="{BB962C8B-B14F-4D97-AF65-F5344CB8AC3E}">
        <p14:creationId xmlns:p14="http://schemas.microsoft.com/office/powerpoint/2010/main" val="7330146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9ff8d47fcd473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D7CF1756-253A-4ECF-AD9C-CAF9F250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Tìm kiếm sản phẩm bằng ảnh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B0D9A3B-4677-44CB-94AB-25936D5D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Chọn ảnh hoặc dùng camera khi trình duyệt cho phép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4AB50ED-F531-405C-B7C8-43D76167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16 / 18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164BFC7-AE41-4E75-ABF9-38C68E70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366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Kiểm tra đầu vào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D2EC6DF-A898-4FD8-9959-09D8E8BF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3667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JPG, PNG, WebP. Tối đa 2 MB và 6000 × 6000 px.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8C8846DA-4159-4E22-A1B4-68AE481E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366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Kết quả có thể mua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181E59C-3EC5-4A3B-8655-D4489F2F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3667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Hiện ảnh, tên, giá và nút thêm giỏ. Người mua kiểm tra lại mô tả sản phẩm.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0d4aefe7434708"/>
          <a:stretch xmlns:a="http://schemas.openxmlformats.org/drawingml/2006/main"/>
        </p:blipFill>
        <p:spPr>
          <a:xfrm xmlns:a="http://schemas.openxmlformats.org/drawingml/2006/main">
            <a:off x="4476750" y="2137573"/>
            <a:ext cx="7105650" cy="3468679"/>
          </a:xfrm>
          <a:prstGeom xmlns:a="http://schemas.openxmlformats.org/drawingml/2006/main" prst="rect">
            <a:avLst/>
          </a:prstGeom>
        </p:spPr>
      </p:pic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8545F78-0964-4925-935C-A7CFA783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810250"/>
            <a:ext cx="7000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Ví dụ hạt điều trong báo cáo, chưa phải đánh giá độ chính xác chung.</a:t>
            </a:r>
          </a:p>
        </p:txBody>
      </p:sp>
    </p:spTree>
    <p:extLst>
      <p:ext uri="{BB962C8B-B14F-4D97-AF65-F5344CB8AC3E}">
        <p14:creationId xmlns:p14="http://schemas.microsoft.com/office/powerpoint/2010/main" val="11218999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ce14be2426415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5B7B998C-AC60-4CAD-84A8-18C31FCC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Giới hạn và hướng phát triển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D2DFF8B-8F5D-4F7E-B378-2B580B9D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9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Trạng thái nghiệm thu ghi theo báo cáo ngày 18/10/2026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F5D4389-EE00-44F7-9755-145958BC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17 / 18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26CC0AD-BA84-4066-B258-DEFA0A93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095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Kiểm chứng môi trường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36BFBC6-6CE5-494A-87B9-04A717B0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5095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Chưa chạy lại toàn bộ 88 test trên MySQL. Máy vật lý thứ hai còn chờ xác nhận.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36EDE86-6EAA-4C27-89C8-696ACDB1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00250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Chất lượng tìm kiếm ảnh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A82F039-DB82-4091-8657-6076CBB0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05075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Bổ sung sản phẩm cùng loại, nguồn ảnh rõ ràng và tập truy vấn độc lập.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4EBEC4D-8977-4947-B69F-B31028B8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5095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Đánh giá tiếp theo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A7DC74E-31F9-4D67-B09F-39B122D4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095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Đo Recall@k, thử camera thực tế và kiểm tra thêm các tình huống ngoài catalog.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BBE86E0-6650-4C74-ABA6-81C81885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005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Trải nghiệm người dùng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E2DE578-C8C0-4D7E-BE22-6F406A8C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Tiếp tục nghiệm thu responsive và luồng mua, hủy đơn trên thiết bị thật.</a:t>
            </a:r>
          </a:p>
        </p:txBody>
      </p:sp>
    </p:spTree>
    <p:extLst>
      <p:ext uri="{BB962C8B-B14F-4D97-AF65-F5344CB8AC3E}">
        <p14:creationId xmlns:p14="http://schemas.microsoft.com/office/powerpoint/2010/main" val="43462319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b7ae4635b5409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C12E900-7F49-47FA-84FF-31340B1D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54D7B"/>
                </a:solidFill>
                <a:latin typeface="Arial"/>
                <a:ea typeface="Arial"/>
                <a:cs typeface="Arial"/>
              </a:rPr>
              <a:t>Kết luận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03C705C-D95C-4FBB-A1BD-8E1D3257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80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18 / 18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F177E13-2702-4B6A-B2BD-A2E2A2E3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81175"/>
            <a:ext cx="10858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75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75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75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75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75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75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75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75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75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75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SmartCart đã kết nối luồng mua hàng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B94C24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2072B7"/>
                </a:solidFill>
                <a:latin typeface="Arial"/>
                <a:ea typeface="Arial"/>
                <a:cs typeface="Arial"/>
              </a:rPr>
              <a:t>với dữ liệu đơn và tồn kho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6250237-EFB8-49FF-841B-731AAD93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106203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4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Bán hàng COD và quản trị theo phạm vi báo cáo.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43247"/>
                </a:solidFill>
                <a:latin typeface="Arial"/>
                <a:ea typeface="Arial"/>
                <a:cs typeface="Arial"/>
              </a:rPr>
              <a:t>Tìm bằng ảnh dùng mô hình có sẵn, cần đánh giá thêm chất lượng.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B10EA52-A034-4F97-8131-A133FF68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673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2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33282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43247"/>
                </a:solidFill>
                <a:latin typeface="Arial"/>
                <a:ea typeface="Arial"/>
                <a:cs typeface="Arial"/>
              </a:rPr>
              <a:t>Cảm ơn thầy và các bạn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6285B00-FAC0-4FD8-A81D-2D462178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73405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0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79675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27287"/>
                </a:solidFill>
                <a:latin typeface="Arial"/>
                <a:ea typeface="Arial"/>
                <a:cs typeface="Arial"/>
              </a:rPr>
              <a:t>Nhóm sẵn sàng trả lời câu hỏi</a:t>
            </a:r>
          </a:p>
        </p:txBody>
      </p:sp>
    </p:spTree>
    <p:extLst>
      <p:ext uri="{BB962C8B-B14F-4D97-AF65-F5344CB8AC3E}">
        <p14:creationId xmlns:p14="http://schemas.microsoft.com/office/powerpoint/2010/main" val="2443583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2026-10-19T08:16:35.8670000Z</dcterms:created>
  <dcterms:modified xsi:type="dcterms:W3CDTF">2026-10-19T08:16:35.8670000Z</dcterms:modified>
</coreProperties>
</file>