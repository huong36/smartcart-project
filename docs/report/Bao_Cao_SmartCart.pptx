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20116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914400"/>
            <a:ext cx="4114800" cy="365760"/>
          </a:xfrm>
          <a:prstGeom prst="roundRect">
            <a:avLst/>
          </a:prstGeom>
          <a:solidFill>
            <a:srgbClr val="1E293B"/>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A580C"/>
                </a:solidFill>
              </a:defRPr>
            </a:pPr>
            <a:r>
              <a:t>BÀI TẬP LỚN MÔN MÃ NGUỒN MỞ</a:t>
            </a:r>
          </a:p>
        </p:txBody>
      </p:sp>
      <p:sp>
        <p:nvSpPr>
          <p:cNvPr id="5" name="TextBox 4"/>
          <p:cNvSpPr txBox="1"/>
          <p:nvPr/>
        </p:nvSpPr>
        <p:spPr>
          <a:xfrm>
            <a:off x="1097280" y="1371600"/>
            <a:ext cx="10058400" cy="1463040"/>
          </a:xfrm>
          <a:prstGeom prst="rect">
            <a:avLst/>
          </a:prstGeom>
          <a:noFill/>
        </p:spPr>
        <p:txBody>
          <a:bodyPr wrap="square">
            <a:spAutoFit/>
          </a:bodyPr>
          <a:lstStyle/>
          <a:p>
            <a:pPr>
              <a:defRPr sz="4400" b="1">
                <a:solidFill>
                  <a:srgbClr val="FFFFFF"/>
                </a:solidFill>
              </a:defRPr>
            </a:pPr>
            <a:r>
              <a:t>SMARTCART</a:t>
            </a:r>
          </a:p>
          <a:p>
            <a:pPr>
              <a:defRPr sz="1800">
                <a:solidFill>
                  <a:srgbClr val="CBD5E1"/>
                </a:solidFill>
              </a:defRPr>
            </a:pPr>
            <a:r>
              <a:t>Website Bán Hàng &amp; Giỏ Hàng Tương Tác | Tích Hợp Tìm Kiếm Bằng Ảnh AI</a:t>
            </a:r>
          </a:p>
        </p:txBody>
      </p:sp>
      <p:sp>
        <p:nvSpPr>
          <p:cNvPr id="6" name="TextBox 5"/>
          <p:cNvSpPr txBox="1"/>
          <p:nvPr/>
        </p:nvSpPr>
        <p:spPr>
          <a:xfrm>
            <a:off x="1097280" y="2926080"/>
            <a:ext cx="10058400" cy="457200"/>
          </a:xfrm>
          <a:prstGeom prst="rect">
            <a:avLst/>
          </a:prstGeom>
          <a:noFill/>
        </p:spPr>
        <p:txBody>
          <a:bodyPr wrap="none">
            <a:spAutoFit/>
          </a:bodyPr>
          <a:lstStyle/>
          <a:p>
            <a:pPr>
              <a:defRPr sz="1200" b="1">
                <a:solidFill>
                  <a:srgbClr val="F59E0B"/>
                </a:solidFill>
              </a:defRPr>
            </a:pPr>
            <a:r>
              <a:t>Stack: Laravel 13.35  •  MySQL 8.4  •  Bootstrap 5.3  •  Fetch API  •  OpenCLIP ViT-B/32  •  Open-Meteo API</a:t>
            </a:r>
          </a:p>
        </p:txBody>
      </p:sp>
      <p:sp>
        <p:nvSpPr>
          <p:cNvPr id="7" name="Rounded Rectangle 6"/>
          <p:cNvSpPr/>
          <p:nvPr/>
        </p:nvSpPr>
        <p:spPr>
          <a:xfrm>
            <a:off x="1097280" y="3566160"/>
            <a:ext cx="9966960" cy="2651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1371600" y="3749039"/>
          <a:ext cx="9418320" cy="2286000"/>
        </p:xfrm>
        <a:graphic>
          <a:graphicData uri="http://schemas.openxmlformats.org/drawingml/2006/table">
            <a:tbl>
              <a:tblPr firstRow="1" bandRow="1">
                <a:tableStyleId>{5C22544A-7EE6-4342-B048-85BDC9FD1C3A}</a:tableStyleId>
              </a:tblPr>
              <a:tblGrid>
                <a:gridCol w="2743200"/>
                <a:gridCol w="1645920"/>
                <a:gridCol w="5029200"/>
              </a:tblGrid>
              <a:tr h="457200">
                <a:tc>
                  <a:txBody>
                    <a:bodyPr/>
                    <a:lstStyle/>
                    <a:p>
                      <a:pPr>
                        <a:defRPr sz="1200" b="1">
                          <a:solidFill>
                            <a:srgbClr val="FFFFFF"/>
                          </a:solidFill>
                        </a:defRPr>
                      </a:pPr>
                      <a:r>
                        <a:t>Thành viên</a:t>
                      </a:r>
                    </a:p>
                  </a:txBody>
                  <a:tcPr>
                    <a:solidFill>
                      <a:srgbClr val="334155"/>
                    </a:solidFill>
                  </a:tcPr>
                </a:tc>
                <a:tc>
                  <a:txBody>
                    <a:bodyPr/>
                    <a:lstStyle/>
                    <a:p>
                      <a:pPr>
                        <a:defRPr sz="1200" b="1">
                          <a:solidFill>
                            <a:srgbClr val="FFFFFF"/>
                          </a:solidFill>
                        </a:defRPr>
                      </a:pPr>
                      <a:r>
                        <a:t>MSSV</a:t>
                      </a:r>
                    </a:p>
                  </a:txBody>
                  <a:tcPr>
                    <a:solidFill>
                      <a:srgbClr val="334155"/>
                    </a:solidFill>
                  </a:tcPr>
                </a:tc>
                <a:tc>
                  <a:txBody>
                    <a:bodyPr/>
                    <a:lstStyle/>
                    <a:p>
                      <a:pPr>
                        <a:defRPr sz="1200" b="1">
                          <a:solidFill>
                            <a:srgbClr val="FFFFFF"/>
                          </a:solidFill>
                        </a:defRPr>
                      </a:pPr>
                      <a:r>
                        <a:t>Vai trò &amp; Module chính</a:t>
                      </a:r>
                    </a:p>
                  </a:txBody>
                  <a:tcPr>
                    <a:solidFill>
                      <a:srgbClr val="334155"/>
                    </a:solidFill>
                  </a:tcPr>
                </a:tc>
              </a:tr>
              <a:tr h="457200">
                <a:tc>
                  <a:txBody>
                    <a:bodyPr/>
                    <a:lstStyle/>
                    <a:p>
                      <a:pPr>
                        <a:defRPr sz="1100" b="1">
                          <a:solidFill>
                            <a:srgbClr val="F59E0B"/>
                          </a:solidFill>
                        </a:defRPr>
                      </a:pPr>
                      <a:r>
                        <a:t>1. Trần Xuân Hướng (Trưởng nhóm)</a:t>
                      </a:r>
                    </a:p>
                  </a:txBody>
                  <a:tcPr>
                    <a:solidFill>
                      <a:srgbClr val="1E293B"/>
                    </a:solidFill>
                  </a:tcPr>
                </a:tc>
                <a:tc>
                  <a:txBody>
                    <a:bodyPr/>
                    <a:lstStyle/>
                    <a:p>
                      <a:pPr>
                        <a:defRPr sz="1100">
                          <a:solidFill>
                            <a:srgbClr val="FFFFFF"/>
                          </a:solidFill>
                        </a:defRPr>
                      </a:pPr>
                      <a:r>
                        <a:t>2001230339</a:t>
                      </a:r>
                    </a:p>
                  </a:txBody>
                  <a:tcPr>
                    <a:solidFill>
                      <a:srgbClr val="1E293B"/>
                    </a:solidFill>
                  </a:tcPr>
                </a:tc>
                <a:tc>
                  <a:txBody>
                    <a:bodyPr/>
                    <a:lstStyle/>
                    <a:p>
                      <a:pPr>
                        <a:defRPr sz="1100">
                          <a:solidFill>
                            <a:srgbClr val="E2E8F0"/>
                          </a:solidFill>
                        </a:defRPr>
                      </a:pPr>
                      <a:r>
                        <a:t>Nền tảng, CSDL, Auth/Role, Tích hợp, UI, Tìm ảnh AI, Kiểm thử, Báo cáo</a:t>
                      </a:r>
                    </a:p>
                  </a:txBody>
                  <a:tcPr>
                    <a:solidFill>
                      <a:srgbClr val="1E293B"/>
                    </a:solidFill>
                  </a:tcPr>
                </a:tc>
              </a:tr>
              <a:tr h="457200">
                <a:tc>
                  <a:txBody>
                    <a:bodyPr/>
                    <a:lstStyle/>
                    <a:p>
                      <a:pPr>
                        <a:defRPr sz="1100">
                          <a:solidFill>
                            <a:srgbClr val="FFFFFF"/>
                          </a:solidFill>
                        </a:defRPr>
                      </a:pPr>
                      <a:r>
                        <a:t>2. Lê Duy</a:t>
                      </a:r>
                    </a:p>
                  </a:txBody>
                  <a:tcPr>
                    <a:solidFill>
                      <a:srgbClr val="18212F"/>
                    </a:solidFill>
                  </a:tcPr>
                </a:tc>
                <a:tc>
                  <a:txBody>
                    <a:bodyPr/>
                    <a:lstStyle/>
                    <a:p>
                      <a:pPr>
                        <a:defRPr sz="1100">
                          <a:solidFill>
                            <a:srgbClr val="FFFFFF"/>
                          </a:solidFill>
                        </a:defRPr>
                      </a:pPr>
                      <a:r>
                        <a:t>2001230117</a:t>
                      </a:r>
                    </a:p>
                  </a:txBody>
                  <a:tcPr>
                    <a:solidFill>
                      <a:srgbClr val="18212F"/>
                    </a:solidFill>
                  </a:tcPr>
                </a:tc>
                <a:tc>
                  <a:txBody>
                    <a:bodyPr/>
                    <a:lstStyle/>
                    <a:p>
                      <a:pPr>
                        <a:defRPr sz="1100">
                          <a:solidFill>
                            <a:srgbClr val="E2E8F0"/>
                          </a:solidFill>
                        </a:defRPr>
                      </a:pPr>
                      <a:r>
                        <a:t>CRUD Danh mục &amp; Sản phẩm Admin, Form Request, Upload ảnh, Seeding</a:t>
                      </a:r>
                    </a:p>
                  </a:txBody>
                  <a:tcPr>
                    <a:solidFill>
                      <a:srgbClr val="18212F"/>
                    </a:solidFill>
                  </a:tcPr>
                </a:tc>
              </a:tr>
              <a:tr h="457200">
                <a:tc>
                  <a:txBody>
                    <a:bodyPr/>
                    <a:lstStyle/>
                    <a:p>
                      <a:pPr>
                        <a:defRPr sz="1100">
                          <a:solidFill>
                            <a:srgbClr val="FFFFFF"/>
                          </a:solidFill>
                        </a:defRPr>
                      </a:pPr>
                      <a:r>
                        <a:t>3. Nguyễn Xuân Phương</a:t>
                      </a:r>
                    </a:p>
                  </a:txBody>
                  <a:tcPr>
                    <a:solidFill>
                      <a:srgbClr val="1E293B"/>
                    </a:solidFill>
                  </a:tcPr>
                </a:tc>
                <a:tc>
                  <a:txBody>
                    <a:bodyPr/>
                    <a:lstStyle/>
                    <a:p>
                      <a:pPr>
                        <a:defRPr sz="1100">
                          <a:solidFill>
                            <a:srgbClr val="FFFFFF"/>
                          </a:solidFill>
                        </a:defRPr>
                      </a:pPr>
                      <a:r>
                        <a:t>2001230703</a:t>
                      </a:r>
                    </a:p>
                  </a:txBody>
                  <a:tcPr>
                    <a:solidFill>
                      <a:srgbClr val="1E293B"/>
                    </a:solidFill>
                  </a:tcPr>
                </a:tc>
                <a:tc>
                  <a:txBody>
                    <a:bodyPr/>
                    <a:lstStyle/>
                    <a:p>
                      <a:pPr>
                        <a:defRPr sz="1100">
                          <a:solidFill>
                            <a:srgbClr val="E2E8F0"/>
                          </a:solidFill>
                        </a:defRPr>
                      </a:pPr>
                      <a:r>
                        <a:t>Catalog, Tìm kiếm/Lọc/Phân trang, Checkout COD, Quản lý đơn hàng</a:t>
                      </a:r>
                    </a:p>
                  </a:txBody>
                  <a:tcPr>
                    <a:solidFill>
                      <a:srgbClr val="1E293B"/>
                    </a:solidFill>
                  </a:tcPr>
                </a:tc>
              </a:tr>
              <a:tr h="457200">
                <a:tc>
                  <a:txBody>
                    <a:bodyPr/>
                    <a:lstStyle/>
                    <a:p>
                      <a:pPr>
                        <a:defRPr sz="1100">
                          <a:solidFill>
                            <a:srgbClr val="FFFFFF"/>
                          </a:solidFill>
                        </a:defRPr>
                      </a:pPr>
                      <a:r>
                        <a:t>4. Nông Văn Minh</a:t>
                      </a:r>
                    </a:p>
                  </a:txBody>
                  <a:tcPr>
                    <a:solidFill>
                      <a:srgbClr val="18212F"/>
                    </a:solidFill>
                  </a:tcPr>
                </a:tc>
                <a:tc>
                  <a:txBody>
                    <a:bodyPr/>
                    <a:lstStyle/>
                    <a:p>
                      <a:pPr>
                        <a:defRPr sz="1100">
                          <a:solidFill>
                            <a:srgbClr val="FFFFFF"/>
                          </a:solidFill>
                        </a:defRPr>
                      </a:pPr>
                      <a:r>
                        <a:t>2001230515</a:t>
                      </a:r>
                    </a:p>
                  </a:txBody>
                  <a:tcPr>
                    <a:solidFill>
                      <a:srgbClr val="18212F"/>
                    </a:solidFill>
                  </a:tcPr>
                </a:tc>
                <a:tc>
                  <a:txBody>
                    <a:bodyPr/>
                    <a:lstStyle/>
                    <a:p>
                      <a:pPr>
                        <a:defRPr sz="1100">
                          <a:solidFill>
                            <a:srgbClr val="E2E8F0"/>
                          </a:solidFill>
                        </a:defRPr>
                      </a:pPr>
                      <a:r>
                        <a:t>Giỏ hàng Session + Fetch API, Live Search, SweetAlert2, Weather Widget API</a:t>
                      </a:r>
                    </a:p>
                  </a:txBody>
                  <a:tcPr>
                    <a:solidFill>
                      <a:srgbClr val="18212F"/>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1. Đối chiếu quy định môn học &amp; Các tiêu chí điểm cộng</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846320" cy="365760"/>
          </a:xfrm>
          <a:prstGeom prst="rect">
            <a:avLst/>
          </a:prstGeom>
          <a:noFill/>
        </p:spPr>
        <p:txBody>
          <a:bodyPr wrap="none">
            <a:spAutoFit/>
          </a:bodyPr>
          <a:lstStyle/>
          <a:p>
            <a:pPr>
              <a:defRPr sz="1300" b="1">
                <a:solidFill>
                  <a:srgbClr val="1E3A8A"/>
                </a:solidFill>
              </a:defRPr>
            </a:pPr>
            <a:r>
              <a:t>YÊU CẦU BẮT BUỘC THEO ĐỀ BÀI (ĐẠT 100%)</a:t>
            </a:r>
          </a:p>
        </p:txBody>
      </p:sp>
      <p:sp>
        <p:nvSpPr>
          <p:cNvPr id="8" name="TextBox 7"/>
          <p:cNvSpPr txBox="1"/>
          <p:nvPr/>
        </p:nvSpPr>
        <p:spPr>
          <a:xfrm>
            <a:off x="914400" y="2103120"/>
            <a:ext cx="4846320" cy="502920"/>
          </a:xfrm>
          <a:prstGeom prst="rect">
            <a:avLst/>
          </a:prstGeom>
          <a:noFill/>
        </p:spPr>
        <p:txBody>
          <a:bodyPr wrap="square" lIns="0" tIns="0" rIns="0" bIns="0">
            <a:spAutoFit/>
          </a:bodyPr>
          <a:lstStyle/>
          <a:p>
            <a:pPr>
              <a:defRPr b="1" sz="1100">
                <a:solidFill>
                  <a:srgbClr val="166534"/>
                </a:solidFill>
              </a:defRPr>
            </a:pPr>
            <a:r>
              <a:t>✔  Framework &amp; Database: </a:t>
            </a:r>
            <a:r>
              <a:rPr b="0">
                <a:solidFill>
                  <a:srgbClr val="0F172A"/>
                </a:solidFill>
              </a:rPr>
              <a:t>Laravel 13.35 + MySQL 8.4 (Eloquent, Migration, Seeder đầy đủ).</a:t>
            </a:r>
          </a:p>
        </p:txBody>
      </p:sp>
      <p:sp>
        <p:nvSpPr>
          <p:cNvPr id="9" name="TextBox 8"/>
          <p:cNvSpPr txBox="1"/>
          <p:nvPr/>
        </p:nvSpPr>
        <p:spPr>
          <a:xfrm>
            <a:off x="914400" y="2670048"/>
            <a:ext cx="4846320" cy="502920"/>
          </a:xfrm>
          <a:prstGeom prst="rect">
            <a:avLst/>
          </a:prstGeom>
          <a:noFill/>
        </p:spPr>
        <p:txBody>
          <a:bodyPr wrap="square" lIns="0" tIns="0" rIns="0" bIns="0">
            <a:spAutoFit/>
          </a:bodyPr>
          <a:lstStyle/>
          <a:p>
            <a:pPr>
              <a:defRPr b="1" sz="1100">
                <a:solidFill>
                  <a:srgbClr val="166534"/>
                </a:solidFill>
              </a:defRPr>
            </a:pPr>
            <a:r>
              <a:t>✔  Giao diện UI/UX: </a:t>
            </a:r>
            <a:r>
              <a:rPr b="0">
                <a:solidFill>
                  <a:srgbClr val="0F172A"/>
                </a:solidFill>
              </a:rPr>
              <a:t>Blade Template + Bootstrap 5.3.3 lưu cục bộ, tone cam nhạt.</a:t>
            </a:r>
          </a:p>
        </p:txBody>
      </p:sp>
      <p:sp>
        <p:nvSpPr>
          <p:cNvPr id="10" name="TextBox 9"/>
          <p:cNvSpPr txBox="1"/>
          <p:nvPr/>
        </p:nvSpPr>
        <p:spPr>
          <a:xfrm>
            <a:off x="914400" y="3236976"/>
            <a:ext cx="4846320" cy="502920"/>
          </a:xfrm>
          <a:prstGeom prst="rect">
            <a:avLst/>
          </a:prstGeom>
          <a:noFill/>
        </p:spPr>
        <p:txBody>
          <a:bodyPr wrap="square" lIns="0" tIns="0" rIns="0" bIns="0">
            <a:spAutoFit/>
          </a:bodyPr>
          <a:lstStyle/>
          <a:p>
            <a:pPr>
              <a:defRPr b="1" sz="1100">
                <a:solidFill>
                  <a:srgbClr val="166534"/>
                </a:solidFill>
              </a:defRPr>
            </a:pPr>
            <a:r>
              <a:t>✔  Phân quyền 2 Role: </a:t>
            </a:r>
            <a:r>
              <a:rPr b="0">
                <a:solidFill>
                  <a:srgbClr val="0F172A"/>
                </a:solidFill>
              </a:rPr>
              <a:t>Admin (quản trị) &amp; Customer (khách mua hàng), middleware bảo vệ.</a:t>
            </a:r>
          </a:p>
        </p:txBody>
      </p:sp>
      <p:sp>
        <p:nvSpPr>
          <p:cNvPr id="11" name="TextBox 10"/>
          <p:cNvSpPr txBox="1"/>
          <p:nvPr/>
        </p:nvSpPr>
        <p:spPr>
          <a:xfrm>
            <a:off x="914400" y="3803904"/>
            <a:ext cx="4846320" cy="502920"/>
          </a:xfrm>
          <a:prstGeom prst="rect">
            <a:avLst/>
          </a:prstGeom>
          <a:noFill/>
        </p:spPr>
        <p:txBody>
          <a:bodyPr wrap="square" lIns="0" tIns="0" rIns="0" bIns="0">
            <a:spAutoFit/>
          </a:bodyPr>
          <a:lstStyle/>
          <a:p>
            <a:pPr>
              <a:defRPr b="1" sz="1100">
                <a:solidFill>
                  <a:srgbClr val="166534"/>
                </a:solidFill>
              </a:defRPr>
            </a:pPr>
            <a:r>
              <a:t>✔  CRUD có quan hệ: </a:t>
            </a:r>
            <a:r>
              <a:rPr b="0">
                <a:solidFill>
                  <a:srgbClr val="0F172A"/>
                </a:solidFill>
              </a:rPr>
              <a:t>Categories liên kết Products (1 - n), Orders liên kết OrderItems.</a:t>
            </a:r>
          </a:p>
        </p:txBody>
      </p:sp>
      <p:sp>
        <p:nvSpPr>
          <p:cNvPr id="12" name="TextBox 11"/>
          <p:cNvSpPr txBox="1"/>
          <p:nvPr/>
        </p:nvSpPr>
        <p:spPr>
          <a:xfrm>
            <a:off x="914400" y="4370832"/>
            <a:ext cx="4846320" cy="502920"/>
          </a:xfrm>
          <a:prstGeom prst="rect">
            <a:avLst/>
          </a:prstGeom>
          <a:noFill/>
        </p:spPr>
        <p:txBody>
          <a:bodyPr wrap="square" lIns="0" tIns="0" rIns="0" bIns="0">
            <a:spAutoFit/>
          </a:bodyPr>
          <a:lstStyle/>
          <a:p>
            <a:pPr>
              <a:defRPr b="1" sz="1100">
                <a:solidFill>
                  <a:srgbClr val="166534"/>
                </a:solidFill>
              </a:defRPr>
            </a:pPr>
            <a:r>
              <a:t>✔  Xác thực người dùng: </a:t>
            </a:r>
            <a:r>
              <a:rPr b="0">
                <a:solidFill>
                  <a:srgbClr val="0F172A"/>
                </a:solidFill>
              </a:rPr>
              <a:t>Đăng ký, Đăng nhập, Đăng xuất, Rate Limiting (chặn brute-force).</a:t>
            </a:r>
          </a:p>
        </p:txBody>
      </p:sp>
      <p:sp>
        <p:nvSpPr>
          <p:cNvPr id="13" name="TextBox 12"/>
          <p:cNvSpPr txBox="1"/>
          <p:nvPr/>
        </p:nvSpPr>
        <p:spPr>
          <a:xfrm>
            <a:off x="914400" y="4937760"/>
            <a:ext cx="4846320" cy="502920"/>
          </a:xfrm>
          <a:prstGeom prst="rect">
            <a:avLst/>
          </a:prstGeom>
          <a:noFill/>
        </p:spPr>
        <p:txBody>
          <a:bodyPr wrap="square" lIns="0" tIns="0" rIns="0" bIns="0">
            <a:spAutoFit/>
          </a:bodyPr>
          <a:lstStyle/>
          <a:p>
            <a:pPr>
              <a:defRPr b="1" sz="1100">
                <a:solidFill>
                  <a:srgbClr val="166534"/>
                </a:solidFill>
              </a:defRPr>
            </a:pPr>
            <a:r>
              <a:t>✔  Tìm kiếm &amp; Phân trang: </a:t>
            </a:r>
            <a:r>
              <a:rPr b="0">
                <a:solidFill>
                  <a:srgbClr val="0F172A"/>
                </a:solidFill>
              </a:rPr>
              <a:t>Tìm theo tên, lọc danh mục, sắp xếp giá, 8 sp/trang giữ query.</a:t>
            </a:r>
          </a:p>
        </p:txBody>
      </p:sp>
      <p:sp>
        <p:nvSpPr>
          <p:cNvPr id="14" name="TextBox 13"/>
          <p:cNvSpPr txBox="1"/>
          <p:nvPr/>
        </p:nvSpPr>
        <p:spPr>
          <a:xfrm>
            <a:off x="914400" y="5504688"/>
            <a:ext cx="4846320" cy="502920"/>
          </a:xfrm>
          <a:prstGeom prst="rect">
            <a:avLst/>
          </a:prstGeom>
          <a:noFill/>
        </p:spPr>
        <p:txBody>
          <a:bodyPr wrap="square" lIns="0" tIns="0" rIns="0" bIns="0">
            <a:spAutoFit/>
          </a:bodyPr>
          <a:lstStyle/>
          <a:p>
            <a:pPr>
              <a:defRPr b="1" sz="1100">
                <a:solidFill>
                  <a:srgbClr val="166534"/>
                </a:solidFill>
              </a:defRPr>
            </a:pPr>
            <a:r>
              <a:t>✔  Validation biểu mẫu: </a:t>
            </a:r>
            <a:r>
              <a:rPr b="0">
                <a:solidFill>
                  <a:srgbClr val="0F172A"/>
                </a:solidFill>
              </a:rPr>
              <a:t>Form Request chặt chẽ cho Auth, Checkout, Category, Product.</a:t>
            </a:r>
          </a:p>
        </p:txBody>
      </p:sp>
      <p:sp>
        <p:nvSpPr>
          <p:cNvPr id="15" name="Rounded Rectangle 14"/>
          <p:cNvSpPr/>
          <p:nvPr/>
        </p:nvSpPr>
        <p:spPr>
          <a:xfrm>
            <a:off x="6217920" y="1463040"/>
            <a:ext cx="5212080" cy="493776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645920"/>
            <a:ext cx="4846320" cy="365760"/>
          </a:xfrm>
          <a:prstGeom prst="rect">
            <a:avLst/>
          </a:prstGeom>
          <a:noFill/>
        </p:spPr>
        <p:txBody>
          <a:bodyPr wrap="none">
            <a:spAutoFit/>
          </a:bodyPr>
          <a:lstStyle/>
          <a:p>
            <a:pPr>
              <a:defRPr sz="1300" b="1">
                <a:solidFill>
                  <a:srgbClr val="EA580C"/>
                </a:solidFill>
              </a:defRPr>
            </a:pPr>
            <a:r>
              <a:t>TIÊU CHÍ MỞ RỘNG (TÍNH ĐIỂM CỘNG ĐẦY ĐỦ)</a:t>
            </a:r>
          </a:p>
        </p:txBody>
      </p:sp>
      <p:sp>
        <p:nvSpPr>
          <p:cNvPr id="17" name="TextBox 16"/>
          <p:cNvSpPr txBox="1"/>
          <p:nvPr/>
        </p:nvSpPr>
        <p:spPr>
          <a:xfrm>
            <a:off x="6400800" y="2103120"/>
            <a:ext cx="4846320" cy="594360"/>
          </a:xfrm>
          <a:prstGeom prst="rect">
            <a:avLst/>
          </a:prstGeom>
          <a:noFill/>
        </p:spPr>
        <p:txBody>
          <a:bodyPr wrap="square" lIns="0" tIns="0" rIns="0" bIns="0">
            <a:spAutoFit/>
          </a:bodyPr>
          <a:lstStyle/>
          <a:p>
            <a:pPr>
              <a:defRPr b="1" sz="1100">
                <a:solidFill>
                  <a:srgbClr val="1E3A8A"/>
                </a:solidFill>
              </a:defRPr>
            </a:pPr>
            <a:r>
              <a:t>✔  Upload ảnh thực tế: </a:t>
            </a:r>
            <a:r>
              <a:rPr b="0">
                <a:solidFill>
                  <a:srgbClr val="0F172A"/>
                </a:solidFill>
              </a:rPr>
              <a:t>Upload ảnh sản phẩm thật, kiểm tra định dạng/dung lượng, lưu public storage.</a:t>
            </a:r>
          </a:p>
        </p:txBody>
      </p:sp>
      <p:sp>
        <p:nvSpPr>
          <p:cNvPr id="18" name="TextBox 17"/>
          <p:cNvSpPr txBox="1"/>
          <p:nvPr/>
        </p:nvSpPr>
        <p:spPr>
          <a:xfrm>
            <a:off x="6400800" y="2761487"/>
            <a:ext cx="4846320" cy="594360"/>
          </a:xfrm>
          <a:prstGeom prst="rect">
            <a:avLst/>
          </a:prstGeom>
          <a:noFill/>
        </p:spPr>
        <p:txBody>
          <a:bodyPr wrap="square" lIns="0" tIns="0" rIns="0" bIns="0">
            <a:spAutoFit/>
          </a:bodyPr>
          <a:lstStyle/>
          <a:p>
            <a:pPr>
              <a:defRPr b="1" sz="1100">
                <a:solidFill>
                  <a:srgbClr val="1E3A8A"/>
                </a:solidFill>
              </a:defRPr>
            </a:pPr>
            <a:r>
              <a:t>✔  Tương tác AJAX / Fetch API: </a:t>
            </a:r>
            <a:r>
              <a:rPr b="0">
                <a:solidFill>
                  <a:srgbClr val="0F172A"/>
                </a:solidFill>
              </a:rPr>
              <a:t>Giỏ hàng Session cập nhật số lượng, xóa sản phẩm không reload trang.</a:t>
            </a:r>
          </a:p>
        </p:txBody>
      </p:sp>
      <p:sp>
        <p:nvSpPr>
          <p:cNvPr id="19" name="TextBox 18"/>
          <p:cNvSpPr txBox="1"/>
          <p:nvPr/>
        </p:nvSpPr>
        <p:spPr>
          <a:xfrm>
            <a:off x="6400800" y="3419855"/>
            <a:ext cx="4846320" cy="594360"/>
          </a:xfrm>
          <a:prstGeom prst="rect">
            <a:avLst/>
          </a:prstGeom>
          <a:noFill/>
        </p:spPr>
        <p:txBody>
          <a:bodyPr wrap="square" lIns="0" tIns="0" rIns="0" bIns="0">
            <a:spAutoFit/>
          </a:bodyPr>
          <a:lstStyle/>
          <a:p>
            <a:pPr>
              <a:defRPr b="1" sz="1100">
                <a:solidFill>
                  <a:srgbClr val="1E3A8A"/>
                </a:solidFill>
              </a:defRPr>
            </a:pPr>
            <a:r>
              <a:t>✔  Live Search gợi ý tức thì: </a:t>
            </a:r>
            <a:r>
              <a:rPr b="0">
                <a:solidFill>
                  <a:srgbClr val="0F172A"/>
                </a:solidFill>
              </a:rPr>
              <a:t>Auto-suggest khi gõ từ khóa, sanitize chống tấn công XSS.</a:t>
            </a:r>
          </a:p>
        </p:txBody>
      </p:sp>
      <p:sp>
        <p:nvSpPr>
          <p:cNvPr id="20" name="TextBox 19"/>
          <p:cNvSpPr txBox="1"/>
          <p:nvPr/>
        </p:nvSpPr>
        <p:spPr>
          <a:xfrm>
            <a:off x="6400800" y="4078223"/>
            <a:ext cx="4846320" cy="594360"/>
          </a:xfrm>
          <a:prstGeom prst="rect">
            <a:avLst/>
          </a:prstGeom>
          <a:noFill/>
        </p:spPr>
        <p:txBody>
          <a:bodyPr wrap="square" lIns="0" tIns="0" rIns="0" bIns="0">
            <a:spAutoFit/>
          </a:bodyPr>
          <a:lstStyle/>
          <a:p>
            <a:pPr>
              <a:defRPr b="1" sz="1100">
                <a:solidFill>
                  <a:srgbClr val="1E3A8A"/>
                </a:solidFill>
              </a:defRPr>
            </a:pPr>
            <a:r>
              <a:t>✔  Tích hợp API bên ngoài: </a:t>
            </a:r>
            <a:r>
              <a:rPr b="0">
                <a:solidFill>
                  <a:srgbClr val="0F172A"/>
                </a:solidFill>
              </a:rPr>
              <a:t>Widget thời tiết Open-Meteo cập nhật nhiệt độ thời gian thực.</a:t>
            </a:r>
          </a:p>
        </p:txBody>
      </p:sp>
      <p:sp>
        <p:nvSpPr>
          <p:cNvPr id="21" name="TextBox 20"/>
          <p:cNvSpPr txBox="1"/>
          <p:nvPr/>
        </p:nvSpPr>
        <p:spPr>
          <a:xfrm>
            <a:off x="6400800" y="4736591"/>
            <a:ext cx="4846320" cy="594360"/>
          </a:xfrm>
          <a:prstGeom prst="rect">
            <a:avLst/>
          </a:prstGeom>
          <a:noFill/>
        </p:spPr>
        <p:txBody>
          <a:bodyPr wrap="square" lIns="0" tIns="0" rIns="0" bIns="0">
            <a:spAutoFit/>
          </a:bodyPr>
          <a:lstStyle/>
          <a:p>
            <a:pPr>
              <a:defRPr b="1" sz="1100">
                <a:solidFill>
                  <a:srgbClr val="1E3A8A"/>
                </a:solidFill>
              </a:defRPr>
            </a:pPr>
            <a:r>
              <a:t>✔  Responsive đa thiết bị: </a:t>
            </a:r>
            <a:r>
              <a:rPr b="0">
                <a:solidFill>
                  <a:srgbClr val="0F172A"/>
                </a:solidFill>
              </a:rPr>
              <a:t>Tối ưu hiển thị hoàn hảo trên Mobile (375px), Tablet (768px), PC.</a:t>
            </a:r>
          </a:p>
        </p:txBody>
      </p:sp>
      <p:sp>
        <p:nvSpPr>
          <p:cNvPr id="22" name="TextBox 21"/>
          <p:cNvSpPr txBox="1"/>
          <p:nvPr/>
        </p:nvSpPr>
        <p:spPr>
          <a:xfrm>
            <a:off x="6400800" y="5394959"/>
            <a:ext cx="4846320" cy="594360"/>
          </a:xfrm>
          <a:prstGeom prst="rect">
            <a:avLst/>
          </a:prstGeom>
          <a:noFill/>
        </p:spPr>
        <p:txBody>
          <a:bodyPr wrap="square" lIns="0" tIns="0" rIns="0" bIns="0">
            <a:spAutoFit/>
          </a:bodyPr>
          <a:lstStyle/>
          <a:p>
            <a:pPr>
              <a:defRPr b="1" sz="1100">
                <a:solidFill>
                  <a:srgbClr val="EA580C"/>
                </a:solidFill>
              </a:defRPr>
            </a:pPr>
            <a:r>
              <a:t>★  ★ ĐIỂM CỘNG ĐỘT PHÁ ★ Tìm kiếm bằng ảnh AI:: </a:t>
            </a:r>
            <a:r>
              <a:rPr b="0">
                <a:solidFill>
                  <a:srgbClr val="0F172A"/>
                </a:solidFill>
              </a:rPr>
              <a:t>Tích hợp mô hình OpenCLIP ViT-B/32, chụp ảnh trực tiếp từ Camera hoặc tải ảnh so khớp cosine similarity cục bộ!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2. Kiến trúc hệ thống &amp; Công nghệ mã nguồn mở</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2918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38160" y="1463040"/>
            <a:ext cx="32918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2926080" cy="4572000"/>
          </a:xfrm>
          <a:prstGeom prst="rect">
            <a:avLst/>
          </a:prstGeom>
          <a:noFill/>
        </p:spPr>
        <p:txBody>
          <a:bodyPr wrap="square">
            <a:spAutoFit/>
          </a:bodyPr>
          <a:lstStyle/>
          <a:p>
            <a:pPr>
              <a:defRPr sz="1300" b="1">
                <a:solidFill>
                  <a:srgbClr val="EA580C"/>
                </a:solidFill>
              </a:defRPr>
            </a:pPr>
            <a:r>
              <a:t>LỚP TRÌNH DIỄN (CLIENT)</a:t>
            </a:r>
          </a:p>
          <a:p>
            <a:br/>
            <a:r>
              <a:t>• Blade Template Engine:</a:t>
            </a:r>
            <a:br/>
            <a:r>
              <a:t>  Kế thừa layout chung app.blade.php &amp; admin.blade.php.</a:t>
            </a:r>
          </a:p>
          <a:p>
            <a:br/>
            <a:r>
              <a:t>• Bootstrap 5.3.3 Cục Bộ:</a:t>
            </a:r>
            <a:br/>
            <a:r>
              <a:t>  Không phụ thuộc internet/CDN, tối ưu responsive 375px - 1440px.</a:t>
            </a:r>
          </a:p>
          <a:p>
            <a:br/>
            <a:r>
              <a:t>• Fetch API &amp; Vanilla JS:</a:t>
            </a:r>
            <a:br/>
            <a:r>
              <a:t>  Thực hiện thêm/sửa giỏ hàng bất đồng bộ, cập nhật số lượng tức thì.</a:t>
            </a:r>
          </a:p>
          <a:p>
            <a:br/>
            <a:r>
              <a:t>• Web Camera API:</a:t>
            </a:r>
            <a:br/>
            <a:r>
              <a:t>  Cho phép mở camera trực tiếp từ trình duyệt để chụp ảnh tìm kiếm.</a:t>
            </a:r>
          </a:p>
        </p:txBody>
      </p:sp>
      <p:sp>
        <p:nvSpPr>
          <p:cNvPr id="10" name="TextBox 9"/>
          <p:cNvSpPr txBox="1"/>
          <p:nvPr/>
        </p:nvSpPr>
        <p:spPr>
          <a:xfrm>
            <a:off x="4572000" y="1645920"/>
            <a:ext cx="3017520" cy="4572000"/>
          </a:xfrm>
          <a:prstGeom prst="rect">
            <a:avLst/>
          </a:prstGeom>
          <a:noFill/>
        </p:spPr>
        <p:txBody>
          <a:bodyPr wrap="square">
            <a:spAutoFit/>
          </a:bodyPr>
          <a:lstStyle/>
          <a:p>
            <a:pPr>
              <a:defRPr sz="1300" b="1">
                <a:solidFill>
                  <a:srgbClr val="1E3A8A"/>
                </a:solidFill>
              </a:defRPr>
            </a:pPr>
            <a:r>
              <a:t>LỚP NGHIỆP VỤ (LARAVEL 13)</a:t>
            </a:r>
          </a:p>
          <a:p>
            <a:br/>
            <a:r>
              <a:t>• MVC &amp; Routing RESTful:</a:t>
            </a:r>
            <a:br/>
            <a:r>
              <a:t>  Tách biệt Controller khách và admin, định danh route rõ ràng.</a:t>
            </a:r>
          </a:p>
          <a:p>
            <a:br/>
            <a:r>
              <a:t>• Middleware &amp; Bảo Mật:</a:t>
            </a:r>
            <a:br/>
            <a:r>
              <a:t>  CheckRole phân quyền, CSRF Token, Rate Limiter (throttle:10,1).</a:t>
            </a:r>
          </a:p>
          <a:p>
            <a:br/>
            <a:r>
              <a:t>• Eloquent ORM &amp; Transactions:</a:t>
            </a:r>
            <a:br/>
            <a:r>
              <a:t>  Xử lý quan hệ bảng, DB::transaction() kết hợp lockForUpdate().</a:t>
            </a:r>
          </a:p>
          <a:p>
            <a:br/>
            <a:r>
              <a:t>• Form Request Validation:</a:t>
            </a:r>
            <a:br/>
            <a:r>
              <a:t>  Kiểm tra dữ liệu đầu vào nghiêm ngặt trước khi vào Controller.</a:t>
            </a:r>
          </a:p>
        </p:txBody>
      </p:sp>
      <p:sp>
        <p:nvSpPr>
          <p:cNvPr id="11" name="TextBox 10"/>
          <p:cNvSpPr txBox="1"/>
          <p:nvPr/>
        </p:nvSpPr>
        <p:spPr>
          <a:xfrm>
            <a:off x="8321040" y="1645920"/>
            <a:ext cx="2926080" cy="4572000"/>
          </a:xfrm>
          <a:prstGeom prst="rect">
            <a:avLst/>
          </a:prstGeom>
          <a:noFill/>
        </p:spPr>
        <p:txBody>
          <a:bodyPr wrap="square">
            <a:spAutoFit/>
          </a:bodyPr>
          <a:lstStyle/>
          <a:p>
            <a:pPr>
              <a:defRPr sz="1300" b="1">
                <a:solidFill>
                  <a:srgbClr val="166534"/>
                </a:solidFill>
              </a:defRPr>
            </a:pPr>
            <a:r>
              <a:t>DỮ LIỆU &amp; DỊCH VỤ NGOÀI</a:t>
            </a:r>
          </a:p>
          <a:p>
            <a:br/>
            <a:r>
              <a:t>• MySQL 8.4 Engine:</a:t>
            </a:r>
            <a:br/>
            <a:r>
              <a:t>  InnoDB, khóa ngoại ON DELETE RESTRICT bảo toàn dữ liệu tài chính.</a:t>
            </a:r>
          </a:p>
          <a:p>
            <a:br/>
            <a:r>
              <a:t>• Python AI Microservice:</a:t>
            </a:r>
            <a:br/>
            <a:r>
              <a:t>  Chạy ngầm cổng 8020, mô hình OpenCLIP ViT-B/32 tính Cosine Similarity.</a:t>
            </a:r>
          </a:p>
          <a:p>
            <a:br/>
            <a:r>
              <a:t>• Open-Meteo API:</a:t>
            </a:r>
            <a:br/>
            <a:r>
              <a:t>  Tích hợp API thời tiết ngoại vi không làm ảnh hưởng luồng mua hàng.</a:t>
            </a:r>
          </a:p>
          <a:p>
            <a:br/>
            <a:r>
              <a:t>• SQLite In-Memory:</a:t>
            </a:r>
            <a:br/>
            <a:r>
              <a:t>  Môi trường chạy 88 test tự động siêu tốc khi phát triển.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3. Thiết kế cơ sở dữ liệu (ERD) &amp; Toàn vẹn dữ liệu</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martcart-erd.png"/>
          <p:cNvPicPr>
            <a:picLocks noChangeAspect="1"/>
          </p:cNvPicPr>
          <p:nvPr/>
        </p:nvPicPr>
        <p:blipFill>
          <a:blip r:embed="rId2"/>
          <a:stretch>
            <a:fillRect/>
          </a:stretch>
        </p:blipFill>
        <p:spPr>
          <a:xfrm>
            <a:off x="731520" y="1463040"/>
            <a:ext cx="6583680" cy="4617720"/>
          </a:xfrm>
          <a:prstGeom prst="rect">
            <a:avLst/>
          </a:prstGeom>
        </p:spPr>
      </p:pic>
      <p:sp>
        <p:nvSpPr>
          <p:cNvPr id="7" name="Rounded Rectangle 6"/>
          <p:cNvSpPr/>
          <p:nvPr/>
        </p:nvSpPr>
        <p:spPr>
          <a:xfrm>
            <a:off x="7589520" y="1463040"/>
            <a:ext cx="3840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645920"/>
            <a:ext cx="3474720" cy="4572000"/>
          </a:xfrm>
          <a:prstGeom prst="rect">
            <a:avLst/>
          </a:prstGeom>
          <a:noFill/>
        </p:spPr>
        <p:txBody>
          <a:bodyPr wrap="square">
            <a:spAutoFit/>
          </a:bodyPr>
          <a:lstStyle/>
          <a:p>
            <a:pPr>
              <a:defRPr sz="1300" b="1">
                <a:solidFill>
                  <a:srgbClr val="1E3A8A"/>
                </a:solidFill>
              </a:defRPr>
            </a:pPr>
            <a:r>
              <a:t>QUY TẮC RÀNG BUỘC CSDL</a:t>
            </a:r>
          </a:p>
          <a:p>
            <a:pPr>
              <a:defRPr sz="1100">
                <a:solidFill>
                  <a:srgbClr val="0F172A"/>
                </a:solidFill>
              </a:defRPr>
            </a:pPr>
            <a:r>
              <a:t>• 5 Bảng nghiệp vụ cốt lõi:</a:t>
            </a:r>
            <a:br/>
            <a:r>
              <a:t>  users, categories, products, orders, order_items.</a:t>
            </a:r>
          </a:p>
          <a:p>
            <a:pPr>
              <a:defRPr sz="1100">
                <a:solidFill>
                  <a:srgbClr val="0F172A"/>
                </a:solidFill>
              </a:defRPr>
            </a:pPr>
            <a:r>
              <a:t>• Bảo vệ ràng buộc khóa ngoại:</a:t>
            </a:r>
            <a:br/>
            <a:r>
              <a:t>  Chặn xóa danh mục khi còn sản phẩm; Chặn xóa sản phẩm khi đã có đơn hàng (ON DELETE RESTRICT).</a:t>
            </a:r>
          </a:p>
          <a:p>
            <a:pPr>
              <a:defRPr sz="1100">
                <a:solidFill>
                  <a:srgbClr val="0F172A"/>
                </a:solidFill>
              </a:defRPr>
            </a:pPr>
            <a:r>
              <a:t>• Độ chính xác tài chính:</a:t>
            </a:r>
            <a:br/>
            <a:r>
              <a:t>  Cột price dùng decimal(12,2), tính toán tổng tiền bằng số nguyên tránh sai số float.</a:t>
            </a:r>
          </a:p>
          <a:p>
            <a:pPr>
              <a:defRPr sz="1100">
                <a:solidFill>
                  <a:srgbClr val="0F172A"/>
                </a:solidFill>
              </a:defRPr>
            </a:pPr>
            <a:r>
              <a:t>• Snapshot lịch sử mua hàng:</a:t>
            </a:r>
            <a:br/>
            <a:r>
              <a:t>  order_items lưu product_name và price tại thời điểm đặt, giá sau này đổi không làm lệch đơn cũ.</a:t>
            </a:r>
          </a:p>
          <a:p>
            <a:pPr>
              <a:defRPr sz="1100">
                <a:solidFill>
                  <a:srgbClr val="0F172A"/>
                </a:solidFill>
              </a:defRPr>
            </a:pPr>
            <a:r>
              <a:t>• Chống trùng lặp Seeder:</a:t>
            </a:r>
            <a:br/>
            <a:r>
              <a:t>  CatalogSeeder kiểm tra dữ liệu hiện có, không đè giá/kho người dùng đã sửa đổi thủ công.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4. Phân tích Use Case &amp; Kiểm soát phân quyền</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martcart-usecase-client.png"/>
          <p:cNvPicPr>
            <a:picLocks noChangeAspect="1"/>
          </p:cNvPicPr>
          <p:nvPr/>
        </p:nvPicPr>
        <p:blipFill>
          <a:blip r:embed="rId2"/>
          <a:stretch>
            <a:fillRect/>
          </a:stretch>
        </p:blipFill>
        <p:spPr>
          <a:xfrm>
            <a:off x="731520" y="1463040"/>
            <a:ext cx="6217920" cy="7744137"/>
          </a:xfrm>
          <a:prstGeom prst="rect">
            <a:avLst/>
          </a:prstGeom>
        </p:spPr>
      </p:pic>
      <p:sp>
        <p:nvSpPr>
          <p:cNvPr id="7" name="Rounded Rectangle 6"/>
          <p:cNvSpPr/>
          <p:nvPr/>
        </p:nvSpPr>
        <p:spPr>
          <a:xfrm>
            <a:off x="7132320" y="1463040"/>
            <a:ext cx="42976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45920"/>
            <a:ext cx="3931920" cy="4572000"/>
          </a:xfrm>
          <a:prstGeom prst="rect">
            <a:avLst/>
          </a:prstGeom>
          <a:noFill/>
        </p:spPr>
        <p:txBody>
          <a:bodyPr wrap="square">
            <a:spAutoFit/>
          </a:bodyPr>
          <a:lstStyle/>
          <a:p>
            <a:pPr>
              <a:defRPr sz="1300" b="1">
                <a:solidFill>
                  <a:srgbClr val="EA580C"/>
                </a:solidFill>
              </a:defRPr>
            </a:pPr>
            <a:r>
              <a:t>MA TRẬN PHÂN QUYỀN (ROLES)</a:t>
            </a:r>
          </a:p>
          <a:p>
            <a:pPr>
              <a:defRPr b="1" sz="1100">
                <a:solidFill>
                  <a:srgbClr val="1E3A8A"/>
                </a:solidFill>
              </a:defRPr>
            </a:pPr>
            <a:r>
              <a:t>1. Khách vãng lai (Guest):</a:t>
            </a:r>
          </a:p>
          <a:p>
            <a:pPr>
              <a:defRPr sz="1050"/>
            </a:pPr>
            <a:r>
              <a:t>• Xem danh sách, lọc, tìm kiếm, xem chi tiết sản phẩm.</a:t>
            </a:r>
            <a:br/>
            <a:r>
              <a:t>• Dùng giỏ hàng session, tìm kiếm sản phẩm bằng ảnh AI.</a:t>
            </a:r>
            <a:br/>
            <a:r>
              <a:t>• Đăng ký tài khoản, đăng nhập hệ thống.</a:t>
            </a:r>
          </a:p>
          <a:p>
            <a:br/>
            <a:pPr>
              <a:defRPr b="1" sz="1100">
                <a:solidFill>
                  <a:srgbClr val="1E3A8A"/>
                </a:solidFill>
              </a:defRPr>
            </a:pPr>
            <a:r>
              <a:t>2. Khách hàng đã đăng nhập (Customer):</a:t>
            </a:r>
          </a:p>
          <a:p>
            <a:pPr>
              <a:defRPr sz="1050"/>
            </a:pPr>
            <a:r>
              <a:t>• Checkout đơn hàng COD (yêu cầu đăng nhập).</a:t>
            </a:r>
            <a:br/>
            <a:r>
              <a:t>• Xem lịch sử &amp; chi tiết đơn hàng của chính mình.</a:t>
            </a:r>
            <a:br/>
            <a:r>
              <a:t>• Tự hủy đơn hàng khi trạng thái còn 'Chờ xác nhận'.</a:t>
            </a:r>
          </a:p>
          <a:p>
            <a:br/>
            <a:pPr>
              <a:defRPr b="1" sz="1100">
                <a:solidFill>
                  <a:srgbClr val="EA580C"/>
                </a:solidFill>
              </a:defRPr>
            </a:pPr>
            <a:r>
              <a:t>3. Quản trị viên (Admin - role:admin):</a:t>
            </a:r>
          </a:p>
          <a:p>
            <a:pPr>
              <a:defRPr sz="1050"/>
            </a:pPr>
            <a:r>
              <a:t>• Xem Dashboard thống kê doanh thu (chỉ tính đơn hoàn thành).</a:t>
            </a:r>
            <a:br/>
            <a:r>
              <a:t>• Toàn quyền CRUD danh mục, sản phẩm, upload ảnh.</a:t>
            </a:r>
            <a:br/>
            <a:r>
              <a:t>• Quản lý đơn hàng, chuyển trạng thái duyệt / hủy đơn.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5. Module Khách hàng: Catalog &amp; Giỏ hàng Fetch API</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home-desktop.png"/>
          <p:cNvPicPr>
            <a:picLocks noChangeAspect="1"/>
          </p:cNvPicPr>
          <p:nvPr/>
        </p:nvPicPr>
        <p:blipFill>
          <a:blip r:embed="rId2"/>
          <a:stretch>
            <a:fillRect/>
          </a:stretch>
        </p:blipFill>
        <p:spPr>
          <a:xfrm>
            <a:off x="731520" y="1463040"/>
            <a:ext cx="5212080" cy="2741657"/>
          </a:xfrm>
          <a:prstGeom prst="rect">
            <a:avLst/>
          </a:prstGeom>
        </p:spPr>
      </p:pic>
      <p:pic>
        <p:nvPicPr>
          <p:cNvPr id="7" name="Picture 6" descr="02-cart-desktop.png"/>
          <p:cNvPicPr>
            <a:picLocks noChangeAspect="1"/>
          </p:cNvPicPr>
          <p:nvPr/>
        </p:nvPicPr>
        <p:blipFill>
          <a:blip r:embed="rId3"/>
          <a:stretch>
            <a:fillRect/>
          </a:stretch>
        </p:blipFill>
        <p:spPr>
          <a:xfrm>
            <a:off x="6217920" y="1463040"/>
            <a:ext cx="5212080" cy="2741657"/>
          </a:xfrm>
          <a:prstGeom prst="rect">
            <a:avLst/>
          </a:prstGeom>
        </p:spPr>
      </p:pic>
      <p:sp>
        <p:nvSpPr>
          <p:cNvPr id="8" name="Rounded Rectangle 7"/>
          <p:cNvSpPr/>
          <p:nvPr/>
        </p:nvSpPr>
        <p:spPr>
          <a:xfrm>
            <a:off x="731520" y="4663440"/>
            <a:ext cx="1069848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54880"/>
            <a:ext cx="10332720" cy="1554480"/>
          </a:xfrm>
          <a:prstGeom prst="rect">
            <a:avLst/>
          </a:prstGeom>
          <a:noFill/>
        </p:spPr>
        <p:txBody>
          <a:bodyPr wrap="square">
            <a:spAutoFit/>
          </a:bodyPr>
          <a:lstStyle/>
          <a:p>
            <a:pPr>
              <a:defRPr sz="1200" b="1">
                <a:solidFill>
                  <a:srgbClr val="1E3A8A"/>
                </a:solidFill>
              </a:defRPr>
            </a:pPr>
            <a:r>
              <a:t>ĐẶC ĐIỂM KỸ THUẬT NỔI BẬT TRÊN GIAO DIỆN KHÁCH HÀNG:</a:t>
            </a:r>
          </a:p>
          <a:p>
            <a:pPr>
              <a:defRPr sz="1100"/>
            </a:pPr>
            <a:r>
              <a:t>• Phân trang &amp; Giữ bộ lọc: Hiển thị chuẩn 8 sản phẩm/trang. Khi lọc theo danh mục hoặc sắp xếp giá, liên kết phân trang luôn giữ nguyên query string (?category=...&amp;sort=...).</a:t>
            </a:r>
          </a:p>
          <a:p>
            <a:pPr>
              <a:defRPr sz="1100"/>
            </a:pPr>
            <a:r>
              <a:t>• Giỏ hàng Fetch API (Session): Khi thêm vào giỏ, thay đổi số lượng (+/-) hoặc xóa hàng, trình duyệt gửi Fetch request và nhận JSON, cập nhật tổng tiền &amp; badge giỏ hàng ngay lập tức mà không tải lại trang.</a:t>
            </a:r>
          </a:p>
          <a:p>
            <a:pPr>
              <a:defRPr sz="1100"/>
            </a:pPr>
            <a:r>
              <a:t>• An toàn thông báo (XSS Prevention): Tên sản phẩm khi hiển thị trong SweetAlert2 thông báo được trích xuất dạng textContent an toàn, ngăn ngừa triệt để các nguy cơ chèn mã độc XSS.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6. Xử lý giao dịch an toàn &amp; Kiểm soát tồn kho</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checkout-mobile.png"/>
          <p:cNvPicPr>
            <a:picLocks noChangeAspect="1"/>
          </p:cNvPicPr>
          <p:nvPr/>
        </p:nvPicPr>
        <p:blipFill>
          <a:blip r:embed="rId2"/>
          <a:stretch>
            <a:fillRect/>
          </a:stretch>
        </p:blipFill>
        <p:spPr>
          <a:xfrm>
            <a:off x="731520" y="1463040"/>
            <a:ext cx="3017520" cy="3951514"/>
          </a:xfrm>
          <a:prstGeom prst="rect">
            <a:avLst/>
          </a:prstGeom>
        </p:spPr>
      </p:pic>
      <p:sp>
        <p:nvSpPr>
          <p:cNvPr id="7" name="Rounded Rectangle 6"/>
          <p:cNvSpPr/>
          <p:nvPr/>
        </p:nvSpPr>
        <p:spPr>
          <a:xfrm>
            <a:off x="3931920" y="1463040"/>
            <a:ext cx="39319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1645920"/>
            <a:ext cx="3566160" cy="4572000"/>
          </a:xfrm>
          <a:prstGeom prst="rect">
            <a:avLst/>
          </a:prstGeom>
          <a:noFill/>
        </p:spPr>
        <p:txBody>
          <a:bodyPr wrap="square">
            <a:spAutoFit/>
          </a:bodyPr>
          <a:lstStyle/>
          <a:p>
            <a:pPr>
              <a:defRPr sz="1200" b="1">
                <a:solidFill>
                  <a:srgbClr val="1E3A8A"/>
                </a:solidFill>
              </a:defRPr>
            </a:pPr>
            <a:r>
              <a:t>KIỂM SOÁT GIAO DỊCH (CONCURRENCY)</a:t>
            </a:r>
          </a:p>
          <a:p>
            <a:pPr>
              <a:defRPr sz="1050"/>
            </a:pPr>
            <a:r>
              <a:t>✔ Khóa dòng tồn kho (lockForUpdate):</a:t>
            </a:r>
            <a:br/>
            <a:r>
              <a:t>  Khi bấm Đặt hàng, hệ thống khóa dòng sản phẩm trong DB để kiểm tra số lượng tồn, ngăn chặn tình trạng bán âm khi nhiều người cùng mua sp cuối.</a:t>
            </a:r>
          </a:p>
          <a:p>
            <a:pPr>
              <a:defRPr sz="1050"/>
            </a:pPr>
            <a:r>
              <a:t>✔ Transaction nguyên khối:</a:t>
            </a:r>
            <a:br/>
            <a:r>
              <a:t>  Tạo Order, tạo OrderItems và trừ số lượng trong bảng Products được gói trong 1 DB::transaction(). Nếu lỗi ở bất kỳ bước nào, toàn bộ sẽ rollback và giữ nguyên giỏ hàng.</a:t>
            </a:r>
          </a:p>
          <a:p>
            <a:pPr>
              <a:defRPr sz="1050"/>
            </a:pPr>
            <a:r>
              <a:t>✔ Chống gửi đơn trùng (Double-submit):</a:t>
            </a:r>
            <a:br/>
            <a:r>
              <a:t>  Tạo checkout_token (UUID duy nhất) cho mỗi phiên checkout. Nếu người dùng spam nút đặt hàng, hệ thống từ chối các request lặp.</a:t>
            </a:r>
          </a:p>
        </p:txBody>
      </p:sp>
      <p:sp>
        <p:nvSpPr>
          <p:cNvPr id="9" name="Rounded Rectangle 8"/>
          <p:cNvSpPr/>
          <p:nvPr/>
        </p:nvSpPr>
        <p:spPr>
          <a:xfrm>
            <a:off x="8046720" y="1463040"/>
            <a:ext cx="3383280" cy="4937760"/>
          </a:xfrm>
          <a:prstGeom prst="roundRect">
            <a:avLst/>
          </a:prstGeom>
          <a:solidFill>
            <a:srgbClr val="EFF6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17520" cy="4572000"/>
          </a:xfrm>
          <a:prstGeom prst="rect">
            <a:avLst/>
          </a:prstGeom>
          <a:noFill/>
        </p:spPr>
        <p:txBody>
          <a:bodyPr wrap="square">
            <a:spAutoFit/>
          </a:bodyPr>
          <a:lstStyle/>
          <a:p>
            <a:pPr>
              <a:defRPr sz="1200" b="1">
                <a:solidFill>
                  <a:srgbClr val="1E3A8A"/>
                </a:solidFill>
              </a:defRPr>
            </a:pPr>
            <a:r>
              <a:t>LUỒNG TRẠNG THÁI ĐƠN HÀNG</a:t>
            </a:r>
          </a:p>
          <a:p>
            <a:pPr>
              <a:defRPr sz="1050"/>
            </a:pPr>
            <a:r>
              <a:t>➔ Pending (Chờ duyệt):</a:t>
            </a:r>
            <a:br/>
            <a:r>
              <a:t>  Đơn mới tạo, kho đã trừ. Khách hoặc Admin có thể hủy ở bước này.</a:t>
            </a:r>
          </a:p>
          <a:p>
            <a:pPr>
              <a:defRPr sz="1050"/>
            </a:pPr>
            <a:r>
              <a:t>➔ Processing (Đang giao):</a:t>
            </a:r>
            <a:br/>
            <a:r>
              <a:t>  Admin duyệt đơn. Khách không thể tự ý hủy; Admin vẫn có thể hủy nếu cần.</a:t>
            </a:r>
          </a:p>
          <a:p>
            <a:pPr>
              <a:defRPr sz="1050"/>
            </a:pPr>
            <a:r>
              <a:t>➔ Completed (Hoàn thành):</a:t>
            </a:r>
            <a:br/>
            <a:r>
              <a:t>  Đơn giao thành công. Trạng thái cuối, KHÔNG THỂ HỦY. Doanh thu Dashboard chỉ tính các đơn này.</a:t>
            </a:r>
          </a:p>
          <a:p>
            <a:pPr>
              <a:defRPr sz="1050"/>
            </a:pPr>
            <a:r>
              <a:t>➔ Cancelled (Đã hủy):</a:t>
            </a:r>
            <a:br/>
            <a:r>
              <a:t>  Hệ thống khóa đơn, hoàn lại đúng số lượng vào tồn kho sản phẩm. Khóa chống hoàn kho lần 2 nếu bấm lặp.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7. Không gian Quản trị viên (Admin Dashboard &amp; CRUD)</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admin-completed.png"/>
          <p:cNvPicPr>
            <a:picLocks noChangeAspect="1"/>
          </p:cNvPicPr>
          <p:nvPr/>
        </p:nvPicPr>
        <p:blipFill>
          <a:blip r:embed="rId2"/>
          <a:stretch>
            <a:fillRect/>
          </a:stretch>
        </p:blipFill>
        <p:spPr>
          <a:xfrm>
            <a:off x="731520" y="1463040"/>
            <a:ext cx="5212080" cy="2741657"/>
          </a:xfrm>
          <a:prstGeom prst="rect">
            <a:avLst/>
          </a:prstGeom>
        </p:spPr>
      </p:pic>
      <p:pic>
        <p:nvPicPr>
          <p:cNvPr id="7" name="Picture 6" descr="06-admin-cancelled.png"/>
          <p:cNvPicPr>
            <a:picLocks noChangeAspect="1"/>
          </p:cNvPicPr>
          <p:nvPr/>
        </p:nvPicPr>
        <p:blipFill>
          <a:blip r:embed="rId3"/>
          <a:stretch>
            <a:fillRect/>
          </a:stretch>
        </p:blipFill>
        <p:spPr>
          <a:xfrm>
            <a:off x="6217920" y="1463040"/>
            <a:ext cx="5212080" cy="2741657"/>
          </a:xfrm>
          <a:prstGeom prst="rect">
            <a:avLst/>
          </a:prstGeom>
        </p:spPr>
      </p:pic>
      <p:sp>
        <p:nvSpPr>
          <p:cNvPr id="8" name="Rounded Rectangle 7"/>
          <p:cNvSpPr/>
          <p:nvPr/>
        </p:nvSpPr>
        <p:spPr>
          <a:xfrm>
            <a:off x="731520" y="4663440"/>
            <a:ext cx="1069848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54880"/>
            <a:ext cx="10332720" cy="1554480"/>
          </a:xfrm>
          <a:prstGeom prst="rect">
            <a:avLst/>
          </a:prstGeom>
          <a:noFill/>
        </p:spPr>
        <p:txBody>
          <a:bodyPr wrap="square">
            <a:spAutoFit/>
          </a:bodyPr>
          <a:lstStyle/>
          <a:p>
            <a:pPr>
              <a:defRPr sz="1200" b="1">
                <a:solidFill>
                  <a:srgbClr val="1E3A8A"/>
                </a:solidFill>
              </a:defRPr>
            </a:pPr>
            <a:r>
              <a:t>CHỨC NĂNG &amp; THIẾT KẾ PHÍA QUẢN TRỊ VIÊN:</a:t>
            </a:r>
          </a:p>
          <a:p>
            <a:pPr>
              <a:defRPr sz="1100"/>
            </a:pPr>
            <a:r>
              <a:t>• Dashboard thống kê: Tổng hợp nhanh số danh mục, sản phẩm, đơn hàng và tổng doanh thu thực tế (đối soát chính xác chỉ cộng đơn completed).</a:t>
            </a:r>
          </a:p>
          <a:p>
            <a:pPr>
              <a:defRPr sz="1100"/>
            </a:pPr>
            <a:r>
              <a:t>• CRUD Danh mục &amp; Sản phẩm: Quản lý danh mục, thêm/sửa sản phẩm với form upload ảnh. Ràng buộc bảo vệ dữ liệu không cho xóa sản phẩm đã phát sinh đơn hàng.</a:t>
            </a:r>
          </a:p>
          <a:p>
            <a:pPr>
              <a:defRPr sz="1100"/>
            </a:pPr>
            <a:r>
              <a:t>• Xử lý đơn hàng trực quan: Bảng dữ liệu lọc theo trạng thái, xem chi tiết sản phẩm khách mua. Thông báo flash dạng Toast nhỏ gọn, không che khuất màn hình làm việc.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8. Tính năng điểm cộng đột phá: Tìm kiếm bằng ảnh AI (OpenCLIP)</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1-visual-search.png"/>
          <p:cNvPicPr>
            <a:picLocks noChangeAspect="1"/>
          </p:cNvPicPr>
          <p:nvPr/>
        </p:nvPicPr>
        <p:blipFill>
          <a:blip r:embed="rId2"/>
          <a:stretch>
            <a:fillRect/>
          </a:stretch>
        </p:blipFill>
        <p:spPr>
          <a:xfrm>
            <a:off x="731520" y="1463040"/>
            <a:ext cx="5212080" cy="3089252"/>
          </a:xfrm>
          <a:prstGeom prst="rect">
            <a:avLst/>
          </a:prstGeom>
        </p:spPr>
      </p:pic>
      <p:sp>
        <p:nvSpPr>
          <p:cNvPr id="7" name="Rounded Rectangle 6"/>
          <p:cNvSpPr/>
          <p:nvPr/>
        </p:nvSpPr>
        <p:spPr>
          <a:xfrm>
            <a:off x="6217920" y="1463040"/>
            <a:ext cx="5212080" cy="493776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572000"/>
          </a:xfrm>
          <a:prstGeom prst="rect">
            <a:avLst/>
          </a:prstGeom>
          <a:noFill/>
        </p:spPr>
        <p:txBody>
          <a:bodyPr wrap="square">
            <a:spAutoFit/>
          </a:bodyPr>
          <a:lstStyle/>
          <a:p>
            <a:pPr>
              <a:defRPr sz="1300" b="1">
                <a:solidFill>
                  <a:srgbClr val="EA580C"/>
                </a:solidFill>
              </a:defRPr>
            </a:pPr>
            <a:r>
              <a:t>CƠ CHẾ HOẠT ĐỘNG CỦA OPENCLIP VI-T-B/32</a:t>
            </a:r>
          </a:p>
          <a:p>
            <a:pPr>
              <a:defRPr b="1" sz="1100">
                <a:solidFill>
                  <a:srgbClr val="0F172A"/>
                </a:solidFill>
              </a:defRPr>
            </a:pPr>
            <a:r>
              <a:t>1. Giao diện trực quan (Camera / Upload):</a:t>
            </a:r>
          </a:p>
          <a:p>
            <a:pPr>
              <a:defRPr sz="1050"/>
            </a:pPr>
            <a:r>
              <a:t>Người dùng bấm nút camera trên header, có thể tải ảnh có sẵn hoặc mở camera trực tiếp trên trình duyệt để chụp sản phẩm cần tìm.</a:t>
            </a:r>
          </a:p>
          <a:p>
            <a:br/>
            <a:pPr>
              <a:defRPr b="1" sz="1100">
                <a:solidFill>
                  <a:srgbClr val="0F172A"/>
                </a:solidFill>
              </a:defRPr>
            </a:pPr>
            <a:r>
              <a:t>2. Trích xuất đặc trưng &amp; Vector hóa:</a:t>
            </a:r>
          </a:p>
          <a:p>
            <a:pPr>
              <a:defRPr sz="1050"/>
            </a:pPr>
            <a:r>
              <a:t>Dịch vụ Python nhận ảnh, dùng OpenCLIP mã hóa ảnh thành vector 512 chiều và chuẩn hóa L2.</a:t>
            </a:r>
          </a:p>
          <a:p>
            <a:br/>
            <a:pPr>
              <a:defRPr b="1" sz="1100">
                <a:solidFill>
                  <a:srgbClr val="0F172A"/>
                </a:solidFill>
              </a:defRPr>
            </a:pPr>
            <a:r>
              <a:t>3. So khớp Cosine Similarity &amp; Lọc kết quả:</a:t>
            </a:r>
          </a:p>
          <a:p>
            <a:pPr>
              <a:defRPr sz="1050"/>
            </a:pPr>
            <a:r>
              <a:t>Tính tích vô hướng giữa vector ảnh truy vấn và vector 60 ảnh catalog (đã băm SHA-256 lưu cache). Lọc ngưỡng tương đồng &gt;= 0.45 để loại bỏ ảnh không liên quan.</a:t>
            </a:r>
          </a:p>
          <a:p>
            <a:br/>
            <a:pPr>
              <a:defRPr b="1" sz="1100">
                <a:solidFill>
                  <a:srgbClr val="0F172A"/>
                </a:solidFill>
              </a:defRPr>
            </a:pPr>
            <a:r>
              <a:t>4. Bảo vệ quyền riêng tư &amp; Hiệu năng cao:</a:t>
            </a:r>
          </a:p>
          <a:p>
            <a:pPr>
              <a:defRPr sz="1050"/>
            </a:pPr>
            <a:r>
              <a:t>Chạy 100% cục bộ trên CPU máy chủ, không lưu ảnh truy vấn của người dùng, không tốn phí API bên ngoài.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9. Kiểm thử tự động &amp; Nghiệm thu toàn diện</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486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5120640" cy="4572000"/>
          </a:xfrm>
          <a:prstGeom prst="rect">
            <a:avLst/>
          </a:prstGeom>
          <a:noFill/>
        </p:spPr>
        <p:txBody>
          <a:bodyPr wrap="square">
            <a:spAutoFit/>
          </a:bodyPr>
          <a:lstStyle/>
          <a:p>
            <a:pPr>
              <a:defRPr sz="1300" b="1">
                <a:solidFill>
                  <a:srgbClr val="166534"/>
                </a:solidFill>
              </a:defRPr>
            </a:pPr>
            <a:r>
              <a:t>KẾT QUẢ KIỂM THỬ TỰ ĐỘNG (PHPUNIT)</a:t>
            </a:r>
          </a:p>
          <a:p>
            <a:br/>
            <a:pPr>
              <a:defRPr sz="1200" b="1">
                <a:solidFill>
                  <a:srgbClr val="166534"/>
                </a:solidFill>
              </a:defRPr>
            </a:pPr>
            <a:r>
              <a:t>✔  88 / 88 TEST CASES PASSED (100%)</a:t>
            </a:r>
            <a:br/>
            <a:r>
              <a:t>    Tổng cộng 676 Assertions - Chạy hoàn tất trong 5.9s</a:t>
            </a:r>
            <a:br/>
          </a:p>
          <a:p>
            <a:pPr>
              <a:defRPr sz="1050"/>
            </a:pPr>
            <a:r>
              <a:t>• Authentication &amp; Roles: Đăng ký, kiểm tra role không bị tự nâng, đăng nhập đúng/sai, rate limit 10 req/phút.</a:t>
            </a:r>
          </a:p>
          <a:p>
            <a:pPr>
              <a:defRPr sz="1050"/>
            </a:pPr>
            <a:r>
              <a:t>• Admin CRUD &amp; Ràng buộc: Thêm/sửa danh mục/sản phẩm, upload file, chặn xóa danh mục còn hàng và sp đã có đơn.</a:t>
            </a:r>
          </a:p>
          <a:p>
            <a:pPr>
              <a:defRPr sz="1050"/>
            </a:pPr>
            <a:r>
              <a:t>• Client &amp; Đơn hàng: Tìm kiếm/phân trang giữ query, snapshot giá, khóa tồn kho, trừ kho và rollback an toàn.</a:t>
            </a:r>
          </a:p>
          <a:p>
            <a:pPr>
              <a:defRPr sz="1050"/>
            </a:pPr>
            <a:r>
              <a:t>• Hủy đơn &amp; Hoàn kho: Khách chỉ hủy pending, Admin hủy pending/processing, hoàn kho đúng 1 lần.</a:t>
            </a:r>
          </a:p>
          <a:p>
            <a:pPr>
              <a:defRPr sz="1050"/>
            </a:pPr>
            <a:r>
              <a:t>• Tìm kiếm ảnh AI: Validation kích thước ảnh (2MB), lọc ngưỡng, xử lý khi dịch vụ Python ngắt kết nối.</a:t>
            </a:r>
          </a:p>
        </p:txBody>
      </p:sp>
      <p:pic>
        <p:nvPicPr>
          <p:cNvPr id="8" name="Picture 7" descr="07-admin-mobile.png"/>
          <p:cNvPicPr>
            <a:picLocks noChangeAspect="1"/>
          </p:cNvPicPr>
          <p:nvPr/>
        </p:nvPicPr>
        <p:blipFill>
          <a:blip r:embed="rId2"/>
          <a:stretch>
            <a:fillRect/>
          </a:stretch>
        </p:blipFill>
        <p:spPr>
          <a:xfrm>
            <a:off x="6583680" y="1463040"/>
            <a:ext cx="2286000" cy="2993571"/>
          </a:xfrm>
          <a:prstGeom prst="rect">
            <a:avLst/>
          </a:prstGeom>
        </p:spPr>
      </p:pic>
      <p:sp>
        <p:nvSpPr>
          <p:cNvPr id="9" name="Rounded Rectangle 8"/>
          <p:cNvSpPr/>
          <p:nvPr/>
        </p:nvSpPr>
        <p:spPr>
          <a:xfrm>
            <a:off x="9144000" y="1463040"/>
            <a:ext cx="2286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0" y="1645920"/>
            <a:ext cx="2103120" cy="4572000"/>
          </a:xfrm>
          <a:prstGeom prst="rect">
            <a:avLst/>
          </a:prstGeom>
          <a:noFill/>
        </p:spPr>
        <p:txBody>
          <a:bodyPr wrap="square">
            <a:spAutoFit/>
          </a:bodyPr>
          <a:lstStyle/>
          <a:p>
            <a:pPr>
              <a:defRPr sz="1200" b="1">
                <a:solidFill>
                  <a:srgbClr val="1E3A8A"/>
                </a:solidFill>
              </a:defRPr>
            </a:pPr>
            <a:r>
              <a:t>RESPONSIVE</a:t>
            </a:r>
            <a:br/>
            <a:r>
              <a:t>ĐA THIẾT BỊ</a:t>
            </a:r>
          </a:p>
          <a:p>
            <a:br/>
            <a:pPr>
              <a:defRPr sz="1050"/>
            </a:pPr>
            <a:r>
              <a:t>✔ Mobile (375px):</a:t>
            </a:r>
            <a:br/>
            <a:r>
              <a:t>Thanh điều hướng thu gọn, bảng cuộn trong khung không tràn ngang.</a:t>
            </a:r>
          </a:p>
          <a:p>
            <a:br/>
            <a:pPr>
              <a:defRPr sz="1050"/>
            </a:pPr>
            <a:r>
              <a:t>✔ Tablet (768px):</a:t>
            </a:r>
            <a:br/>
            <a:r>
              <a:t>Hiển thị 2 cột cân đối, thanh lọc trực quan.</a:t>
            </a:r>
          </a:p>
          <a:p>
            <a:br/>
            <a:pPr>
              <a:defRPr sz="1050"/>
            </a:pPr>
            <a:r>
              <a:t>✔ PC (1440px):</a:t>
            </a:r>
            <a:br/>
            <a:r>
              <a:t>Không gian rộng rãi, thao tác quản trị nhanh chóng.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10. Kịch bản trình diễn trực tiếp với Giảng viên (5-7 Phút)</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63040"/>
          <a:ext cx="10728655" cy="4937760"/>
        </p:xfrm>
        <a:graphic>
          <a:graphicData uri="http://schemas.openxmlformats.org/drawingml/2006/table">
            <a:tbl>
              <a:tblPr firstRow="1" bandRow="1">
                <a:tableStyleId>{5C22544A-7EE6-4342-B048-85BDC9FD1C3A}</a:tableStyleId>
              </a:tblPr>
              <a:tblGrid>
                <a:gridCol w="1371600"/>
                <a:gridCol w="3291840"/>
                <a:gridCol w="6065215"/>
              </a:tblGrid>
              <a:tr h="705394">
                <a:tc>
                  <a:txBody>
                    <a:bodyPr/>
                    <a:lstStyle/>
                    <a:p>
                      <a:pPr>
                        <a:defRPr sz="1200" b="1">
                          <a:solidFill>
                            <a:srgbClr val="FFFFFF"/>
                          </a:solidFill>
                        </a:defRPr>
                      </a:pPr>
                      <a:r>
                        <a:t>Bước</a:t>
                      </a:r>
                    </a:p>
                  </a:txBody>
                  <a:tcPr>
                    <a:solidFill>
                      <a:srgbClr val="1E3A8A"/>
                    </a:solidFill>
                  </a:tcPr>
                </a:tc>
                <a:tc>
                  <a:txBody>
                    <a:bodyPr/>
                    <a:lstStyle/>
                    <a:p>
                      <a:pPr>
                        <a:defRPr sz="1200" b="1">
                          <a:solidFill>
                            <a:srgbClr val="FFFFFF"/>
                          </a:solidFill>
                        </a:defRPr>
                      </a:pPr>
                      <a:r>
                        <a:t>Nội dung trình diễn</a:t>
                      </a:r>
                    </a:p>
                  </a:txBody>
                  <a:tcPr>
                    <a:solidFill>
                      <a:srgbClr val="1E3A8A"/>
                    </a:solidFill>
                  </a:tcPr>
                </a:tc>
                <a:tc>
                  <a:txBody>
                    <a:bodyPr/>
                    <a:lstStyle/>
                    <a:p>
                      <a:pPr>
                        <a:defRPr sz="1200" b="1">
                          <a:solidFill>
                            <a:srgbClr val="FFFFFF"/>
                          </a:solidFill>
                        </a:defRPr>
                      </a:pPr>
                      <a:r>
                        <a:t>Điểm kỹ thuật cần giải thích với Giảng viên</a:t>
                      </a:r>
                    </a:p>
                  </a:txBody>
                  <a:tcPr>
                    <a:solidFill>
                      <a:srgbClr val="1E3A8A"/>
                    </a:solidFill>
                  </a:tcPr>
                </a:tc>
              </a:tr>
              <a:tr h="705394">
                <a:tc>
                  <a:txBody>
                    <a:bodyPr/>
                    <a:lstStyle/>
                    <a:p>
                      <a:pPr>
                        <a:defRPr sz="1100" b="1">
                          <a:solidFill>
                            <a:srgbClr val="EA580C"/>
                          </a:solidFill>
                        </a:defRPr>
                      </a:pPr>
                      <a:r>
                        <a:t>Bước 1</a:t>
                      </a:r>
                    </a:p>
                  </a:txBody>
                  <a:tcPr>
                    <a:solidFill>
                      <a:srgbClr val="FFFFFF"/>
                    </a:solidFill>
                  </a:tcPr>
                </a:tc>
                <a:tc>
                  <a:txBody>
                    <a:bodyPr/>
                    <a:lstStyle/>
                    <a:p>
                      <a:pPr>
                        <a:defRPr sz="1100" b="1">
                          <a:solidFill>
                            <a:srgbClr val="0F172A"/>
                          </a:solidFill>
                        </a:defRPr>
                      </a:pPr>
                      <a:r>
                        <a:t>Duyệt Catalog &amp; Lọc dữ liệu</a:t>
                      </a:r>
                    </a:p>
                  </a:txBody>
                  <a:tcPr>
                    <a:solidFill>
                      <a:srgbClr val="FFFFFF"/>
                    </a:solidFill>
                  </a:tcPr>
                </a:tc>
                <a:tc>
                  <a:txBody>
                    <a:bodyPr/>
                    <a:lstStyle/>
                    <a:p>
                      <a:pPr>
                        <a:defRPr sz="1100">
                          <a:solidFill>
                            <a:srgbClr val="0F172A"/>
                          </a:solidFill>
                        </a:defRPr>
                      </a:pPr>
                      <a:r>
                        <a:t>Mở trang chủ, tìm từ khóa, chọn danh mục, sắp xếp giá, đổi trang và chỉ ra thanh URL giữ nguyên query string.</a:t>
                      </a:r>
                    </a:p>
                  </a:txBody>
                  <a:tcPr>
                    <a:solidFill>
                      <a:srgbClr val="FFFFFF"/>
                    </a:solidFill>
                  </a:tcPr>
                </a:tc>
              </a:tr>
              <a:tr h="705394">
                <a:tc>
                  <a:txBody>
                    <a:bodyPr/>
                    <a:lstStyle/>
                    <a:p>
                      <a:pPr>
                        <a:defRPr sz="1100" b="1">
                          <a:solidFill>
                            <a:srgbClr val="EA580C"/>
                          </a:solidFill>
                        </a:defRPr>
                      </a:pPr>
                      <a:r>
                        <a:t>Bước 2</a:t>
                      </a:r>
                    </a:p>
                  </a:txBody>
                  <a:tcPr>
                    <a:solidFill>
                      <a:srgbClr val="F8FAFC"/>
                    </a:solidFill>
                  </a:tcPr>
                </a:tc>
                <a:tc>
                  <a:txBody>
                    <a:bodyPr/>
                    <a:lstStyle/>
                    <a:p>
                      <a:pPr>
                        <a:defRPr sz="1100" b="1">
                          <a:solidFill>
                            <a:srgbClr val="0F172A"/>
                          </a:solidFill>
                        </a:defRPr>
                      </a:pPr>
                      <a:r>
                        <a:t>Tìm kiếm bằng ảnh AI (Đột phá)</a:t>
                      </a:r>
                    </a:p>
                  </a:txBody>
                  <a:tcPr>
                    <a:solidFill>
                      <a:srgbClr val="F8FAFC"/>
                    </a:solidFill>
                  </a:tcPr>
                </a:tc>
                <a:tc>
                  <a:txBody>
                    <a:bodyPr/>
                    <a:lstStyle/>
                    <a:p>
                      <a:pPr>
                        <a:defRPr sz="1100">
                          <a:solidFill>
                            <a:srgbClr val="0F172A"/>
                          </a:solidFill>
                        </a:defRPr>
                      </a:pPr>
                      <a:r>
                        <a:t>Bấm nút Camera trên header, tải ảnh tai nghe/bàn phím hoặc chụp từ camera ➔ AI trả kết quả đúng sản phẩm trong catalog.</a:t>
                      </a:r>
                    </a:p>
                  </a:txBody>
                  <a:tcPr>
                    <a:solidFill>
                      <a:srgbClr val="F8FAFC"/>
                    </a:solidFill>
                  </a:tcPr>
                </a:tc>
              </a:tr>
              <a:tr h="705394">
                <a:tc>
                  <a:txBody>
                    <a:bodyPr/>
                    <a:lstStyle/>
                    <a:p>
                      <a:pPr>
                        <a:defRPr sz="1100" b="1">
                          <a:solidFill>
                            <a:srgbClr val="EA580C"/>
                          </a:solidFill>
                        </a:defRPr>
                      </a:pPr>
                      <a:r>
                        <a:t>Bước 3</a:t>
                      </a:r>
                    </a:p>
                  </a:txBody>
                  <a:tcPr>
                    <a:solidFill>
                      <a:srgbClr val="FFFFFF"/>
                    </a:solidFill>
                  </a:tcPr>
                </a:tc>
                <a:tc>
                  <a:txBody>
                    <a:bodyPr/>
                    <a:lstStyle/>
                    <a:p>
                      <a:pPr>
                        <a:defRPr sz="1100" b="1">
                          <a:solidFill>
                            <a:srgbClr val="0F172A"/>
                          </a:solidFill>
                        </a:defRPr>
                      </a:pPr>
                      <a:r>
                        <a:t>Giỏ hàng Fetch API &amp; Checkout COD</a:t>
                      </a:r>
                    </a:p>
                  </a:txBody>
                  <a:tcPr>
                    <a:solidFill>
                      <a:srgbClr val="FFFFFF"/>
                    </a:solidFill>
                  </a:tcPr>
                </a:tc>
                <a:tc>
                  <a:txBody>
                    <a:bodyPr/>
                    <a:lstStyle/>
                    <a:p>
                      <a:pPr>
                        <a:defRPr sz="1100">
                          <a:solidFill>
                            <a:srgbClr val="0F172A"/>
                          </a:solidFill>
                        </a:defRPr>
                      </a:pPr>
                      <a:r>
                        <a:t>Thêm sản phẩm vào giỏ (không reload trang), đổi số lượng, đăng nhập tài khoản khách, đặt hàng COD ➔ Tồn kho trừ tức thì.</a:t>
                      </a:r>
                    </a:p>
                  </a:txBody>
                  <a:tcPr>
                    <a:solidFill>
                      <a:srgbClr val="FFFFFF"/>
                    </a:solidFill>
                  </a:tcPr>
                </a:tc>
              </a:tr>
              <a:tr h="705394">
                <a:tc>
                  <a:txBody>
                    <a:bodyPr/>
                    <a:lstStyle/>
                    <a:p>
                      <a:pPr>
                        <a:defRPr sz="1100" b="1">
                          <a:solidFill>
                            <a:srgbClr val="EA580C"/>
                          </a:solidFill>
                        </a:defRPr>
                      </a:pPr>
                      <a:r>
                        <a:t>Bước 4</a:t>
                      </a:r>
                    </a:p>
                  </a:txBody>
                  <a:tcPr>
                    <a:solidFill>
                      <a:srgbClr val="F8FAFC"/>
                    </a:solidFill>
                  </a:tcPr>
                </a:tc>
                <a:tc>
                  <a:txBody>
                    <a:bodyPr/>
                    <a:lstStyle/>
                    <a:p>
                      <a:pPr>
                        <a:defRPr sz="1100" b="1">
                          <a:solidFill>
                            <a:srgbClr val="0F172A"/>
                          </a:solidFill>
                        </a:defRPr>
                      </a:pPr>
                      <a:r>
                        <a:t>Admin duyệt đơn hàng</a:t>
                      </a:r>
                    </a:p>
                  </a:txBody>
                  <a:tcPr>
                    <a:solidFill>
                      <a:srgbClr val="F8FAFC"/>
                    </a:solidFill>
                  </a:tcPr>
                </a:tc>
                <a:tc>
                  <a:txBody>
                    <a:bodyPr/>
                    <a:lstStyle/>
                    <a:p>
                      <a:pPr>
                        <a:defRPr sz="1100">
                          <a:solidFill>
                            <a:srgbClr val="0F172A"/>
                          </a:solidFill>
                        </a:defRPr>
                      </a:pPr>
                      <a:r>
                        <a:t>Admin đăng nhập vào Dashboard xem tổng quan doanh thu, chuyển trạng thái đơn hàng sang Processing ➔ Completed.</a:t>
                      </a:r>
                    </a:p>
                  </a:txBody>
                  <a:tcPr>
                    <a:solidFill>
                      <a:srgbClr val="F8FAFC"/>
                    </a:solidFill>
                  </a:tcPr>
                </a:tc>
              </a:tr>
              <a:tr h="705394">
                <a:tc>
                  <a:txBody>
                    <a:bodyPr/>
                    <a:lstStyle/>
                    <a:p>
                      <a:pPr>
                        <a:defRPr sz="1100" b="1">
                          <a:solidFill>
                            <a:srgbClr val="EA580C"/>
                          </a:solidFill>
                        </a:defRPr>
                      </a:pPr>
                      <a:r>
                        <a:t>Bước 5</a:t>
                      </a:r>
                    </a:p>
                  </a:txBody>
                  <a:tcPr>
                    <a:solidFill>
                      <a:srgbClr val="FFFFFF"/>
                    </a:solidFill>
                  </a:tcPr>
                </a:tc>
                <a:tc>
                  <a:txBody>
                    <a:bodyPr/>
                    <a:lstStyle/>
                    <a:p>
                      <a:pPr>
                        <a:defRPr sz="1100" b="1">
                          <a:solidFill>
                            <a:srgbClr val="0F172A"/>
                          </a:solidFill>
                        </a:defRPr>
                      </a:pPr>
                      <a:r>
                        <a:t>Tạo đơn mới &amp; Thử hủy đơn</a:t>
                      </a:r>
                    </a:p>
                  </a:txBody>
                  <a:tcPr>
                    <a:solidFill>
                      <a:srgbClr val="FFFFFF"/>
                    </a:solidFill>
                  </a:tcPr>
                </a:tc>
                <a:tc>
                  <a:txBody>
                    <a:bodyPr/>
                    <a:lstStyle/>
                    <a:p>
                      <a:pPr>
                        <a:defRPr sz="1100">
                          <a:solidFill>
                            <a:srgbClr val="0F172A"/>
                          </a:solidFill>
                        </a:defRPr>
                      </a:pPr>
                      <a:r>
                        <a:t>Tạo một đơn hàng khác rồi thực hiện hủy đơn ➔ Chứng minh số lượng sản phẩm được hoàn lại chính xác vào tồn kho.</a:t>
                      </a:r>
                    </a:p>
                  </a:txBody>
                  <a:tcPr>
                    <a:solidFill>
                      <a:srgbClr val="FFFFFF"/>
                    </a:solidFill>
                  </a:tcPr>
                </a:tc>
              </a:tr>
              <a:tr h="705396">
                <a:tc>
                  <a:txBody>
                    <a:bodyPr/>
                    <a:lstStyle/>
                    <a:p>
                      <a:pPr>
                        <a:defRPr sz="1100" b="1">
                          <a:solidFill>
                            <a:srgbClr val="EA580C"/>
                          </a:solidFill>
                        </a:defRPr>
                      </a:pPr>
                      <a:r>
                        <a:t>Bước 6</a:t>
                      </a:r>
                    </a:p>
                  </a:txBody>
                  <a:tcPr>
                    <a:solidFill>
                      <a:srgbClr val="F8FAFC"/>
                    </a:solidFill>
                  </a:tcPr>
                </a:tc>
                <a:tc>
                  <a:txBody>
                    <a:bodyPr/>
                    <a:lstStyle/>
                    <a:p>
                      <a:pPr>
                        <a:defRPr sz="1100" b="1">
                          <a:solidFill>
                            <a:srgbClr val="0F172A"/>
                          </a:solidFill>
                        </a:defRPr>
                      </a:pPr>
                      <a:r>
                        <a:t>Kiểm tra Validation &amp; Xử lý lỗi</a:t>
                      </a:r>
                    </a:p>
                  </a:txBody>
                  <a:tcPr>
                    <a:solidFill>
                      <a:srgbClr val="F8FAFC"/>
                    </a:solidFill>
                  </a:tcPr>
                </a:tc>
                <a:tc>
                  <a:txBody>
                    <a:bodyPr/>
                    <a:lstStyle/>
                    <a:p>
                      <a:pPr>
                        <a:defRPr sz="1100">
                          <a:solidFill>
                            <a:srgbClr val="0F172A"/>
                          </a:solidFill>
                        </a:defRPr>
                      </a:pPr>
                      <a:r>
                        <a:t>Thử nhập form sai (bỏ trống, upload file quá dung lượng, nhập số lượng âm) ➔ Trình duyệt hiển thị thông báo lỗi thân thiện.</a:t>
                      </a:r>
                    </a:p>
                  </a:txBody>
                  <a:tcPr>
                    <a:solidFill>
                      <a:srgbClr val="F8FA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11. Bộ câu hỏi vấn đáp trọng tâm &amp; Hướng trả lời</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2057400"/>
          </a:xfrm>
          <a:prstGeom prst="rect">
            <a:avLst/>
          </a:prstGeom>
          <a:noFill/>
        </p:spPr>
        <p:txBody>
          <a:bodyPr wrap="square">
            <a:spAutoFit/>
          </a:bodyPr>
          <a:lstStyle/>
          <a:p>
            <a:pPr>
              <a:defRPr sz="1150" b="1">
                <a:solidFill>
                  <a:srgbClr val="1E3A8A"/>
                </a:solidFill>
              </a:defRPr>
            </a:pPr>
            <a:r>
              <a:t>Q1: Tại sao chọn OpenCLIP và cơ chế tìm kiếm ảnh hoạt động ra sao?</a:t>
            </a:r>
          </a:p>
          <a:p>
            <a:br/>
            <a:pPr>
              <a:defRPr sz="1000">
                <a:solidFill>
                  <a:srgbClr val="0F172A"/>
                </a:solidFill>
              </a:defRPr>
            </a:pPr>
            <a:r>
              <a:t>Trả lời: Mô hình OpenCLIP ViT-B/32 có khả năng biểu diễn ngữ nghĩa hình ảnh xuất sắc, chạy offline trên CPU mà không cần GPU hay API trả phí. Ảnh truy vấn được mã hóa thành vector 512D và tính cosine similarity với vector ảnh catalog được băm SHA-256 lưu sẵn. Laravel chỉ lấy ID sản phẩm để truy vấn DB, đảm bảo giá và tồn kho luôn đồng bộ.</a:t>
            </a:r>
          </a:p>
        </p:txBody>
      </p:sp>
      <p:sp>
        <p:nvSpPr>
          <p:cNvPr id="8" name="Rounded Rectangle 7"/>
          <p:cNvSpPr/>
          <p:nvPr/>
        </p:nvSpPr>
        <p:spPr>
          <a:xfrm>
            <a:off x="62179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2057400"/>
          </a:xfrm>
          <a:prstGeom prst="rect">
            <a:avLst/>
          </a:prstGeom>
          <a:noFill/>
        </p:spPr>
        <p:txBody>
          <a:bodyPr wrap="square">
            <a:spAutoFit/>
          </a:bodyPr>
          <a:lstStyle/>
          <a:p>
            <a:pPr>
              <a:defRPr sz="1150" b="1">
                <a:solidFill>
                  <a:srgbClr val="EA580C"/>
                </a:solidFill>
              </a:defRPr>
            </a:pPr>
            <a:r>
              <a:t>Q2: Hệ thống giải quyết vấn đề tranh chấp tồn kho (Race Condition) như thế nào?</a:t>
            </a:r>
          </a:p>
          <a:p>
            <a:br/>
            <a:pPr>
              <a:defRPr sz="1000">
                <a:solidFill>
                  <a:srgbClr val="0F172A"/>
                </a:solidFill>
              </a:defRPr>
            </a:pPr>
            <a:r>
              <a:t>Trả lời: Sử dụng DB::transaction() kết hợp lockForUpdate() trên model Product. Khi có nhiều yêu cầu checkout cùng lúc, hệ thống khóa dòng sản phẩm để trừ tồn kho tuần tự, ngăn chặn hoàn toàn việc bán âm hàng. Ngoài ra dùng checkout_token (UUID duy nhất) để chống double-submit.</a:t>
            </a:r>
          </a:p>
        </p:txBody>
      </p:sp>
      <p:sp>
        <p:nvSpPr>
          <p:cNvPr id="10" name="Rounded Rectangle 9"/>
          <p:cNvSpPr/>
          <p:nvPr/>
        </p:nvSpPr>
        <p:spPr>
          <a:xfrm>
            <a:off x="7315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799"/>
            <a:ext cx="4846320" cy="2057400"/>
          </a:xfrm>
          <a:prstGeom prst="rect">
            <a:avLst/>
          </a:prstGeom>
          <a:noFill/>
        </p:spPr>
        <p:txBody>
          <a:bodyPr wrap="square">
            <a:spAutoFit/>
          </a:bodyPr>
          <a:lstStyle/>
          <a:p>
            <a:pPr>
              <a:defRPr sz="1150" b="1">
                <a:solidFill>
                  <a:srgbClr val="166534"/>
                </a:solidFill>
              </a:defRPr>
            </a:pPr>
            <a:r>
              <a:t>Q3: Phân quyền và bảo mật giữa Admin và Customer được kiểm soát thế nào?</a:t>
            </a:r>
          </a:p>
          <a:p>
            <a:br/>
            <a:pPr>
              <a:defRPr sz="1000">
                <a:solidFill>
                  <a:srgbClr val="0F172A"/>
                </a:solidFill>
              </a:defRPr>
            </a:pPr>
            <a:r>
              <a:t>Trả lời: Xác thực bằng Laravel Auth. Phân quyền thông qua Middleware CheckRole('admin'), người dùng vai trò customer cố truy cập /admin sẽ bị chặn ngay với mã lỗi HTTP 403 Forbidden. Mọi form và request Fetch đều gắn CSRF token bảo vệ.</a:t>
            </a:r>
          </a:p>
        </p:txBody>
      </p:sp>
      <p:sp>
        <p:nvSpPr>
          <p:cNvPr id="12" name="Rounded Rectangle 11"/>
          <p:cNvSpPr/>
          <p:nvPr/>
        </p:nvSpPr>
        <p:spPr>
          <a:xfrm>
            <a:off x="62179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14799"/>
            <a:ext cx="4846320" cy="2057400"/>
          </a:xfrm>
          <a:prstGeom prst="rect">
            <a:avLst/>
          </a:prstGeom>
          <a:noFill/>
        </p:spPr>
        <p:txBody>
          <a:bodyPr wrap="square">
            <a:spAutoFit/>
          </a:bodyPr>
          <a:lstStyle/>
          <a:p>
            <a:pPr>
              <a:defRPr sz="1150" b="1">
                <a:solidFill>
                  <a:srgbClr val="0F172A"/>
                </a:solidFill>
              </a:defRPr>
            </a:pPr>
            <a:r>
              <a:t>Q4: Cơ chế bảo toàn dữ liệu mẫu khi chạy lại Database Seeder?</a:t>
            </a:r>
          </a:p>
          <a:p>
            <a:br/>
            <a:pPr>
              <a:defRPr sz="1000">
                <a:solidFill>
                  <a:srgbClr val="0F172A"/>
                </a:solidFill>
              </a:defRPr>
            </a:pPr>
            <a:r>
              <a:t>Trả lời: CatalogSeeder dùng updateOrCreate / firstOrCreate để chỉ bổ sung dữ liệu thiếu chứ không đè lên giá, tồn kho hoặc ảnh mà Admin đã sửa đổi trong quá trình vận hành. Tách riêng DemoResetSeeder cho trường hợp muốn làm mới toàn bộ từ đầu.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EA580C"/>
                </a:solidFill>
              </a:defRPr>
            </a:pPr>
            <a:r>
              <a:t>BÀI TẬP LỚN MÔN MÃ NGUỒN MỞ | SMARTCART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12. Kết luận &amp; Hướng phát triển dự án</a:t>
            </a:r>
          </a:p>
        </p:txBody>
      </p:sp>
      <p:sp>
        <p:nvSpPr>
          <p:cNvPr id="5" name="Rectangle 4"/>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937760"/>
          </a:xfrm>
          <a:prstGeom prst="roundRect">
            <a:avLst/>
          </a:prstGeom>
          <a:solidFill>
            <a:srgbClr val="F0FDF4"/>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846320" cy="4572000"/>
          </a:xfrm>
          <a:prstGeom prst="rect">
            <a:avLst/>
          </a:prstGeom>
          <a:noFill/>
        </p:spPr>
        <p:txBody>
          <a:bodyPr wrap="square">
            <a:spAutoFit/>
          </a:bodyPr>
          <a:lstStyle/>
          <a:p>
            <a:pPr>
              <a:defRPr sz="1300" b="1">
                <a:solidFill>
                  <a:srgbClr val="166534"/>
                </a:solidFill>
              </a:defRPr>
            </a:pPr>
            <a:r>
              <a:t>KẾT QUẢ ĐẠT ĐƯỢC</a:t>
            </a:r>
          </a:p>
          <a:p>
            <a:br/>
            <a:pPr>
              <a:defRPr sz="1100">
                <a:solidFill>
                  <a:srgbClr val="0F172A"/>
                </a:solidFill>
              </a:defRPr>
            </a:pPr>
            <a:r>
              <a:t>✔  Hoàn thành trọn vẹn 100% yêu cầu cốt lõi theo đề bài môn học Mã Nguồn Mở (Laravel 13, MySQL 8, Blade, Bootstrap, 2 Role, CRUD, Phân trang, Validation).</a:t>
            </a:r>
          </a:p>
          <a:p>
            <a:br/>
            <a:pPr>
              <a:defRPr sz="1100">
                <a:solidFill>
                  <a:srgbClr val="0F172A"/>
                </a:solidFill>
              </a:defRPr>
            </a:pPr>
            <a:r>
              <a:t>✔  Đạt toàn bộ các tiêu chí mở rộng tính điểm cộng: Upload ảnh sản phẩm, giỏ hàng tương tác Fetch API, Live Search XSS-safe, API thời tiết Open-Meteo, Mobile responsive.</a:t>
            </a:r>
          </a:p>
          <a:p>
            <a:br/>
            <a:pPr>
              <a:defRPr sz="1100">
                <a:solidFill>
                  <a:srgbClr val="0F172A"/>
                </a:solidFill>
              </a:defRPr>
            </a:pPr>
            <a:r>
              <a:t>✔  Điểm nhấn công nghệ vượt trội: Tích hợp thành công tìm kiếm sản phẩm bằng ảnh AI với OpenCLIP ViT-B/32 và Camera trực tiếp.</a:t>
            </a:r>
          </a:p>
          <a:p>
            <a:br/>
            <a:pPr>
              <a:defRPr sz="1100">
                <a:solidFill>
                  <a:srgbClr val="0F172A"/>
                </a:solidFill>
              </a:defRPr>
            </a:pPr>
            <a:r>
              <a:t>✔  Quy trình quản lý mã nguồn Git bài bản giữa 4 thành viên, kiểm thử tự động 88/88 test pass, tài liệu báo cáo nghiệm thu hoàn chỉnh.</a:t>
            </a:r>
          </a:p>
        </p:txBody>
      </p:sp>
      <p:sp>
        <p:nvSpPr>
          <p:cNvPr id="8" name="Rounded Rectangle 7"/>
          <p:cNvSpPr/>
          <p:nvPr/>
        </p:nvSpPr>
        <p:spPr>
          <a:xfrm>
            <a:off x="6217920" y="146304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572000"/>
          </a:xfrm>
          <a:prstGeom prst="rect">
            <a:avLst/>
          </a:prstGeom>
          <a:noFill/>
        </p:spPr>
        <p:txBody>
          <a:bodyPr wrap="square">
            <a:spAutoFit/>
          </a:bodyPr>
          <a:lstStyle/>
          <a:p>
            <a:pPr>
              <a:defRPr sz="1300" b="1">
                <a:solidFill>
                  <a:srgbClr val="1E3A8A"/>
                </a:solidFill>
              </a:defRPr>
            </a:pPr>
            <a:r>
              <a:t>HƯỚNG PHÁT TRIỂN TRONG TƯƠNG LAI</a:t>
            </a:r>
          </a:p>
          <a:p>
            <a:br/>
            <a:pPr>
              <a:defRPr sz="1100">
                <a:solidFill>
                  <a:srgbClr val="0F172A"/>
                </a:solidFill>
              </a:defRPr>
            </a:pPr>
            <a:r>
              <a:t>➔  Cổng thanh toán &amp; Vận chuyển: Kết nối cổng thanh toán trực tuyến (VNPay, MoMo) và tích hợp API đơn vị vận chuyển (GHN, GHTK).</a:t>
            </a:r>
          </a:p>
          <a:p>
            <a:br/>
            <a:pPr>
              <a:defRPr sz="1100">
                <a:solidFill>
                  <a:srgbClr val="0F172A"/>
                </a:solidFill>
              </a:defRPr>
            </a:pPr>
            <a:r>
              <a:t>➔  Mở rộng chỉ mục vector AI: Tích hợp cơ sở dữ liệu vector chuyên dụng (FAISS, Qdrant) khi catalog sản phẩm mở rộng lên hàng triệu sản phẩm.</a:t>
            </a:r>
          </a:p>
          <a:p>
            <a:br/>
            <a:pPr>
              <a:defRPr sz="1100">
                <a:solidFill>
                  <a:srgbClr val="0F172A"/>
                </a:solidFill>
              </a:defRPr>
            </a:pPr>
            <a:r>
              <a:t>➔  Hệ thống gợi ý thông minh: Ứng dụng mô hình Collaborative Filtering để gợi ý sản phẩm phù hợp dựa trên lịch sử xem và giỏ hàng của người dùng.</a:t>
            </a:r>
          </a:p>
          <a:p>
            <a:br/>
            <a:pPr>
              <a:defRPr sz="1100">
                <a:solidFill>
                  <a:srgbClr val="0F172A"/>
                </a:solidFill>
              </a:defRPr>
            </a:pPr>
            <a:r>
              <a:t>➔  Thông báo thời gian thực: Tích hợp Laravel Reverb / WebSockets để thông báo trạng thái đơn hàng tức thì cho khách hàng.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2743200"/>
          </a:xfrm>
          <a:prstGeom prst="rect">
            <a:avLst/>
          </a:prstGeom>
          <a:noFill/>
        </p:spPr>
        <p:txBody>
          <a:bodyPr wrap="square">
            <a:spAutoFit/>
          </a:bodyPr>
          <a:lstStyle/>
          <a:p>
            <a:pPr algn="ctr">
              <a:defRPr sz="3600" b="1">
                <a:solidFill>
                  <a:srgbClr val="FFFFFF"/>
                </a:solidFill>
              </a:defRPr>
            </a:pPr>
            <a:r>
              <a:t>CẢM ƠN THẦY VÀ CÁC BẠN ĐÃ LẮNG NGHE!</a:t>
            </a:r>
          </a:p>
          <a:p>
            <a:br/>
            <a:pPr algn="ctr">
              <a:defRPr sz="1800">
                <a:solidFill>
                  <a:srgbClr val="CBD5E1"/>
                </a:solidFill>
              </a:defRPr>
            </a:pPr>
            <a:r>
              <a:t>Nhóm SmartCart xin sẵn sàng lắng nghe nhận xét &amp; trả lời các câu hỏi vấn đáp.</a:t>
            </a:r>
          </a:p>
          <a:p>
            <a:br/>
            <a:pPr algn="ctr">
              <a:defRPr sz="1300">
                <a:solidFill>
                  <a:srgbClr val="F59E0B"/>
                </a:solidFill>
              </a:defRPr>
            </a:pPr>
            <a:r>
              <a:t>Kho lưu trữ mã nguồn: github.com/Huong36/smartcart-project (Nhánh integration/admin-cart, tag demo-2026-10-18)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